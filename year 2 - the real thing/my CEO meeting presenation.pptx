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72768"/>
            <a:ext cx="9509760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cap="small" spc="200">
                <a:solidFill>
                  <a:srgbClr val="8FA2BC"/>
                </a:solidFill>
                <a:latin typeface="Calibri"/>
              </a:rPr>
              <a:t>MIM Dual Degrees Capstone  ·  Praxis MMT39  ·  CEO Meeting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29968"/>
            <a:ext cx="969264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Company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D5D9DF"/>
                </a:solidFill>
                <a:latin typeface="Cambria"/>
              </a:rPr>
              <a:t>Year 1 review and Year 2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3913632"/>
            <a:ext cx="5577839" cy="0"/>
          </a:xfrm>
          <a:prstGeom prst="line">
            <a:avLst/>
          </a:prstGeom>
          <a:ln w="17780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4059936"/>
            <a:ext cx="6766560" cy="10058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D5D9DF"/>
                </a:solidFill>
                <a:latin typeface="Calibri"/>
              </a:rPr>
              <a:t>Simulation B1SIM2C2  ·  Virtual Year 1 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2BC"/>
                </a:solidFill>
                <a:latin typeface="Calibri"/>
              </a:rPr>
              <a:t>Presented by the management team of Company 3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103120"/>
            <a:ext cx="3154680" cy="2011680"/>
          </a:xfrm>
          <a:prstGeom prst="rect">
            <a:avLst/>
          </a:prstGeom>
          <a:solidFill>
            <a:srgbClr val="1B3054"/>
          </a:solidFill>
          <a:ln w="15875">
            <a:solidFill>
              <a:srgbClr val="2F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286000"/>
            <a:ext cx="2788920" cy="16916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2F7D6B"/>
                </a:solidFill>
                <a:latin typeface="Cambria"/>
              </a:rPr>
              <a:t>No.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5 companies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2BC"/>
                </a:solidFill>
                <a:latin typeface="Calibri"/>
              </a:rPr>
              <a:t>on net income and on accumulated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989320"/>
            <a:ext cx="969264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809C"/>
                </a:solidFill>
                <a:latin typeface="Calibri"/>
              </a:rPr>
              <a:t>Sources: Year-1 REP p.4–p.6 and p.8; Surveys 1, 2, 3 and 23.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How we will use the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Agenda and speaking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Source: 2026 MIM evaluation guidelines — the six sections are prescribed in this order, and each member's role must be identified on the slides.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08176"/>
            <a:ext cx="5138928" cy="455371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08176"/>
            <a:ext cx="5138928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20">
                <a:solidFill>
                  <a:srgbClr val="16202E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20240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Introduction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Market size, strategy, brand and share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956816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87752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569464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Summary of 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Revenue, profit, margins, ROE, sales and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606040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7–10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36976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18688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Analysis and causes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Marketing, operations, HR, finance —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255264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11–24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86200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867912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Objectives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Specific and measurable targets for Year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904487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25–26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517136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Marketing, operations, HR, finance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553712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27–30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84648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7D6B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166360"/>
            <a:ext cx="352044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202E"/>
                </a:solidFill>
                <a:latin typeface="Calibri"/>
              </a:rPr>
              <a:t>Financial forecast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Projected income statement, band, alternatives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5202936"/>
            <a:ext cx="82296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sl. 31–36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408176"/>
            <a:ext cx="5699729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408176"/>
            <a:ext cx="5699729" cy="41148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554480"/>
            <a:ext cx="5297393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20">
                <a:solidFill>
                  <a:srgbClr val="2F7D6B"/>
                </a:solidFill>
                <a:latin typeface="Calibri"/>
              </a:rPr>
              <a:t>Who presents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1920240"/>
            <a:ext cx="2743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920240"/>
            <a:ext cx="141732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4A38"/>
                </a:solidFill>
                <a:latin typeface="Calibri"/>
              </a:rPr>
              <a:t>[Name]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7" y="1933956"/>
            <a:ext cx="1207008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sl. 1–6, 11, 24–26, 34–36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167128"/>
            <a:ext cx="5242529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Strategy, market and competitor read, causes, objectives, board Q&amp;A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44768" y="2496312"/>
            <a:ext cx="5297393" cy="0"/>
          </a:xfrm>
          <a:prstGeom prst="line">
            <a:avLst/>
          </a:prstGeom>
          <a:ln w="9525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44768" y="2578608"/>
            <a:ext cx="2743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578608"/>
            <a:ext cx="141732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4A38"/>
                </a:solidFill>
                <a:latin typeface="Calibri"/>
              </a:rPr>
              <a:t>[Name]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7" y="2592324"/>
            <a:ext cx="1207008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sl. 9, 12–15, 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2825496"/>
            <a:ext cx="5242529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Portfolio, positioning, price, distribution, advertising, promotions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44768" y="3154680"/>
            <a:ext cx="5297393" cy="0"/>
          </a:xfrm>
          <a:prstGeom prst="line">
            <a:avLst/>
          </a:prstGeom>
          <a:ln w="9525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44768" y="3236976"/>
            <a:ext cx="2743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02E"/>
                </a:solidFill>
                <a:latin typeface="Calibri"/>
              </a:rPr>
              <a:t>Operations Director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236976"/>
            <a:ext cx="141732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4A38"/>
                </a:solidFill>
                <a:latin typeface="Calibri"/>
              </a:rPr>
              <a:t>[Name]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7" y="3250692"/>
            <a:ext cx="1207008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sl. 16–18, 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3483864"/>
            <a:ext cx="5242529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Capacity, production plan, unit cost, supply chain, logistics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44768" y="3813048"/>
            <a:ext cx="5297393" cy="0"/>
          </a:xfrm>
          <a:prstGeom prst="line">
            <a:avLst/>
          </a:prstGeom>
          <a:ln w="9525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44768" y="3895344"/>
            <a:ext cx="2743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02E"/>
                </a:solidFill>
                <a:latin typeface="Calibri"/>
              </a:rPr>
              <a:t>HR Director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3895344"/>
            <a:ext cx="141732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4A38"/>
                </a:solidFill>
                <a:latin typeface="Calibri"/>
              </a:rPr>
              <a:t>[Name]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7" y="3909059"/>
            <a:ext cx="1207008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sl. 19–20, 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4142231"/>
            <a:ext cx="5242529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Headcount, salaries, turnover, training, sales-force incentives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44768" y="4471416"/>
            <a:ext cx="5297393" cy="0"/>
          </a:xfrm>
          <a:prstGeom prst="line">
            <a:avLst/>
          </a:prstGeom>
          <a:ln w="9525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144768" y="4553712"/>
            <a:ext cx="2743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553712"/>
            <a:ext cx="141732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4A38"/>
                </a:solidFill>
                <a:latin typeface="Calibri"/>
              </a:rPr>
              <a:t>[Name]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59567" y="4567427"/>
            <a:ext cx="1207008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sl. 7–8, 10, 21–23, 30–33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4800600"/>
            <a:ext cx="5242529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P&amp;L, balance sheet, ratios, cash, financing, forecast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44768" y="5129783"/>
            <a:ext cx="5297393" cy="0"/>
          </a:xfrm>
          <a:prstGeom prst="line">
            <a:avLst/>
          </a:prstGeom>
          <a:ln w="9525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144768" y="5266944"/>
            <a:ext cx="5297393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Replace [Name] before the meeting. If the team is four, the Managing Director also carries the Finance Director's slides — the roles are not merged, both are presented.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2743200" cy="1463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3E557A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487168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3611880"/>
            <a:ext cx="7680960" cy="0"/>
          </a:xfrm>
          <a:prstGeom prst="line">
            <a:avLst/>
          </a:prstGeom>
          <a:ln w="15875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31720" y="3712463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D9DF"/>
                </a:solidFill>
                <a:latin typeface="Calibri"/>
              </a:rPr>
              <a:t>The market we compete in  ·  What kind of company we are  ·  Goals for brand perception and market share
Presented by the Managing Director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The market we compete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Survey 3 (units by company, product and market), Surveys 1 and 2 (participants' totals), Year-1 REP p.2–p.3. Potential from the scenario, §2 × §3.</a:t>
            </a:r>
          </a:p>
        </p:txBody>
      </p:sp>
      <p:pic>
        <p:nvPicPr>
          <p:cNvPr id="7" name="Picture 6" descr="c1_units_by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6464"/>
            <a:ext cx="6784848" cy="36443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16368" y="1408176"/>
            <a:ext cx="4126961" cy="455371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16368" y="1408176"/>
            <a:ext cx="4126961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554480"/>
            <a:ext cx="3761201" cy="42976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What the market looks like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51,380,110 units were sold by the five companies in Year 1. Moisturiser H is 74% of that volume, sunscreen S 26%.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Market A is the volume market for both products: 31.1 M units against 20.2 M in market B.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Market E is effectively unopened — 98,165 units between the two companies that entered, against 110,100,000 of potential.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We are the largest seller in the industry: 20,396,301 units, 39.70% of everything sold.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Only two of the five companies are real competition. Co1 and Co5 together sold 953,809 units and both lost money.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The strategy: what kind of company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p.2–p.6; Surveys 7, 8 and 20; DEP decision sheet. Gross profit per unit from REP p.4 standard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689" cy="42062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202E"/>
                </a:solidFill>
                <a:latin typeface="Cambria"/>
              </a:rPr>
              <a:t>The premium brand of the industry, and the most profitable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83664"/>
            <a:ext cx="5428472" cy="197510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83664"/>
            <a:ext cx="50292" cy="197510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29968"/>
            <a:ext cx="4971272" cy="17190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F7D6B"/>
                </a:solidFill>
                <a:latin typeface="Cambria"/>
              </a:rPr>
              <a:t>1   Premium, not cheap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S positioned at (1, 8) — the quality corner — and priced at €14.50, the highest in the industry in every channel.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672"/>
                </a:solidFill>
                <a:latin typeface="Calibri"/>
              </a:rPr>
              <a:t>Evidence: 52.67% of market A at 71% above the cheapest rival, and we sold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4856" y="1883664"/>
            <a:ext cx="5428472" cy="197510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4856" y="1883664"/>
            <a:ext cx="50292" cy="197510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600" y="2029968"/>
            <a:ext cx="4971272" cy="17190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6202E"/>
                </a:solidFill>
                <a:latin typeface="Cambria"/>
              </a:rPr>
              <a:t>2   Two products, two jobs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S is the margin engine at €6.9511 of gross profit per unit. H is the volume and cash engine: 14,546,301 units, 55.2% of revenue.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672"/>
                </a:solidFill>
                <a:latin typeface="Calibri"/>
              </a:rPr>
              <a:t>Evidence: S gross margin 55.2%, H 61.2% — see slide 10 on why H's flatters.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5428472" cy="197510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59936"/>
            <a:ext cx="50292" cy="1975104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206240"/>
            <a:ext cx="4971272" cy="17190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C8952F"/>
                </a:solidFill>
                <a:latin typeface="Cambria"/>
              </a:rPr>
              <a:t>3   Scale where we already win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Grow A and B to their limit before spending a euro on market E. Enter E only when a survey says it can pay.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672"/>
                </a:solidFill>
                <a:latin typeface="Calibri"/>
              </a:rPr>
              <a:t>Evidence: E delivered 98,165 units across the whole industry in Year 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4856" y="4059936"/>
            <a:ext cx="5428472" cy="197510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856" y="4059936"/>
            <a:ext cx="50292" cy="197510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2600" y="4206240"/>
            <a:ext cx="4971272" cy="17190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F7D6B"/>
                </a:solidFill>
                <a:latin typeface="Cambria"/>
              </a:rPr>
              <a:t>4   Self-financed growth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Fund capacity and stock from operating cash, not from debt. Every euro of interest is a euro of margin given away.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672"/>
                </a:solidFill>
                <a:latin typeface="Calibri"/>
              </a:rPr>
              <a:t>Evidence: €3,060,000 of financial expense while holding €46,902,208 of cash.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Goals: brand perception and market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Surveys 7 and 8 (positioning), Surveys 1, 2 and 3 (units and share), model/calibration.py (Year-2 volumes). Targets assume market size holds at Year-1 level — the rulebook gives no growth constant.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Brand perception — where we stand and where we 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94689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1965960"/>
                <a:gridCol w="2606040"/>
                <a:gridCol w="4373849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Position (X, Y)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Nearest rival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Goal for Year 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S — markets A and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(1, 8) quality corner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Co4 (2, 8) · Co2 (3, 8)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Hold. Highest price in the industry, top-left corner, 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H — markets A and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(9, 1) value corner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Co2 sits on the same (9, 1)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Hold the position, close the price gap to Co2 by raising A to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2980944"/>
            <a:ext cx="54864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Market share — Year 1 achieved and Year 2 target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55264"/>
          <a:ext cx="11094689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051560"/>
                <a:gridCol w="1051560"/>
                <a:gridCol w="1051560"/>
                <a:gridCol w="1051560"/>
                <a:gridCol w="1143000"/>
                <a:gridCol w="4053809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 in A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 in B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 total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 total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All units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Year 1 achieved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52.67%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3.95%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44.10%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38.16%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39.70%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20,396,301 of 51,380,110 units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Year 2 target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hold 1st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hold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50.4%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36.9%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40.4%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02E"/>
                          </a:solidFill>
                          <a:latin typeface="Calibri"/>
                        </a:rPr>
                        <a:t>20,761,813 units on a flat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535424"/>
            <a:ext cx="3566160" cy="13716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535424"/>
            <a:ext cx="50292" cy="13716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4636008"/>
            <a:ext cx="3273552" cy="12070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6202E"/>
                </a:solidFill>
                <a:latin typeface="Cambria"/>
              </a:rPr>
              <a:t>39.7% → 40.4%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Unit share of the industry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20.4 M units in Year 1; 20.76 M planned into the same market. S rises, H falls as we sell stock rather than make 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4535424"/>
            <a:ext cx="3566160" cy="1371600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4535424"/>
            <a:ext cx="50292" cy="1371600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4636008"/>
            <a:ext cx="3273552" cy="12070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F7D6B"/>
                </a:solidFill>
                <a:latin typeface="Cambria"/>
              </a:rPr>
              <a:t>No. 1 → hold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Rank on accumulated profit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€67,823,192 against €59,544,072 for Co2. The lead is €8,279,120 — one bad decision wide.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4535424"/>
            <a:ext cx="3560033" cy="1371600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4535424"/>
            <a:ext cx="50292" cy="1371600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4636008"/>
            <a:ext cx="3267425" cy="12070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C8952F"/>
                </a:solidFill>
                <a:latin typeface="Cambria"/>
              </a:rPr>
              <a:t>Price leader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Brand perception goal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The highest S price in the industry, sold out at that price. That is the perception we are defending.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2743200" cy="1463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3E557A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487168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mbria"/>
              </a:rPr>
              <a:t>Summary of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3611880"/>
            <a:ext cx="7680960" cy="0"/>
          </a:xfrm>
          <a:prstGeom prst="line">
            <a:avLst/>
          </a:prstGeom>
          <a:ln w="15875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31720" y="3712463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D9DF"/>
                </a:solidFill>
                <a:latin typeface="Calibri"/>
              </a:rPr>
              <a:t>Main financial figures  ·  Sales and market share  ·  Revenue by product and market
Presented by the Finance Director and the Marketing Director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2 · Summary of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Main financial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 (sales), p.5 (income statement), p.6 (balance sheet), p.8 (ratios); Survey 23 for rivals' net income.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2636512" cy="12252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50292" cy="1225296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2343904" cy="106070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E"/>
                </a:solidFill>
                <a:latin typeface="Cambria"/>
              </a:rPr>
              <a:t>€189.4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Revenue at retail price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€163,704,462 net of retailer margins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8032" y="1389888"/>
            <a:ext cx="2636512" cy="12252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8032" y="1389888"/>
            <a:ext cx="50292" cy="1225296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1768" y="1490472"/>
            <a:ext cx="2343904" cy="106070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E"/>
                </a:solidFill>
                <a:latin typeface="Cambria"/>
              </a:rPr>
              <a:t>€95.7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Gross profit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58.5% of net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389888"/>
            <a:ext cx="2636512" cy="1225296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424" y="1389888"/>
            <a:ext cx="50292" cy="1225296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160" y="1490472"/>
            <a:ext cx="2343904" cy="106070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7D6B"/>
                </a:solidFill>
                <a:latin typeface="Cambria"/>
              </a:rPr>
              <a:t>€70.9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Operating income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43.3% operating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17" y="1389888"/>
            <a:ext cx="2636512" cy="1225296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17" y="1389888"/>
            <a:ext cx="50292" cy="1225296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53" y="1490472"/>
            <a:ext cx="2343904" cy="106070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7D6B"/>
                </a:solidFill>
                <a:latin typeface="Cambria"/>
              </a:rPr>
              <a:t>€67.8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Net income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41.4% net margin · ROE 50.68%</a:t>
            </a:r>
          </a:p>
        </p:txBody>
      </p:sp>
      <p:pic>
        <p:nvPicPr>
          <p:cNvPr id="19" name="Picture 18" descr="c2_net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743200"/>
            <a:ext cx="6903720" cy="27225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2688336"/>
            <a:ext cx="676656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00">
                <a:solidFill>
                  <a:srgbClr val="5C6672"/>
                </a:solidFill>
                <a:latin typeface="Calibri"/>
              </a:rPr>
              <a:t>Net income of every company in the industry, million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743200"/>
            <a:ext cx="4035521" cy="3474720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7808" y="2743200"/>
            <a:ext cx="4035521" cy="41148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9504"/>
            <a:ext cx="3669761" cy="3218687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2F7D6B"/>
                </a:solidFill>
                <a:latin typeface="Calibri"/>
              </a:rPr>
              <a:t>Reading the result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We earned €67,823,192 — more than half of the €119,254,958 the whole industry made between them.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Two of five lost money. Industry average profit margin −20.21%; ours +41.43%.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Our lead over Co2 is €8,279,120, or 13.9%.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But €40,990,251 of that profit sits in the warehouse as unsold H, and €26,497,880 of S revenue was never invoiced — we could not supply it.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50" b="0" i="0">
                <a:solidFill>
                  <a:srgbClr val="16202E"/>
                </a:solidFill>
                <a:latin typeface="Calibri"/>
              </a:rPr>
              <a:t>Survey 23: Co1 −€10,887,540 · Co2 €59,544,072 · us €67,823,192 · Co4 €5,932,326 · Co5 −€3,157,092.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2 · Summary of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Sales and market share by product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Surveys 1, 2 and 3; Year-1 REP p.2–p.3 (units sold, units demanded of our brand, closing inventory). Share is our units divided by units sold by all participating companies.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48969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1417320"/>
                <a:gridCol w="1417320"/>
                <a:gridCol w="960120"/>
                <a:gridCol w="685800"/>
                <a:gridCol w="4785329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 · market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Market size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units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tells us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S — market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10,935,676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5,759,496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52.67%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Sold out. Demand exceeded everything we could make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S — market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2,290,527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90,504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3.95%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Co2 took 92.53% of B at €12.00–13.00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S — all markets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13,264,800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5,850,000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44.10%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Every unit produced was sold; zero closing stock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H — market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20,162,811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4,556,494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22.60%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Tied for the cheapest H in A and still third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H — market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17,892,931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9,989,807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55.83%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Clear leadership at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H — all markets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38,115,310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14,546,301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38.16%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Co2 beat us by 78,699 units — and we hold 17.6 M more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Both products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51,380,110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20,396,301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39.70%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Industry leader: 20.4 M units against Co2's 18.1 M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334256"/>
            <a:ext cx="3576309" cy="1517904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334256"/>
            <a:ext cx="50292" cy="1517904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434840"/>
            <a:ext cx="3283701" cy="135331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1,827,440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Units of S demanded, not supplied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23.8% of the demand for our S brand. At €14.50 that is €26,497,880 of revenue and €12,702,797 of contribution.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829" y="4334256"/>
            <a:ext cx="3576309" cy="1517904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829" y="4334256"/>
            <a:ext cx="50292" cy="1517904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1565" y="4434840"/>
            <a:ext cx="3283701" cy="135331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17,628,699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Units of H made, not sold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121% of the H units we actually sold, carried at €40,990,251 on the balance sheet.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7019" y="4334256"/>
            <a:ext cx="3576309" cy="151790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7019" y="4334256"/>
            <a:ext cx="50292" cy="1517904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0755" y="4434840"/>
            <a:ext cx="3283701" cy="135331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C8952F"/>
                </a:solidFill>
                <a:latin typeface="Cambria"/>
              </a:rPr>
              <a:t>501,093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Units of H demanded, not served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Not a stock problem — 17.6 M units on hand and no logistic stockout flagged in any market. Shelf space or channel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2 · Summary of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Revenue by product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p.4. S 5,850,000 × €14.50 = €84,825,000. H 4,556,494 × €6.50 in A plus 9,989,807 × €7.50 in B = €104,540,764. Market split: A €113,129,903, B €76,235,861.</a:t>
            </a:r>
          </a:p>
        </p:txBody>
      </p:sp>
      <p:pic>
        <p:nvPicPr>
          <p:cNvPr id="7" name="Picture 6" descr="c3_revenu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532120" cy="312604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19088" y="1389888"/>
          <a:ext cx="5224241" cy="2400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691640"/>
                <a:gridCol w="868680"/>
                <a:gridCol w="1246601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Product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€84,825,000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44.8%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55.2%  ·  €6.9511 / unit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Product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€104,540,764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55.2%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61.2%  ·  €3.7849 / unit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Market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€113,129,903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59.7%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Market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€76,235,861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40.3%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Market 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Not entered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€189,365,764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58.5% overall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19088" y="4023360"/>
            <a:ext cx="5224241" cy="1920240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9088" y="4023360"/>
            <a:ext cx="50292" cy="1920240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114800"/>
            <a:ext cx="4895057" cy="177393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The margin figures flatter product 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H shows a 61.2% gross margin only because the cost of the 17,628,699 unsold units is capitalised in inventory instead of charged to the P&amp;L. Per unit sold, S earns €6.9511 of gross profit against €3.7849 for H. On the units we actually shifted, S is the product worth making — and it is the one we ran out of.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84831"/>
            <a:ext cx="2743200" cy="1463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3E557A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240280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mbria"/>
              </a:rPr>
              <a:t>Analysis and causes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3364992"/>
            <a:ext cx="7680960" cy="0"/>
          </a:xfrm>
          <a:prstGeom prst="line">
            <a:avLst/>
          </a:prstGeom>
          <a:ln w="15875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31720" y="3474720"/>
            <a:ext cx="8595360" cy="17373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D5D9DF"/>
                </a:solidFill>
                <a:latin typeface="Calibri"/>
              </a:rPr>
              <a:t>Slides 12 to 24 — marketing, operations, human resources and finance.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2BC"/>
                </a:solidFill>
                <a:latin typeface="Calibri"/>
              </a:rPr>
              <a:t>This is the section that carries the grade. The evaluation guidelines state in capitals that it is a MUST to establish the CAUSES for the results. Nothing here is a description of what happened: every claim is paired with why it happened, what it cost, and the evidence that proves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Portfolio, channels and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p.2–p.3 (units by channel); Surveys 7 and 8 (positioning); Survey 20 (prices); Survey 27 (platforms: 35 hypermarket outlets in A, 30 in B).</a:t>
            </a:r>
          </a:p>
        </p:txBody>
      </p:sp>
      <p:pic>
        <p:nvPicPr>
          <p:cNvPr id="7" name="Picture 6" descr="c4_chann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64208"/>
            <a:ext cx="6446520" cy="29720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371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Where we sell — our units by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4511009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Positioning vs competitors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0" y="1645920"/>
          <a:ext cx="4511009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868680"/>
                <a:gridCol w="731520"/>
                <a:gridCol w="731520"/>
                <a:gridCol w="108200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 (Co3)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Co1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Product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(1, 8)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(8, 2)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(3, 8)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(2, 8)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Product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(9, 1)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(5, 5)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(9, 1)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(1, 8)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32320" y="2889504"/>
            <a:ext cx="4511009" cy="331012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889504"/>
            <a:ext cx="4511009" cy="4114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35808"/>
            <a:ext cx="4145249" cy="3054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B04A38"/>
                </a:solidFill>
                <a:latin typeface="Calibri"/>
              </a:rPr>
              <a:t>The finding that matters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Channel G in market A took 63,960 units of our H across 35 stores — 1,827 per store. Channel G in market B took 2,057,439 across 30 stores — 68,581 per store. 37 times better.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The same 35 hypermarkets in A took 2,587,071 units of our S. The stores are not the problem and our access to them is not the problem.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Cause: channel G behaves winner-take-most. In A we are not the H brand the hypermarket buyer stocks; in B we are.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Co2 sits on our exact (9, 1) coordinates and charged €9.50–10.50 in A — identical positioning, 46% dearer, and it outsold us by 71%.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Price against competitors, and what it bought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Survey 20 (retail prices by product, market and channel); Survey 22 (promotion types); Surveys 1–3 (shares). Co5 priced at zero in every cell and sold nothing.</a:t>
            </a:r>
          </a:p>
        </p:txBody>
      </p:sp>
      <p:pic>
        <p:nvPicPr>
          <p:cNvPr id="7" name="Picture 6" descr="c5_pri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27632"/>
            <a:ext cx="6720840" cy="2962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371600"/>
            <a:ext cx="65836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Retail price ladder, market 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218401" cy="1316736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50292" cy="1316736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98663" y="1490472"/>
            <a:ext cx="3925793" cy="11521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2F7D6B"/>
                </a:solidFill>
                <a:latin typeface="Cambria"/>
              </a:rPr>
              <a:t>+71%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Our S price above the cheapest rival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€14.50 against Co1 and Co4 at €8.50. We still took 52.67% of market A and ran out of stock.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7" y="2798064"/>
            <a:ext cx="4218401" cy="1316736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927" y="2798064"/>
            <a:ext cx="50292" cy="1316736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3" y="2898648"/>
            <a:ext cx="3925793" cy="11521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04A38"/>
                </a:solidFill>
                <a:latin typeface="Cambria"/>
              </a:rPr>
              <a:t>+46%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Co2's H price above ours in market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From our exact (9, 1) position — and Co2 sold 7,782,836 units against our 4,556,494.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7" y="4206240"/>
            <a:ext cx="4218401" cy="1316736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4927" y="4206240"/>
            <a:ext cx="50292" cy="1316736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3" y="4306824"/>
            <a:ext cx="3925793" cy="11521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8952F"/>
                </a:solidFill>
                <a:latin typeface="Cambria"/>
              </a:rPr>
              <a:t>€0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Spent on promotions in Year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Every competitor except Co5 ran at least one. We have no measurement of what a promotion is worth to 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47488"/>
            <a:ext cx="6720840" cy="100584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47488"/>
            <a:ext cx="50292" cy="100584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7"/>
            <a:ext cx="6391655" cy="85953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Conclusion on price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S is under-priced for the supply we have: selling out with 1,827,440 units unserved is the definition of it. H in market A is not losing on price — it is the cheapest on the shelf and third in share. Price is not the lever in 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Distribution, advertising and share of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DEP (sales network, platforms, campaigns, POP, margins, shelf); REP p.5 (general expenses); Survey 21 (rivals' campaign identifiers); Survey 27 (platforms). Surveys 11, 13, 14 and 15 were NOT bought in Year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3564117" cy="455371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3564117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198357" cy="42976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Distribution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6 sales managers in A and 6 in B; none in E. Representatives A: 4 supermarket + 4 wholesale; B: 5 + 3.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Fixed sales-network cost €3,192,000; incentives €702,750 at the minimum 0.60% commission rate.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12 distribution platforms in A and 12 in B. The market-E template default of 60 was left untouched and was charged €0.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No wholesaler intermediary used — we sell through our own network only.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No logistic stockout was flagged in any market, so distribution capacity was not the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3925" y="1389888"/>
            <a:ext cx="3564117" cy="4553712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925" y="1389888"/>
            <a:ext cx="3564117" cy="4114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6805" y="1536192"/>
            <a:ext cx="3198357" cy="42976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B04A38"/>
                </a:solidFill>
                <a:latin typeface="Calibri"/>
              </a:rPr>
              <a:t>Advertising and share of voice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Campaign 18 for S and 19 for H, run in A and B, nothing in 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Media €678,000 plus €150,000 of point-of-sale advertising = €828,000, which is 0.44% of revenue at retail price.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Weight: 12 insertions per market for S (8 television + 4 press) and 8 for H (5 television + 3 press). Television is the cheaper medium in both markets.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Share of voice is NOT measurable for Year 1. Survey 21 returns campaign identifiers, not spend, and surveys 10, 11 and 13 were not bought.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Co2 ran campaign 17 on S and campaign 19 on H — the identical campaign to ours — and outsold us in market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211" y="1389888"/>
            <a:ext cx="3564117" cy="4553712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9211" y="1389888"/>
            <a:ext cx="3564117" cy="41148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2091" y="1536192"/>
            <a:ext cx="3198357" cy="42976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Shelf space and point of sale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Retailer margin €1.90 per unit on S and €1.00 on H. Shelf space achieved: 18% for S, 22% for H.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Point of sale: €10,000 per channel for S and €15,000 for H — €150,000 in total.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501,093 units of H were demanded and not served while 17,628,699 sat in stock with no logistic stockout. Shelf space or channel coverage is the only explanation the data leaves standing.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We cannot prove it: survey 15 (shelf space achieved) was not bought.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Year 2 buys surveys 10, 11, 13, 14 and 15 to close exactly this gap — €680,600 against a market-A shortfall worth roughly €12 M a year.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What our decisions did to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DEP (decisions as entered); REP p.2–p.3 (units sold, units demanded of our brand); Surveys 1, 2, 3, 20, 21 and 22.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2331720"/>
                <a:gridCol w="3063240"/>
                <a:gridCol w="428240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Measured effect on demand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Cause, and what follows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Positioning of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(1, 8) quality corner, both markets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52.67% of market A; demand 31% above capacity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The corner is uncontested at our price. Do not touch it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Price of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€14.50, the highest in the industry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Sold out; 1,827,440 units of demand unserved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Too low for the supply we have, not too high for the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Price of H in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€6.50, tied cheapest in the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22.60% — third, behind two dearer brands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Price is not the A driver. We gave away margin and bought nothing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Price of H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55.83% — clear leadership, 1st of five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The right level. Align A to it rather than cutting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Advertising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€828,000, 0.44% of revenue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Not measurable — rivals' spend unknown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Survey 21 gives campaigns, not money. Buy 10, 11 and 13 first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Promotions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None, on either product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Co2 and Co4 both promoted H and both sold out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Untested lever. Test it on H, where we have stock to sell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Own network, 12 platforms per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 logistic stockout; 501,093 H units unserved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The bottleneck is shelf and channel, not vehicles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700016"/>
            <a:ext cx="11094689" cy="93268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700016"/>
            <a:ext cx="50292" cy="93268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91456"/>
            <a:ext cx="10765505" cy="7863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B04A38"/>
                </a:solidFill>
                <a:latin typeface="Calibri"/>
              </a:rPr>
              <a:t>The one-sentence 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202E"/>
                </a:solidFill>
                <a:latin typeface="Calibri"/>
              </a:rPr>
              <a:t>We created more demand for S than we could serve and less demand for H than we had already produced. Both failures have the same root cause: the marketing plan and the production plan were built independently of each other, and neither was tested against a measured demand curve.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Expected against actual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Operations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p.2–p.4 (units produced, sold, demanded, closing inventory); DEP p.6–p.7 (lines installed, shifts, maintenance). Line-shift yields verified in model/calibration.py.</a:t>
            </a:r>
          </a:p>
        </p:txBody>
      </p:sp>
      <p:pic>
        <p:nvPicPr>
          <p:cNvPr id="7" name="Picture 6" descr="c6_capacity_vs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45920"/>
            <a:ext cx="5806440" cy="31294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371600"/>
            <a:ext cx="5669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Capacity built against the demand that was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0527" y="1389888"/>
            <a:ext cx="5132801" cy="301752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7" y="1389888"/>
            <a:ext cx="5132801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7" y="1536192"/>
            <a:ext cx="4767041" cy="2761487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The cause, and what it cost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We installed 32 lines — 10 for S, 22 for H — which is the legal maximum, and ran three shifts on every one of them.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That split was set before any demand had been measured. On the plant's 96 line-shifts, H was given 69% of capacity and needed 32%; S was given 31% and needed 41%.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Execution was perfect: 195,000 sellable S and 487,500 sellable H per line-shift, exactly 81.25% of nameplate. S made 5,850,000 to plan and sold all of it; H made 32,175,000 against demand of 15,047,394.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The deviation is not in the plant. The plan itself was the error.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7" y="4553712"/>
            <a:ext cx="2474960" cy="138988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7" y="4553712"/>
            <a:ext cx="50292" cy="138988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4654296"/>
            <a:ext cx="2182352" cy="12252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B04A38"/>
                </a:solidFill>
                <a:latin typeface="Cambria"/>
              </a:rPr>
              <a:t>€40.99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Cash locked in H stock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17,628,699 units at the €2.3252 standard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8368" y="4553712"/>
            <a:ext cx="2474960" cy="138988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68368" y="4553712"/>
            <a:ext cx="50292" cy="138988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2104" y="4654296"/>
            <a:ext cx="2182352" cy="12252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B04A38"/>
                </a:solidFill>
                <a:latin typeface="Cambria"/>
              </a:rPr>
              <a:t>€12.70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Contribution lost on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1,827,440 units × €6.9511 of gross profit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Unit cost and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Operations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 (standard costs, production results); INF (raw material list prices and power rates). All four components reproduce exactly in model/calibration.py. Survey 24, the industry average production cost, was NOT bought.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Standard cost per unit and its components, 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6720840" cy="2057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822960"/>
                <a:gridCol w="822960"/>
                <a:gridCol w="3657600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is built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Raw material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1.7335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1.1031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List 1.65 / 1.05 × 1.03 terms × 1.02 yield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Labour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3.3231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0.9323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Crew cost ÷ 195,000 (S) / 487,500 (H)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0.4411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0.2647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INF rate × 1.764582 realisation factor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Repairs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0.0627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0.0251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€12,224.10 per line-shift, maintenance 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Standard cost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5.5604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2.3252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02E"/>
                          </a:solidFill>
                          <a:latin typeface="Calibri"/>
                        </a:rPr>
                        <a:t>Against €14.50 for S and €6.50–7.50 for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89888"/>
            <a:ext cx="4190969" cy="4572000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389888"/>
            <a:ext cx="4190969" cy="41148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536192"/>
            <a:ext cx="3825209" cy="43159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2F7D6B"/>
                </a:solidFill>
                <a:latin typeface="Calibri"/>
              </a:rPr>
              <a:t>Productivity: what worked, and what we cannot see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Utilisation measured at 81.25% of nameplate on both products, in both the test round and the graded year. It is a constant, not noise.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Preventive maintenance pays twice for its €500,000: it lifts utilisation from 78.75% to 81.25%, and it cuts the repair bill from €16,829 to €12,224.10 per line-shift. Repairs are 1.1% of unit cost.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Poka Yoke was off. §26 prices it at €720,000 per line on all 32 lines — €23,040,000 — for a single-digit output gain. It never repays.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SMED was not available in Year 1. It is the whole operations story of Year 2 (slide 28).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Raw material landed 5.1% above list on both products: 2% scrap yield plus the 3% premium for 120-day supplier terms.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We cannot benchmark unit cost. Survey 24, the industry average production cost, was not among the 11 surveys bought. It is bought for Year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95344"/>
            <a:ext cx="6720840" cy="2066543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95344"/>
            <a:ext cx="50292" cy="2066543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86783"/>
            <a:ext cx="6391655" cy="1920239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The cause behind the cost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E"/>
                </a:solidFill>
                <a:latin typeface="Calibri"/>
              </a:rPr>
              <a:t>Labour is 60% of the S unit cost and 40% of H, and it is fixed per line-shift. That makes unit cost a pure function of how many sellable units come off a line-shift — which is why SMED, not a cheaper supplier, is the lever that moves it. Every €0.10 of S unit cost is €668,880 at Year-2 volume.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Supply chain, raw material and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Operations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 (production results, stockout flags, transport and warehouse cost); DEP p.2–p.3 (fleet and platforms); scenario §10 and §12 for the per-unit tariff references.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8" cy="30861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874519"/>
                <a:gridCol w="1325880"/>
                <a:gridCol w="5882609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Year-1 result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Read, and the cause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Raw-material purchases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production × 1.02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§ scrap rule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Exact. No raw-material stockout on either product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Supplier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cash available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A 3% raw-material premium costing €1,343,918, sitting in COGS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Finished-goods stockout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S: yes, 1,827,440 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Capacity, not supply chain. H had no stockout and 17.6 M spare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Logistic stockout flags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none in A, B or 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The fleet was never the binding constraint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Factory → platform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€132,000  ·  €0.0065/u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€0.006/u (§10)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In line. 3 trunk vehicles in A, 2 in B, at 24,000 kg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Warehouse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€600,862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Exists only because we made 17.6 M units nobody ordered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Platform → retailer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€900,000  ·  €0.0441/u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€0.007/u (§12)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+530% over the reference — see the cause below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Total logistics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€1,632,862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0.86% of revenue at retail price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663440"/>
            <a:ext cx="11094689" cy="109728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50292" cy="1097280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79"/>
            <a:ext cx="10765505" cy="95097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B04A38"/>
                </a:solidFill>
                <a:latin typeface="Calibri"/>
              </a:rPr>
              <a:t>The cause of the +530% last-mile deviation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E"/>
                </a:solidFill>
                <a:latin typeface="Calibri"/>
              </a:rPr>
              <a:t>The reference tariff is a cost per unit moved. We sized the fleet for the 37,800,000 units the plan expected to ship and moved 20,396,301 — so 50 last-mile vehicles carried 407,926 units each instead of the ~756,000 they were bought for. The fleet did not overspend; the production plan under-filled it. Year 2 cuts the last mile to 42 vehicles, which is where the risk on slide 35 lies.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human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Headcount, turnover and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HR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 (workforce and turnover) and p.5 (staff costs, selection and training, incentives); INF and the scenario for the permitted salary ranges. Survey 25, the industry average salary cost, was NOT bought.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263651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50292" cy="128016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2343904" cy="11155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202E"/>
                </a:solidFill>
                <a:latin typeface="Cambria"/>
              </a:rPr>
              <a:t>3,144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Production headcount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Operators and supervision, 3 shifts on all 32 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8032" y="1389888"/>
            <a:ext cx="2636512" cy="1280160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8032" y="1389888"/>
            <a:ext cx="50292" cy="1280160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1768" y="1490472"/>
            <a:ext cx="2343904" cy="11155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C8952F"/>
                </a:solidFill>
                <a:latin typeface="Cambria"/>
              </a:rPr>
              <a:t>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People lost in the year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4 office and management, 9 from the sales force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389888"/>
            <a:ext cx="2636512" cy="1280160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424" y="1389888"/>
            <a:ext cx="50292" cy="1280160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160" y="1490472"/>
            <a:ext cx="2343904" cy="11155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C8952F"/>
                </a:solidFill>
                <a:latin typeface="Cambria"/>
              </a:rPr>
              <a:t>€306,000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Cost of that turnover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€36,000 office at €9,000 each; €270,000 sales at €30,000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17" y="1389888"/>
            <a:ext cx="2636512" cy="128016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17" y="1389888"/>
            <a:ext cx="50292" cy="1280160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53" y="1490472"/>
            <a:ext cx="2343904" cy="11155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€722,000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Selection and training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Spent, with no measurable effect on the turnover we had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64008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Salary levels and where they sit in the permitted range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108960"/>
          <a:ext cx="6675120" cy="24505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417320"/>
                <a:gridCol w="2148840"/>
                <a:gridCol w="1417320"/>
              </a:tblGrid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Our salary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Permitted range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Level I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€126,000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108,000 – 150,000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Lower half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Level II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€84,000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72,124 – 99,170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Middle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Level III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€60,000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51,100 – 72,124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Middle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Level IV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€35,000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30,050 – 42,075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Middle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€13,500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12,000 – 16,830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Lower half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Specialist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€24,000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21,000 – 29,450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Lower half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Sales representative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€27,000 + 0.60%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21,000 – 42,000 / 0.6 – 1.2%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Bottom of both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406640" y="2798064"/>
            <a:ext cx="4236689" cy="316382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2798064"/>
            <a:ext cx="4236689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2944368"/>
            <a:ext cx="3870929" cy="290779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What the numbers say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Nine of the thirteen leavers came from the sales force — €270,000 of the €306,000 bill — and that is exactly where we pay the bottom of the permitted range at the minimum commission rate.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That is correlation, not proof: survey 14 (rivals' sales force) and survey 25 (industry salary) were not bought, so we cannot say rivals pay more.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The 3,144 headcount is an operations decision, not an HR one: 32 lines on three shifts, twenty of them making product that did not sell.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50" b="0" i="0">
                <a:solidFill>
                  <a:srgbClr val="16202E"/>
                </a:solidFill>
                <a:latin typeface="Calibri"/>
              </a:rPr>
              <a:t>No salary sits above the midpoint of its range, and productivity still hit the measured ceiling of 81.25%.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human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The training department and the sales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HR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 and p.5; the turnover cost with the department switched off was measured in the test round (day 2 findings). Permitted ranges from the scenario. Survey 14 was not bought in Year 1; it is bought for Year 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5437616" cy="2615184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5437616" cy="41148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071856" cy="23591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B04A38"/>
                </a:solidFill>
                <a:latin typeface="Calibri"/>
              </a:rPr>
              <a:t>The training department did not pay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It cost €722,000 in Year 1 as a fixed general expense.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It buys a cheaper leaver, not fewer leavers: office replacement falls from €24,000 to €9,000 a head. Four office leavers × €15,000 = €60,000 saved.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€722,000 of cost against €60,000 of measured benefit is a net €662,000 given away, and thirteen people still left.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Year 2: switched off. If turnover repeats without it, the money goes to the sales force, where the leavers actually 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5712" y="1389888"/>
            <a:ext cx="5437616" cy="261518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712" y="1389888"/>
            <a:ext cx="5437616" cy="41148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592" y="1536192"/>
            <a:ext cx="5071856" cy="23591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The sales force is the real exposure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6 sales managers in A and 6 in B; representatives A: 4 + 4, B: 5 + 3. Fixed cost €3,192,000, incentives €702,750.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Pay is €27,000 against a 21,000–42,000 range, and commission is 0.60% against a 0.6–1.2% range — the bottom of both.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Nine representatives left, costing €30,000 each to replace.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We are not raising pay blind. Survey 14 measures what rivals pay; it is bought for Year 2 and the pay review happens in the Year-3 plan with evidence behind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87952"/>
            <a:ext cx="11094689" cy="177393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87952"/>
            <a:ext cx="50292" cy="1773936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10765505" cy="16276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What changes in Year 2, and why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E"/>
                </a:solidFill>
                <a:latin typeface="Calibri"/>
              </a:rPr>
              <a:t>Salaries are held at every level — there is no evidence a rise buys anything, and surveys 14 and 25 are unread. The training department is closed, worth +€662,000. Production headcount falls from 3,144 to roughly 1,404 as twenty moisturiser lines stand idle: that is an operations decision (slide 28) whose HR consequence is a much smaller payroll, and it is the single largest cost movement in the Year-2 plan. Two SMED specialist teams per shift are added at the €24,000 specialist rate to run the new modules. Everything else is held deliberately, so that the price and promotion experiments read against a clean background.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Financial statements and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p.6 (balance sheet) and p.8 (ratios, company against industry average). The printed inventory turnover is excluded — see the note.</a:t>
            </a:r>
          </a:p>
        </p:txBody>
      </p:sp>
      <p:pic>
        <p:nvPicPr>
          <p:cNvPr id="7" name="Picture 6" descr="c7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64208"/>
            <a:ext cx="6720840" cy="3114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371600"/>
            <a:ext cx="65836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Our ratios against the industry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1371600"/>
            <a:ext cx="4218401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Balance sheet at 31 December, Year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24927" y="1645920"/>
          <a:ext cx="4218401" cy="26746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234440"/>
                <a:gridCol w="1566641"/>
              </a:tblGrid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€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Comment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Cash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46,902,208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Idle, earning nothing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Receivables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27,284,077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60-day customer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Inventory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41,497,297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98.8% is unsold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Non-current assets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59,520,000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32 lines, net of depreciation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Total assets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175,203,582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Payables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15,380,390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120-day supplier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Loans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26,000,000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€6.5 M short + €19.5 M long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Equity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133,823,192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€66 M capital + €67.8 M earnings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24927" y="4297680"/>
            <a:ext cx="4218401" cy="1664208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24927" y="4297680"/>
            <a:ext cx="50292" cy="1664208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4389120"/>
            <a:ext cx="3889217" cy="15179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Two readings, and one figure we will not quote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E"/>
                </a:solidFill>
                <a:latin typeface="Calibri"/>
              </a:rPr>
              <a:t>We are the most profitable and the most leveraged company at once: profit margin 41.43 against −20.21, but debt ratio 23.62 against 7.19 and current ratio 5.29 against 7.91. Both are self-inflicted and both are fixed in Year 2. We exclude the printed inventory turnover of 1.62: it does not reproduce from the statements and we will not defend a figure we cannot rebuild.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Cash management: an expensively financed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p.5 (financial income and expenses) and p.6 (balance sheet); INF p.2 (interest rates, fees, penalties and terms).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2788920"/>
                <a:gridCol w="2331720"/>
                <a:gridCol w="405380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Decision in Year 1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Was it needed?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Loan drawn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€26,000,000 at 10%, 4-year maturity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€2,600,000 interest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No. Interest was charged on the full draw for the whole year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Loan arrangement fee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1% of the amount drawn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€260,000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No. The year generated €67.8 M of net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Credit line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€10,000,000 requested, never drawn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€100,000 upfront + €100,000 service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No. €200,000 for insurance we did not use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Customer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60 days — the shortest available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€27,284,077 in receivables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Yes. Already at the best available setting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Deposits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None taken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€46,902,208 earned 0% all year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A 2.5% fixed-term deposit was available from day 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Factoring / securities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Neither used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Correct. Nothing on the balance sheet needed funding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169664"/>
            <a:ext cx="3576309" cy="1700784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169664"/>
            <a:ext cx="50292" cy="1700784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270248"/>
            <a:ext cx="3283701" cy="1536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€3,060,000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Total financial expense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€2,600,000 interest + €260,000 loan fee + €100,000 line fee + €100,000 line service. That is 4.5% of net income, paid to borrow money we already had.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829" y="4169664"/>
            <a:ext cx="3576309" cy="1700784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829" y="4169664"/>
            <a:ext cx="50292" cy="1700784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1565" y="4270248"/>
            <a:ext cx="3283701" cy="1536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€1,343,918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Cost of 120-day supplier terms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A 3% premium on raw material. It is NOT in financial expense — it sits inside COGS, which is why it never appeared as a financing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7019" y="4169664"/>
            <a:ext cx="3576309" cy="170078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7019" y="4169664"/>
            <a:ext cx="50292" cy="1700784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0755" y="4270248"/>
            <a:ext cx="3283701" cy="1536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C8952F"/>
                </a:solidFill>
                <a:latin typeface="Cambria"/>
              </a:rPr>
              <a:t>€0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Financial income earned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The cause is a single missing decision, not a market event: no deposit was opened. Year 2 opens a €10,000,000 deposit at 2.5%.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 —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The inventory effect on the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p.3 (closing inventory), p.4 (standard costs), p.5 (income statement), p.6 (balance sheet); plan-versus-actual cash from 'anthony results + review/01-results-vs-plan.md'. Scenario §3 for FIFO.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3576309" cy="146304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89888"/>
            <a:ext cx="50292" cy="1463040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283701" cy="12984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€40,990,251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Frozen in finished moisturiser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17,628,699 units × €2.3252 standard cost. It is 98.8% of the €41,497,297 inventory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829" y="1389888"/>
            <a:ext cx="3576309" cy="1463040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829" y="1389888"/>
            <a:ext cx="50292" cy="1463040"/>
          </a:xfrm>
          <a:prstGeom prst="rect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1565" y="1490472"/>
            <a:ext cx="3283701" cy="12984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B04A38"/>
                </a:solidFill>
                <a:latin typeface="Cambria"/>
              </a:rPr>
              <a:t>€46,902,208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Cash at 31 December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Against €111,774,267 in the plan — a shortfall of €64,872,059, almost all of it inventory and lower receivables.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7019" y="1389888"/>
            <a:ext cx="3576309" cy="1463040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7019" y="1389888"/>
            <a:ext cx="50292" cy="1463040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0755" y="1490472"/>
            <a:ext cx="3283701" cy="12984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F7D6B"/>
                </a:solidFill>
                <a:latin typeface="Cambria"/>
              </a:rPr>
              <a:t>Not a loss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It is a timing effect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Only units sold are expensed. The €40,990,251 is capitalised, so it has not touched the P&amp;L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35808"/>
            <a:ext cx="11094689" cy="292608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35808"/>
            <a:ext cx="11094689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82112"/>
            <a:ext cx="10728929" cy="2670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Why it matters anyway, and what it does next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The accounting is benign and the cash position is not. We borrowed €26,000,000 and paid €3,060,000 of financial expense in the same year that €40,990,251 of cash was converted into product nobody ordered. The loan was a symptom of the inventory, not of the business.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It flatters the reported margin. H's 61.2% gross margin is calculated on the 14,546,301 units sold; the cost of the other 17,628,699 is sitting in the balance sheet, so the P&amp;L looks better than the cash does.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It also explains two ratios on slide 21 without any financial-policy story: the current ratio of 5.29 against an industry 7.91, and the quick ratio of 3.39 against 6.93. Strip inventory out and we look illiquid; it is the difference between the two ratios.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§3 says stock does not deteriorate and sells first, FIFO. So the units are worth their full €2.3252 in Year 2 and every one sold is contribution against a cost already paid. That is precisely why Year 2 activates 2 of 22 moisturiser lines instead of 22, and why the forecast still grows.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200" b="0" i="0">
                <a:solidFill>
                  <a:srgbClr val="16202E"/>
                </a:solidFill>
                <a:latin typeface="Calibri"/>
              </a:rPr>
              <a:t>Year-2 central forecast leaves 6,900,086 units — a 60.9% reduction — and no debt.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Year 1: the causes, in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as cited on slides 12 to 23 — Year-1 REP p.2–p.6 and p.8, the Year-1 DEP, Surveys 1, 2, 3, 7, 8, 20, 21, 22, 23, 27 and 28, and model/calibration.py.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8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3246120"/>
                <a:gridCol w="1874519"/>
                <a:gridCol w="364232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it happened — the cause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cost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do in Year 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1st in profit and in unit share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 premium position on S the market paid for, and volume leadership on H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Change nothing about either brand's positioning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 sold out; 1,827,440 units unserved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Only 10 of 32 permitted lines went to S, and the split was set before demand was measured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€26,497,880 revenue
€12,702,797 contribution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SMED on the S lines: 5,850,000 → 6,688,800 units. The 32-line cap blocks anything else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17,628,699 units of H made and unsold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22 lines on three shifts run against a demand estimate nobody validated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€40,990,251 of cash frozen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Sell the stock before making more: 2 of 22 H lines run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 took only 22.60% of market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Lowest price on the shelf, weakest hypermarket presence — 1,827 units per store against 68,581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3rd place in the industry's largest segment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Raise A to €7.50, run a supermarket promotion, buy the 11 missing surveys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€3,060,000 of financial expense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 €26 M loan and a €10 M credit line taken against a year that generated €67.8 M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4.5% of net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Prepay the loan, drop the line, deposit the surplus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€722,000 on training with no effect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The department was funded without ever measuring what it changes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€662,000 net of the turnover it avoided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Close it; fund the sales force instead if turnover repeats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2743200" cy="1463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3E557A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487168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mbria"/>
              </a:rPr>
              <a:t>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3611880"/>
            <a:ext cx="7680960" cy="0"/>
          </a:xfrm>
          <a:prstGeom prst="line">
            <a:avLst/>
          </a:prstGeom>
          <a:ln w="15875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31720" y="3712463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D9DF"/>
                </a:solidFill>
                <a:latin typeface="Calibri"/>
              </a:rPr>
              <a:t>Specific and measurable, built directly on the Year-1 causes
Presented by the Managing Director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4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Objectives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p.4–p.6 for the actuals; model/calibration.py for every Year-2 figure (central scenario, 32 of 32 checks reproduce the Year-1 report exactly). Market size assumed flat: the rulebook gives no growth constant.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8" cy="41742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1417320"/>
                <a:gridCol w="1417320"/>
                <a:gridCol w="868680"/>
                <a:gridCol w="5516849"/>
              </a:tblGrid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 1 actual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 2 target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is reached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Units sold —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5,850,000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6,688,800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+14.3%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SMED lifts sellable output per line-shift from 195,000 to 222,960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Units sold —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14,546,301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14,073,013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−3.3%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Sold out of the 17.6 M stock, not made: only 2 of 22 lines run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Sales at retail price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189,365,764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205,879,597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+8.7%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Volume on S, plus €14.50 → €15.00 and H in A €6.50 →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163,704,462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179,097,864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+9.4%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After retailer margins of €1.90 on S and €1.00 on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58.5%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+3.0 pts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Standard cost falls to €5.0853 on S and €2.1730 on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Operating margin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43.3%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46.9%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+3.6 pts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Gross-margin gain, with general expenses up only 5.5%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67,823,192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84,074,528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+24.0%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The line-by-line forecast on slide 32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Return on equity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50.68%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38.6%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−12.1 pts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Mechanical: equity rises to €217,897,720 with no dividend proposed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Debt at 31 December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26,000,000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−100%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The €19,500,000 remaining is prepaid on 2 January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 stock at 31 December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17,628,699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6,900,086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−60.9%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The whole point of idling 20 moisturiser lines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5 · Actions —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Marketing actions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Marketing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the Year-2 decision sheet as submitted (15 screens, recorded in 07-YEAR-2-DECISIONS-AS-ENTERED.md); values computed in model/calibration.py against the central elasticity. Decisions are already entered.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3246120"/>
                <a:gridCol w="4617720"/>
                <a:gridCol w="1722089"/>
              </a:tblGrid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Decision entered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 Year-1 cause it answers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Positioning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Unchanged: S (1, 8), H (9, 1), in A and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Both positions delivered 1st place in their strongest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Price —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€14.50 → €15.00, every channel, A and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Output is capped below last year's demand; the units sell either way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+€3,342,000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Price — H in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€6.50 →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Cheapest H in A finished third: price was never the A driver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+€2,250,000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Price — H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Held at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55.83% share at €7.50 is the best-measured price point we have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Promotion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H, supermarkets, A and B: 3 × €0.50 reduction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Both rivals that promoted H sold out; we have never measured 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−€662,279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Promotion on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§48 rejects a promotion you cannot supply, and S has no spare units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Advertising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Held: campaigns 18 and 19, €678,000 + €150,000 POP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Moving the budget before surveys 10, 11 and 13 report would confound the price read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Shelf and margin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 18% at €1.90; H 22% at €1.00 — held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Held pending survey 15, which measures what the winners achieved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Market research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€166,800 → €680,600, 22 of 28 surveys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Answers why H lost market A — the single largest unexplained gap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−€680,600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5 · Actions —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Operations actions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Operations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the Year-2 decision sheet as submitted; scenario §26 (Poka Yoke), §48; outputs and standard costs from model/calibration.py at the 92.9% SMED utilisation measured in the test 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437616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Capacity and production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27632"/>
          <a:ext cx="5437571" cy="3063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234440"/>
                <a:gridCol w="2511491"/>
              </a:tblGrid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New production lines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10 S + 22 H already hits the 32-line legal cap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SMED modules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2, at €6,000,000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The only capacity lever left: 81.25% → 92.9%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Poka Yoke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€720,000 × 32 lines = €23,040,000. Never repays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Shifts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Unchanged. The constraint is the line, not the hours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Preventive maintenance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Yes, €500,000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Pays twice — utilisation and repair cost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 lines activated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10 of 10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 is the constrained product; every line runs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lines activated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 of 22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17.6 M units are already made. Sell them first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 output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6,688,800 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10 lines × 3 shifts × 222,960 sellable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output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3,344,400 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 × 3 × 557,400 — tops stock up to 20,973,099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5712" y="1353312"/>
            <a:ext cx="5437616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Supply chain and logistics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5712" y="1627632"/>
          <a:ext cx="5437571" cy="21442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325880"/>
                <a:gridCol w="2420051"/>
              </a:tblGrid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Raw material — 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6,578,235 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Output × 1.02 scrap × 1.01 buffer, less stock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Raw material —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3,446,019 u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The same rule on the reduced H run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Supplier payment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Cash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Drops the 3% terms premium: +€434,174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Platforms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12 A · 12 B · 60 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E left at the template default, which costs €0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Trunk vehicles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 in A, 2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Year 1 moved 20.4 M units on 5 with no flag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Last-mile vehicles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24 in A, 18 in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Down from 30 and 20 — saves €170,400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09744"/>
            <a:ext cx="5437616" cy="115214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09744"/>
            <a:ext cx="50292" cy="115214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01183"/>
            <a:ext cx="5108432" cy="10058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2F7D6B"/>
                </a:solidFill>
                <a:latin typeface="Calibri"/>
              </a:rPr>
              <a:t>The trade to test us 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E"/>
                </a:solidFill>
                <a:latin typeface="Calibri"/>
              </a:rPr>
              <a:t>€6,000,000 of SMED replaces new lines we are not permitted to build and pays back in 0.65 years: +€9,160,000 of contribution in Year 2 alone. Idle H lines still carry depreciation whether they run or not, and that is in the forecast.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4809744"/>
            <a:ext cx="5437616" cy="115214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12" y="4809744"/>
            <a:ext cx="50292" cy="1152144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592" y="4901183"/>
            <a:ext cx="5108432" cy="10058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The one live risk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E"/>
                </a:solidFill>
                <a:latin typeface="Calibri"/>
              </a:rPr>
              <a:t>Cutting the last mile from 50 to 42 vehicles raises the load per vehicle by 20.7% with no measured headroom, to save €170,400. The test round showed a €1,527,519 emergency premium on a single flagged market. It is on slide 35.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5 · Actions — human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HR actions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HR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the Year-2 decision sheet as submitted; Year-1 REP p.4–p.5; permitted ranges from the scenario; the turnover cost with the training department off was measured in the test round.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8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1554480"/>
                <a:gridCol w="1417320"/>
                <a:gridCol w="4709160"/>
                <a:gridCol w="153920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P&amp;L effect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Salary levels I–IV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126 / 84 / 60 / 35 k€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Office turnover was 4 people and €36,000. No evidence a rise buys anything, and survey 25 is unread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Operator and specialist pay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€13,500 / €24,000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Rates held; the payroll falls because headcount falls, not because pay does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lower total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Production headcount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3,144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~1,404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Twenty moisturiser lines stand idle — the operations decision on slide 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largest saving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Recruitment and training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Yes — €722,000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It bought €60,000 of measured turnover saving for €722,000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+€662,000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Sales force pay and rate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€27,000 + 0.60%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We sit at the bottom of both ranges, but survey 14 reports this year — no blind rise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€3,192,000 fixed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Sales incentives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€702,750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0.60% of net price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Rate held at the minimum; the euro amount follows the plan's volume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moves with volume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SMED specialist teams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 teams per shift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Required to operate the two SMED modules; paid at the €24,000 specialist rate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new cost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5 · Actions —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Finance actions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the Year-2 decision sheet as submitted; INF p.2 (rates, fees, penalties); Year-1 REP p.5–p.6; model/calibration.py.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2377440"/>
                <a:gridCol w="5349240"/>
                <a:gridCol w="1676369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 2 decision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New loan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Year 1 proved the business self-funds: €67.8 M of net income against a €26 M draw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Existing loan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Prepay the full €19,500,000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 1% penalty of €195,000 cancels €1,950,000 + €1,300,000 + €650,000 of interest across Years 2 to 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+€1,755,000 in Y2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Credit line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Reduced from €10,000,000 to zero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It cost €200,000 in Year 1 — 1% upfront and 1% service — and was never drawn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+€200,000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Fixed-term deposit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€10,000,000 at 2.5%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€46.9 M of cash earned nothing all of Year 1. Early withdrawal costs only 1%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+€250,000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Supplier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Moved to cash, both products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120 days carried a measured 3% raw-material premium — €1,343,918 in Year 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+€434,174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Customer terms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60 days — unchanged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Already the shortest setting available; receivables are 2/12 of net revenue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Market research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€166,800 → €680,600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22 of 28 surveys, including 10, 11, 13, 14 and 15 — the market-A diagnosis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−€680,600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754880"/>
            <a:ext cx="3576309" cy="1207008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50292" cy="1207008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855464"/>
            <a:ext cx="3283701" cy="104241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F7D6B"/>
                </a:solidFill>
                <a:latin typeface="Cambria"/>
              </a:rPr>
              <a:t>€3.06 M → +€55 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The financial line reverses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−€195,000 penalty + €250,000 deposit interest. A €3,115,000 swing.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829" y="4754880"/>
            <a:ext cx="3576309" cy="1207008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829" y="4754880"/>
            <a:ext cx="50292" cy="1207008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1565" y="4855464"/>
            <a:ext cx="3283701" cy="104241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F7D6B"/>
                </a:solidFill>
                <a:latin typeface="Cambria"/>
              </a:rPr>
              <a:t>Zero debt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Balance sheet at 31 December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Against €26,000,000 of borrowings a year earlier.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7019" y="4754880"/>
            <a:ext cx="3576309" cy="1207008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7019" y="4754880"/>
            <a:ext cx="50292" cy="120700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0755" y="4855464"/>
            <a:ext cx="3283701" cy="104241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6202E"/>
                </a:solidFill>
                <a:latin typeface="Cambria"/>
              </a:rPr>
              <a:t>€680,600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cap="small" spc="80">
                <a:solidFill>
                  <a:srgbClr val="16202E"/>
                </a:solidFill>
                <a:latin typeface="Calibri"/>
              </a:rPr>
              <a:t>Bought as information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2"/>
                </a:solidFill>
                <a:latin typeface="Calibri"/>
              </a:rPr>
              <a:t>Against a market-A moisturiser gap worth roughly €12 M a year, this is not a cost.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2743200" cy="1463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3E557A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487168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mbria"/>
              </a:rPr>
              <a:t>Financial forecast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3611880"/>
            <a:ext cx="7680960" cy="0"/>
          </a:xfrm>
          <a:prstGeom prst="line">
            <a:avLst/>
          </a:prstGeom>
          <a:ln w="15875">
            <a:solidFill>
              <a:srgbClr val="3E5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31720" y="3712463"/>
            <a:ext cx="8778240" cy="9144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D9DF"/>
                </a:solidFill>
                <a:latin typeface="Calibri"/>
              </a:rPr>
              <a:t>Projected income statement  ·  The forecast band  ·  Alternatives rejected  ·  What we left on the table
Presented by the Finance Director and the Managing Director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6 · Financial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Projected income statement for Year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actuals from REP p.4–p.6. Year-2 central scenario from model/calibration.py, at H elasticity −0.9 and the decisions on slides 27 to 30. Retailer margins and cost of sales are the arithmetic difference of the lines above.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3611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/>
                <a:gridCol w="1508760"/>
                <a:gridCol w="1508760"/>
                <a:gridCol w="1051560"/>
                <a:gridCol w="4968209"/>
              </a:tblGrid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Income statement, €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 1 actual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 2 central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drives the change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Sales at retail price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189,365,764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205,879,597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+8.7%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 6,688,800 × €15.00; H 14,073,013 at €7.50 in A and B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Retailer margins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(25,661,301)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(26,781,733)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+4.4%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€1.90 per unit of S, €1.00 per unit of H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163,704,462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179,097,864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+9.4%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Cost of sales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(67,984,261)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(68,873,477)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S at €5.0853; H sold FIFO out of stock carried at €2.3252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95,720,201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110,224,387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+15.2%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Margin on net revenue 58.5% → 61.5%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General expenses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(24,837,009)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(26,204,859)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+5.5%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Depreciation €7,200,000, research €680,600, training closed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Operating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70,883,192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84,019,528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+18.5%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Operating margin 43.3% → 46.9%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Financial income / (expense)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(3,060,000)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55,000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+3,115,000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€250,000 of deposit interest less the €195,000 prepayment penalty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67,823,192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84,074,528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+24.0%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202E"/>
                          </a:solidFill>
                          <a:latin typeface="Calibri"/>
                        </a:rPr>
                        <a:t>Net margin 41.4% → 46.9%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084064"/>
            <a:ext cx="11094689" cy="877824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84064"/>
            <a:ext cx="50292" cy="877824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75503"/>
            <a:ext cx="10765505" cy="731519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What is deliberately not in this forecast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No credit is taken for any volume lift from the moisturiser promotion — it is carried at its full €662,279 cost and zero benefit, because we have never measured one. No market growth is assumed. No rival capacity change is assumed, and the largest unmodelled risk is Company 4 adding a third shift.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6 · Financial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The forecast is a band, not a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Finance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model/calibration.py. The three scenarios differ only in the moisturiser elasticity in market A: −1.6 conservative, −0.9 central and optimistic. S is capacity-capped at 6,688,800 units in all three.</a:t>
            </a:r>
          </a:p>
        </p:txBody>
      </p:sp>
      <p:pic>
        <p:nvPicPr>
          <p:cNvPr id="7" name="Picture 6" descr="c8_forecas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27632"/>
            <a:ext cx="6263640" cy="32141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371600"/>
            <a:ext cx="61264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Net income, Year 1 actual and the three Year-2 scenarios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67727" y="1645920"/>
          <a:ext cx="4675601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1097280"/>
                <a:gridCol w="1097280"/>
                <a:gridCol w="1155161"/>
              </a:tblGrid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Optimistic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elasticity in A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units sold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13,650,606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14,073,013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14,646,445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176,352,218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179,097,864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182,825,174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Operating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82,456,510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84,019,528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86,147,865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82,511,510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84,074,528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86,202,865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vs Year 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+21.7%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+24.0%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+27.1%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stock 31 Dec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7,322,493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6,900,086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6,326,654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67727" y="4023360"/>
            <a:ext cx="4675601" cy="21945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67727" y="4023360"/>
            <a:ext cx="4675601" cy="411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7" y="4169664"/>
            <a:ext cx="4309841" cy="19385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 cap="small" spc="110">
                <a:solidFill>
                  <a:srgbClr val="16202E"/>
                </a:solidFill>
                <a:latin typeface="Calibri"/>
              </a:rPr>
              <a:t>What has to go wrong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00" b="0" i="0">
                <a:solidFill>
                  <a:srgbClr val="16202E"/>
                </a:solidFill>
                <a:latin typeface="Calibri"/>
              </a:rPr>
              <a:t>Every scenario clears Year 1's €67,823,192. The worst demand case is +21.7%.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00" b="0" i="0">
                <a:solidFill>
                  <a:srgbClr val="16202E"/>
                </a:solidFill>
                <a:latin typeface="Calibri"/>
              </a:rPr>
              <a:t>S is unaffected in all three: output caps sales, so extra demand becomes unserved demand and carries into Year 3.</a:t>
            </a:r>
          </a:p>
          <a:p>
            <a:pPr algn="l" indent="-146050" marL="146050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Calibri"/>
              <a:buChar char="–"/>
            </a:pPr>
            <a:r>
              <a:rPr sz="1100" b="0" i="0">
                <a:solidFill>
                  <a:srgbClr val="16202E"/>
                </a:solidFill>
                <a:latin typeface="Calibri"/>
              </a:rPr>
              <a:t>A second, independent uncertainty: if prepaying on 2 January does NOT stop the year's interest, every figure drops €1,950,000 (question 2 for the board).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84064"/>
            <a:ext cx="6263640" cy="87782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84064"/>
            <a:ext cx="50292" cy="87782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75503"/>
            <a:ext cx="5934455" cy="731519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Across both uncertainties the full band is €80,561,510 to €86,202,865 — every corner still beats Year 1 by at least 18.8%. We headline the central €84,074,528 but commit publicly only to the €80,561,510 floor: over-promising is precisely what Year 1 got wrong.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6 · Financial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Alternatives we costed and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model/calibration.py, each line changing one variable against the central case of €84,074,528; scenario §26 (Poka Yoke price per line), §18 (promotion types), §48. Capital expenditure is treated as cash on 2 January.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89888"/>
          <a:ext cx="11094689" cy="41742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94760"/>
                <a:gridCol w="3063240"/>
                <a:gridCol w="4236689"/>
              </a:tblGrid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Alternative considered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would do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we rejected it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Build no SMED — run the Year-1 plant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 stays at 5,850,000 units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Repeats the Year-1 stockout and forfeits €9,160,000 of contribution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Buy a third SMED module for €3,000,000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Utilisation is already 92.9% with two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The residual headroom cannot repay €3 M inside the four-year rule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Deploy Poka Yoke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€720,000 per line × 32 = €23,040,000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Almost four times the SMED spend for a fraction of the output gain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Run 4 H lines instead of 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+3,344,400 units of H stock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Ties up more cash in a product of which we already hold 17.6 M units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Price S at €15.50 or €16.00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Both are at or below the clearing price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We did not take this, and it is the first item on slide 35 — a known miss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Price H in market B at €8.75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+€5.47 M at −0.9, +€0.64 M at −1.6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Also not taken. Second item on slide 35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Run the promotion in market A only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Cost €64,000 instead of €662,279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Same information, €598,279 cheaper. Fourth item on slide 35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Keep the loan instead of prepaying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−€1,755,000 in Year 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Pays 10% on money we would simultaneously deposit at 2.5%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Keep the €10 M credit line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−€200,000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Insurance against a trough the Year-2 cash plan shows cannot occur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Enter market E in Year 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98,165 units were sold there by everyone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6202E"/>
                          </a:solidFill>
                          <a:latin typeface="Calibri"/>
                        </a:rPr>
                        <a:t>S is supply-capped and 17.6 M units of H must clear at home first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Section 6 · Financial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What we know we left on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model/calibration.py, clearing-price and elasticity analysis in 08-YEAR-2-DECISION-REVIEW.md; scenario §34 (stockout brand damage) and §18. Test-round measurement for the logistic emergency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1094689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02E"/>
                </a:solidFill>
                <a:latin typeface="Cambria"/>
              </a:rPr>
              <a:t>Year 2 is already submitted. These five are stated as known, quantified positions with a Year-3 correction — not as regrets.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55648"/>
          <a:ext cx="11094689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3246120"/>
                <a:gridCol w="1508760"/>
                <a:gridCol w="5955761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The weakness, stated plainly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costs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The Year-3 correction</a:t>
                      </a:r>
                    </a:p>
                  </a:txBody>
                  <a:tcPr marL="64008" marR="64008" marT="32004" marB="32004" anchor="ctr">
                    <a:lnB w="12700" cap="flat" cmpd="sng" algn="ctr">
                      <a:solidFill>
                        <a:srgbClr val="16202E"/>
                      </a:solidFill>
                    </a:lnB>
                    <a:solidFill>
                      <a:srgbClr val="1620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S at €15.00 is below the clearing price at every defensible elasticity. The clearing price is €15.32 at −2.5 and €16.27 at −1.2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€2.15 M – €8.46 M
central €5.99 M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Price S at or above the clearing price computed from the Year-2 demand line. ~608,000 units go unserved a second year, and §34 says that damage outlives the year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H in market B held at €7.50, when €8.75 beats it at BOTH ends of the elasticity range and the nearest rival sells at €10.00–11.00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€5.47 M at −0.9
€0.64 M at −1.6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Move B to €8.75–9.50. It is the best-measured price point in the game: 55.1% share at €7.75 and 55.8% at €7.50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Both products are now priced identically in A and B, which gives up the within-year cross-market elasticity read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a year of measurement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Always run two different prices for one product in one year. It costs nothing to type and it is the only clean way to recover an elasticity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The promotion runs in both markets rather than one, so there is no untouched control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€598,279 more than
the answer required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One market, one channel, never a whole product line. Market A alone would have cost €64,000 and kept B as a clean control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EDEF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The last-mile fleet is cut 20.7% per unit with no measured headroom on where the stockout flag sits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risk, not cost:
~2× if it flags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202E"/>
                          </a:solidFill>
                          <a:latin typeface="Calibri"/>
                        </a:rPr>
                        <a:t>Restore the fleet the moment Year 2 shows a logistic stockout flag. The test round saw a €1,527,519 premium on one market</a:t>
                      </a:r>
                    </a:p>
                  </a:txBody>
                  <a:tcPr marL="64008" marR="64008" marT="32004" marB="32004" anchor="ctr">
                    <a:lnB w="9525" cap="flat" cmpd="sng" algn="ctr">
                      <a:solidFill>
                        <a:srgbClr val="D5D9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157216"/>
            <a:ext cx="11094689" cy="859536"/>
          </a:xfrm>
          <a:prstGeom prst="rect">
            <a:avLst/>
          </a:prstGeom>
          <a:solidFill>
            <a:srgbClr val="F3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57216"/>
            <a:ext cx="50292" cy="859536"/>
          </a:xfrm>
          <a:prstGeom prst="rect">
            <a:avLst/>
          </a:prstGeom>
          <a:solidFill>
            <a:srgbClr val="C89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48655"/>
            <a:ext cx="10765505" cy="713231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cap="small" spc="110">
                <a:solidFill>
                  <a:srgbClr val="C8952F"/>
                </a:solidFill>
                <a:latin typeface="Calibri"/>
              </a:rPr>
              <a:t>The honest total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E"/>
                </a:solidFill>
                <a:latin typeface="Calibri"/>
              </a:rPr>
              <a:t>Roughly €11.8 M left on the table against roughly €12.1 M of value created. Every item is a price field that cost nothing to type — which is exactly why we are showing them to the board rather than waiting for the result sheet 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768096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cap="small" spc="140">
                <a:solidFill>
                  <a:srgbClr val="5C6672"/>
                </a:solidFill>
                <a:latin typeface="Calibri"/>
              </a:rPr>
              <a:t>Where we need 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503920" cy="6217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202E"/>
                </a:solidFill>
                <a:latin typeface="Cambria"/>
              </a:rPr>
              <a:t>Questions for the board, and our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7209" y="347472"/>
            <a:ext cx="3246120" cy="56692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02E"/>
                </a:solidFill>
                <a:latin typeface="Calibri"/>
              </a:rPr>
              <a:t>Managing Director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43584"/>
            <a:ext cx="11094689" cy="0"/>
          </a:xfrm>
          <a:prstGeom prst="line">
            <a:avLst/>
          </a:prstGeom>
          <a:ln w="12700">
            <a:solidFill>
              <a:srgbClr val="D5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27648"/>
            <a:ext cx="11094689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672"/>
                </a:solidFill>
                <a:latin typeface="Calibri"/>
              </a:rPr>
              <a:t>Sources: Year-1 REP p.2-p.6; INV surveys 1, 2, 3, 20; INF p.2; scenario §34, §41, §42. Full briefing behind each question in 10-QUESTIONS-FOR-THE-CEO.md.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649224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Five questions we cannot answer from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00784"/>
            <a:ext cx="649224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00784"/>
            <a:ext cx="41148" cy="78638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46504"/>
            <a:ext cx="310896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7D6B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55648"/>
            <a:ext cx="577900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What determines the shelf space a brand actually gets in a channel? Thirty-five hypermarkets in A took 63,960 units of our moisturiser; thirty in B took 2,057,439.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672"/>
                </a:solidFill>
                <a:latin typeface="Calibri"/>
              </a:rPr>
              <a:t>~€12,000,000 a year  ·  asked by the Marketing Director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6492240" cy="78638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41148" cy="78638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9464"/>
            <a:ext cx="310896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7D6B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578608"/>
            <a:ext cx="577900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Does a prepayment on 2 January stop that year's interest, or is it charged on the 1 January opening balance regardless?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672"/>
                </a:solidFill>
                <a:latin typeface="Calibri"/>
              </a:rPr>
              <a:t>€1,950,000  ·  asked by the Finance Director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46704"/>
            <a:ext cx="649224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41148" cy="78638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92424"/>
            <a:ext cx="310896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7D6B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01568"/>
            <a:ext cx="577900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What does it take to open market E? The whole industry sold 98,165 units into 110,100,000 of potential, and we hold 20 idle moisturiser lines.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672"/>
                </a:solidFill>
                <a:latin typeface="Calibri"/>
              </a:rPr>
              <a:t>20 paid-for lines  ·  asked by the Managing Director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9664"/>
            <a:ext cx="6492240" cy="78638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69664"/>
            <a:ext cx="41148" cy="78638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15384"/>
            <a:ext cx="310896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7D6B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224528"/>
            <a:ext cx="577900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How large is the §34 stockout penalty, and how many years does it run? We left 1,827,440 units of sunscreen demand unserved.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672"/>
                </a:solidFill>
                <a:latin typeface="Calibri"/>
              </a:rPr>
              <a:t>€2,150,000 to €8,460,000  ·  asked by the Operations Director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92624"/>
            <a:ext cx="649224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992624"/>
            <a:ext cx="41148" cy="786384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38344"/>
            <a:ext cx="310896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7D6B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047488"/>
            <a:ext cx="577900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6202E"/>
                </a:solidFill>
                <a:latin typeface="Calibri"/>
              </a:rPr>
              <a:t>Does the retailer margin buy us anything, or is it purely a deduction? We paid €25,661,301 of it in Year 1.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672"/>
                </a:solidFill>
                <a:latin typeface="Calibri"/>
              </a:rPr>
              <a:t>€25,661,301 paid in Year 1  ·  asked by the Marketing Director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1353312"/>
            <a:ext cx="4346417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cap="small" spc="110">
                <a:solidFill>
                  <a:srgbClr val="5C6672"/>
                </a:solidFill>
                <a:latin typeface="Calibri"/>
              </a:rPr>
              <a:t>What we commit to for Year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6912" y="1700784"/>
            <a:ext cx="4346417" cy="78638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1700784"/>
            <a:ext cx="41148" cy="78638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1746504"/>
            <a:ext cx="398065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F7D6B"/>
                </a:solidFill>
                <a:latin typeface="Cambria"/>
              </a:rPr>
              <a:t>€80.6 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02E"/>
                </a:solidFill>
                <a:latin typeface="Calibri"/>
              </a:rPr>
              <a:t>of net income at the worst corner of the band — up 18.8% on Year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6912" y="2523744"/>
            <a:ext cx="4346417" cy="78638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6912" y="2523744"/>
            <a:ext cx="41148" cy="78638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2569464"/>
            <a:ext cx="398065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F7D6B"/>
                </a:solidFill>
                <a:latin typeface="Cambria"/>
              </a:rPr>
              <a:t>6,688,800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02E"/>
                </a:solidFill>
                <a:latin typeface="Calibri"/>
              </a:rPr>
              <a:t>units of S, sold out, every line running with SMED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96912" y="3346704"/>
            <a:ext cx="4346417" cy="78638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96912" y="3346704"/>
            <a:ext cx="41148" cy="78638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3392424"/>
            <a:ext cx="398065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F7D6B"/>
                </a:solidFill>
                <a:latin typeface="Cambria"/>
              </a:rPr>
              <a:t>6,900,086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02E"/>
                </a:solidFill>
                <a:latin typeface="Calibri"/>
              </a:rPr>
              <a:t>units of H stock left, down 60.9% from 17,628,699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6912" y="4169664"/>
            <a:ext cx="4346417" cy="78638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96912" y="4169664"/>
            <a:ext cx="41148" cy="78638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4215384"/>
            <a:ext cx="398065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F7D6B"/>
                </a:solidFill>
                <a:latin typeface="Cambria"/>
              </a:rPr>
              <a:t>Zero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02E"/>
                </a:solidFill>
                <a:latin typeface="Calibri"/>
              </a:rPr>
              <a:t>debt on the balance sheet at 31 December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6912" y="4992624"/>
            <a:ext cx="4346417" cy="786384"/>
          </a:xfrm>
          <a:prstGeom prst="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96912" y="4992624"/>
            <a:ext cx="41148" cy="786384"/>
          </a:xfrm>
          <a:prstGeom prst="rect">
            <a:avLst/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5038344"/>
            <a:ext cx="3980657" cy="6949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F7D6B"/>
                </a:solidFill>
                <a:latin typeface="Cambria"/>
              </a:rPr>
              <a:t>No. 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02E"/>
                </a:solidFill>
                <a:latin typeface="Calibri"/>
              </a:rPr>
              <a:t>held on net income and on accumulated profit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5833872"/>
            <a:ext cx="4346417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E"/>
                </a:solidFill>
                <a:latin typeface="Cambria"/>
              </a:rPr>
              <a:t>Thank you — we are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