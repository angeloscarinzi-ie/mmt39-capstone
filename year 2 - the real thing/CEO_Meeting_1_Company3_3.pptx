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8"/>
  </p:normalViewPr>
  <p:slideViewPr>
    <p:cSldViewPr snapToGrid="0" snapToObjects="1">
      <p:cViewPr varScale="1">
        <p:scale>
          <a:sx n="99" d="100"/>
          <a:sy n="99" d="100"/>
        </p:scale>
        <p:origin x="9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Product S (sun protection)</c:v>
                </c:pt>
              </c:strCache>
            </c:strRef>
          </c:tx>
          <c:spPr>
            <a:solidFill>
              <a:srgbClr val="13233F"/>
            </a:solidFill>
            <a:effectLst/>
          </c:spPr>
          <c:invertIfNegative val="0"/>
          <c:dLbls>
            <c:numFmt formatCode="#,##0,,\M"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Market A</c:v>
                </c:pt>
                <c:pt idx="1">
                  <c:v>Market B</c:v>
                </c:pt>
                <c:pt idx="2">
                  <c:v>Market E</c:v>
                </c:pt>
              </c:strCache>
            </c:strRef>
          </c:cat>
          <c:val>
            <c:numRef>
              <c:f>Sheet1!$B$2:$B$4</c:f>
              <c:numCache>
                <c:formatCode>General</c:formatCode>
                <c:ptCount val="3"/>
                <c:pt idx="0">
                  <c:v>10935676</c:v>
                </c:pt>
                <c:pt idx="1">
                  <c:v>2290527</c:v>
                </c:pt>
                <c:pt idx="2">
                  <c:v>38597</c:v>
                </c:pt>
              </c:numCache>
            </c:numRef>
          </c:val>
          <c:extLst>
            <c:ext xmlns:c16="http://schemas.microsoft.com/office/drawing/2014/chart" uri="{C3380CC4-5D6E-409C-BE32-E72D297353CC}">
              <c16:uniqueId val="{00000000-3379-8E41-A995-A51755A867F7}"/>
            </c:ext>
          </c:extLst>
        </c:ser>
        <c:ser>
          <c:idx val="1"/>
          <c:order val="1"/>
          <c:tx>
            <c:strRef>
              <c:f>Sheet1!$C$1</c:f>
              <c:strCache>
                <c:ptCount val="1"/>
                <c:pt idx="0">
                  <c:v>Product H</c:v>
                </c:pt>
              </c:strCache>
            </c:strRef>
          </c:tx>
          <c:spPr>
            <a:solidFill>
              <a:srgbClr val="C8952F"/>
            </a:solidFill>
            <a:effectLst/>
          </c:spPr>
          <c:invertIfNegative val="0"/>
          <c:dLbls>
            <c:numFmt formatCode="#,##0,,\M"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Market A</c:v>
                </c:pt>
                <c:pt idx="1">
                  <c:v>Market B</c:v>
                </c:pt>
                <c:pt idx="2">
                  <c:v>Market E</c:v>
                </c:pt>
              </c:strCache>
            </c:strRef>
          </c:cat>
          <c:val>
            <c:numRef>
              <c:f>Sheet1!$C$2:$C$4</c:f>
              <c:numCache>
                <c:formatCode>General</c:formatCode>
                <c:ptCount val="3"/>
                <c:pt idx="0">
                  <c:v>20162811</c:v>
                </c:pt>
                <c:pt idx="1">
                  <c:v>17892931</c:v>
                </c:pt>
                <c:pt idx="2">
                  <c:v>59568</c:v>
                </c:pt>
              </c:numCache>
            </c:numRef>
          </c:val>
          <c:extLst>
            <c:ext xmlns:c16="http://schemas.microsoft.com/office/drawing/2014/chart" uri="{C3380CC4-5D6E-409C-BE32-E72D297353CC}">
              <c16:uniqueId val="{00000001-3379-8E41-A995-A51755A867F7}"/>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5D9DF"/>
              </a:solidFill>
              <a:prstDash val="solid"/>
              <a:round/>
            </a:ln>
          </c:spPr>
        </c:majorGridlines>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Net income</c:v>
                </c:pt>
              </c:strCache>
            </c:strRef>
          </c:tx>
          <c:spPr>
            <a:solidFill>
              <a:srgbClr val="5C6672"/>
            </a:solidFill>
            <a:effectLst/>
          </c:spPr>
          <c:invertIfNegative val="0"/>
          <c:dPt>
            <c:idx val="0"/>
            <c:invertIfNegative val="0"/>
            <c:bubble3D val="0"/>
            <c:spPr>
              <a:solidFill>
                <a:srgbClr val="B04A38"/>
              </a:solidFill>
              <a:effectLst/>
            </c:spPr>
            <c:extLst>
              <c:ext xmlns:c16="http://schemas.microsoft.com/office/drawing/2014/chart" uri="{C3380CC4-5D6E-409C-BE32-E72D297353CC}">
                <c16:uniqueId val="{00000001-5BC6-DD4B-BD3F-A157660276B2}"/>
              </c:ext>
            </c:extLst>
          </c:dPt>
          <c:dPt>
            <c:idx val="1"/>
            <c:invertIfNegative val="0"/>
            <c:bubble3D val="0"/>
            <c:extLst>
              <c:ext xmlns:c16="http://schemas.microsoft.com/office/drawing/2014/chart" uri="{C3380CC4-5D6E-409C-BE32-E72D297353CC}">
                <c16:uniqueId val="{00000003-5BC6-DD4B-BD3F-A157660276B2}"/>
              </c:ext>
            </c:extLst>
          </c:dPt>
          <c:dPt>
            <c:idx val="2"/>
            <c:invertIfNegative val="0"/>
            <c:bubble3D val="0"/>
            <c:spPr>
              <a:solidFill>
                <a:srgbClr val="C8952F"/>
              </a:solidFill>
              <a:effectLst/>
            </c:spPr>
            <c:extLst>
              <c:ext xmlns:c16="http://schemas.microsoft.com/office/drawing/2014/chart" uri="{C3380CC4-5D6E-409C-BE32-E72D297353CC}">
                <c16:uniqueId val="{00000005-5BC6-DD4B-BD3F-A157660276B2}"/>
              </c:ext>
            </c:extLst>
          </c:dPt>
          <c:dPt>
            <c:idx val="3"/>
            <c:invertIfNegative val="0"/>
            <c:bubble3D val="0"/>
            <c:extLst>
              <c:ext xmlns:c16="http://schemas.microsoft.com/office/drawing/2014/chart" uri="{C3380CC4-5D6E-409C-BE32-E72D297353CC}">
                <c16:uniqueId val="{00000007-5BC6-DD4B-BD3F-A157660276B2}"/>
              </c:ext>
            </c:extLst>
          </c:dPt>
          <c:dPt>
            <c:idx val="4"/>
            <c:invertIfNegative val="0"/>
            <c:bubble3D val="0"/>
            <c:spPr>
              <a:solidFill>
                <a:srgbClr val="B04A38"/>
              </a:solidFill>
              <a:effectLst/>
            </c:spPr>
            <c:extLst>
              <c:ext xmlns:c16="http://schemas.microsoft.com/office/drawing/2014/chart" uri="{C3380CC4-5D6E-409C-BE32-E72D297353CC}">
                <c16:uniqueId val="{00000009-5BC6-DD4B-BD3F-A157660276B2}"/>
              </c:ext>
            </c:extLst>
          </c:dPt>
          <c:dLbls>
            <c:numFmt formatCode="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Co1</c:v>
                </c:pt>
                <c:pt idx="1">
                  <c:v>Co2</c:v>
                </c:pt>
                <c:pt idx="2">
                  <c:v>Co3 (us)</c:v>
                </c:pt>
                <c:pt idx="3">
                  <c:v>Co4</c:v>
                </c:pt>
                <c:pt idx="4">
                  <c:v>Co5</c:v>
                </c:pt>
              </c:strCache>
            </c:strRef>
          </c:cat>
          <c:val>
            <c:numRef>
              <c:f>Sheet1!$B$2:$B$6</c:f>
              <c:numCache>
                <c:formatCode>General</c:formatCode>
                <c:ptCount val="5"/>
                <c:pt idx="0">
                  <c:v>-10.89</c:v>
                </c:pt>
                <c:pt idx="1">
                  <c:v>59.54</c:v>
                </c:pt>
                <c:pt idx="2">
                  <c:v>67.819999999999993</c:v>
                </c:pt>
                <c:pt idx="3">
                  <c:v>5.93</c:v>
                </c:pt>
                <c:pt idx="4">
                  <c:v>-3.16</c:v>
                </c:pt>
              </c:numCache>
            </c:numRef>
          </c:val>
          <c:extLst>
            <c:ext xmlns:c16="http://schemas.microsoft.com/office/drawing/2014/chart" uri="{C3380CC4-5D6E-409C-BE32-E72D297353CC}">
              <c16:uniqueId val="{0000000A-5BC6-DD4B-BD3F-A157660276B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5D9DF"/>
              </a:solidFill>
              <a:prstDash val="solid"/>
              <a:round/>
            </a:ln>
          </c:spPr>
        </c:majorGridlines>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stacked"/>
        <c:varyColors val="0"/>
        <c:ser>
          <c:idx val="0"/>
          <c:order val="0"/>
          <c:tx>
            <c:strRef>
              <c:f>Sheet1!$B$1</c:f>
              <c:strCache>
                <c:ptCount val="1"/>
                <c:pt idx="0">
                  <c:v>Market A</c:v>
                </c:pt>
              </c:strCache>
            </c:strRef>
          </c:tx>
          <c:spPr>
            <a:solidFill>
              <a:srgbClr val="13233F"/>
            </a:solidFill>
            <a:effectLst/>
          </c:spPr>
          <c:invertIfNegative val="0"/>
          <c:dLbls>
            <c:numFmt formatCode="0.0" sourceLinked="0"/>
            <c:spPr>
              <a:noFill/>
              <a:ln>
                <a:noFill/>
              </a:ln>
              <a:effectLst/>
            </c:spPr>
            <c:txPr>
              <a:bodyPr/>
              <a:lstStyle/>
              <a:p>
                <a:pPr>
                  <a:defRPr sz="1000" b="0" i="0" u="none" strike="noStrike">
                    <a:solidFill>
                      <a:srgbClr val="FFFFFF"/>
                    </a:solidFill>
                    <a:latin typeface="Calibri"/>
                  </a:defRPr>
                </a:pPr>
                <a:endParaRPr lang="en-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Product S</c:v>
                </c:pt>
                <c:pt idx="1">
                  <c:v>Product H</c:v>
                </c:pt>
              </c:strCache>
            </c:strRef>
          </c:cat>
          <c:val>
            <c:numRef>
              <c:f>Sheet1!$B$2:$B$3</c:f>
              <c:numCache>
                <c:formatCode>General</c:formatCode>
                <c:ptCount val="2"/>
                <c:pt idx="0">
                  <c:v>83.51</c:v>
                </c:pt>
                <c:pt idx="1">
                  <c:v>29.62</c:v>
                </c:pt>
              </c:numCache>
            </c:numRef>
          </c:val>
          <c:extLst>
            <c:ext xmlns:c16="http://schemas.microsoft.com/office/drawing/2014/chart" uri="{C3380CC4-5D6E-409C-BE32-E72D297353CC}">
              <c16:uniqueId val="{00000000-2190-3847-AA11-0FFA7F9D13BA}"/>
            </c:ext>
          </c:extLst>
        </c:ser>
        <c:ser>
          <c:idx val="1"/>
          <c:order val="1"/>
          <c:tx>
            <c:strRef>
              <c:f>Sheet1!$C$1</c:f>
              <c:strCache>
                <c:ptCount val="1"/>
                <c:pt idx="0">
                  <c:v>Market B</c:v>
                </c:pt>
              </c:strCache>
            </c:strRef>
          </c:tx>
          <c:spPr>
            <a:solidFill>
              <a:srgbClr val="C8952F"/>
            </a:solidFill>
            <a:effectLst/>
          </c:spPr>
          <c:invertIfNegative val="0"/>
          <c:dLbls>
            <c:numFmt formatCode="0.0" sourceLinked="0"/>
            <c:spPr>
              <a:noFill/>
              <a:ln>
                <a:noFill/>
              </a:ln>
              <a:effectLst/>
            </c:spPr>
            <c:txPr>
              <a:bodyPr/>
              <a:lstStyle/>
              <a:p>
                <a:pPr>
                  <a:defRPr sz="1000" b="0" i="0" u="none" strike="noStrike">
                    <a:solidFill>
                      <a:srgbClr val="FFFFFF"/>
                    </a:solidFill>
                    <a:latin typeface="Calibri"/>
                  </a:defRPr>
                </a:pPr>
                <a:endParaRPr lang="en-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Product S</c:v>
                </c:pt>
                <c:pt idx="1">
                  <c:v>Product H</c:v>
                </c:pt>
              </c:strCache>
            </c:strRef>
          </c:cat>
          <c:val>
            <c:numRef>
              <c:f>Sheet1!$C$2:$C$3</c:f>
              <c:numCache>
                <c:formatCode>General</c:formatCode>
                <c:ptCount val="2"/>
                <c:pt idx="0">
                  <c:v>1.31</c:v>
                </c:pt>
                <c:pt idx="1">
                  <c:v>74.92</c:v>
                </c:pt>
              </c:numCache>
            </c:numRef>
          </c:val>
          <c:extLst>
            <c:ext xmlns:c16="http://schemas.microsoft.com/office/drawing/2014/chart" uri="{C3380CC4-5D6E-409C-BE32-E72D297353CC}">
              <c16:uniqueId val="{00000001-2190-3847-AA11-0FFA7F9D13BA}"/>
            </c:ext>
          </c:extLst>
        </c:ser>
        <c:dLbls>
          <c:dLblPos val="ctr"/>
          <c:showLegendKey val="0"/>
          <c:showVal val="1"/>
          <c:showCatName val="0"/>
          <c:showSerName val="0"/>
          <c:showPercent val="0"/>
          <c:showBubbleSize val="0"/>
        </c:dLbls>
        <c:gapWidth val="9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5D9DF"/>
              </a:solidFill>
              <a:prstDash val="solid"/>
              <a:round/>
            </a:ln>
          </c:spPr>
        </c:majorGridlines>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Product S</c:v>
                </c:pt>
              </c:strCache>
            </c:strRef>
          </c:tx>
          <c:spPr>
            <a:solidFill>
              <a:srgbClr val="13233F"/>
            </a:solidFill>
            <a:effectLst/>
          </c:spPr>
          <c:invertIfNegative val="0"/>
          <c:dLbls>
            <c:numFmt formatCode="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 · retail (G)</c:v>
                </c:pt>
                <c:pt idx="1">
                  <c:v>A · supermarket (S)</c:v>
                </c:pt>
                <c:pt idx="2">
                  <c:v>A · wholesale (T)</c:v>
                </c:pt>
                <c:pt idx="3">
                  <c:v>B · retail (G)</c:v>
                </c:pt>
                <c:pt idx="4">
                  <c:v>B · supermarket (S)</c:v>
                </c:pt>
                <c:pt idx="5">
                  <c:v>B · wholesale (T)</c:v>
                </c:pt>
              </c:strCache>
            </c:strRef>
          </c:cat>
          <c:val>
            <c:numRef>
              <c:f>Sheet1!$B$2:$B$7</c:f>
              <c:numCache>
                <c:formatCode>General</c:formatCode>
                <c:ptCount val="6"/>
                <c:pt idx="0">
                  <c:v>2.59</c:v>
                </c:pt>
                <c:pt idx="1">
                  <c:v>2.46</c:v>
                </c:pt>
                <c:pt idx="2">
                  <c:v>0.71</c:v>
                </c:pt>
                <c:pt idx="3">
                  <c:v>0.02</c:v>
                </c:pt>
                <c:pt idx="4">
                  <c:v>0.05</c:v>
                </c:pt>
                <c:pt idx="5">
                  <c:v>0.02</c:v>
                </c:pt>
              </c:numCache>
            </c:numRef>
          </c:val>
          <c:extLst>
            <c:ext xmlns:c16="http://schemas.microsoft.com/office/drawing/2014/chart" uri="{C3380CC4-5D6E-409C-BE32-E72D297353CC}">
              <c16:uniqueId val="{00000000-A583-1F4B-9DF6-2A5820ADD2E6}"/>
            </c:ext>
          </c:extLst>
        </c:ser>
        <c:ser>
          <c:idx val="1"/>
          <c:order val="1"/>
          <c:tx>
            <c:strRef>
              <c:f>Sheet1!$C$1</c:f>
              <c:strCache>
                <c:ptCount val="1"/>
                <c:pt idx="0">
                  <c:v>Product H</c:v>
                </c:pt>
              </c:strCache>
            </c:strRef>
          </c:tx>
          <c:spPr>
            <a:solidFill>
              <a:srgbClr val="C8952F"/>
            </a:solidFill>
            <a:effectLst/>
          </c:spPr>
          <c:invertIfNegative val="0"/>
          <c:dLbls>
            <c:numFmt formatCode="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 · retail (G)</c:v>
                </c:pt>
                <c:pt idx="1">
                  <c:v>A · supermarket (S)</c:v>
                </c:pt>
                <c:pt idx="2">
                  <c:v>A · wholesale (T)</c:v>
                </c:pt>
                <c:pt idx="3">
                  <c:v>B · retail (G)</c:v>
                </c:pt>
                <c:pt idx="4">
                  <c:v>B · supermarket (S)</c:v>
                </c:pt>
                <c:pt idx="5">
                  <c:v>B · wholesale (T)</c:v>
                </c:pt>
              </c:strCache>
            </c:strRef>
          </c:cat>
          <c:val>
            <c:numRef>
              <c:f>Sheet1!$C$2:$C$7</c:f>
              <c:numCache>
                <c:formatCode>General</c:formatCode>
                <c:ptCount val="6"/>
                <c:pt idx="0">
                  <c:v>0.06</c:v>
                </c:pt>
                <c:pt idx="1">
                  <c:v>1.53</c:v>
                </c:pt>
                <c:pt idx="2">
                  <c:v>2.96</c:v>
                </c:pt>
                <c:pt idx="3">
                  <c:v>2.06</c:v>
                </c:pt>
                <c:pt idx="4">
                  <c:v>5.86</c:v>
                </c:pt>
                <c:pt idx="5">
                  <c:v>2.08</c:v>
                </c:pt>
              </c:numCache>
            </c:numRef>
          </c:val>
          <c:extLst>
            <c:ext xmlns:c16="http://schemas.microsoft.com/office/drawing/2014/chart" uri="{C3380CC4-5D6E-409C-BE32-E72D297353CC}">
              <c16:uniqueId val="{00000001-A583-1F4B-9DF6-2A5820ADD2E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D5D9DF"/>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Produced</c:v>
                </c:pt>
              </c:strCache>
            </c:strRef>
          </c:tx>
          <c:spPr>
            <a:solidFill>
              <a:srgbClr val="13233F"/>
            </a:solidFill>
            <a:effectLst/>
          </c:spPr>
          <c:invertIfNegative val="0"/>
          <c:dLbls>
            <c:numFmt formatCode="0.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Product S</c:v>
                </c:pt>
                <c:pt idx="1">
                  <c:v>Product H</c:v>
                </c:pt>
              </c:strCache>
            </c:strRef>
          </c:cat>
          <c:val>
            <c:numRef>
              <c:f>Sheet1!$B$2:$B$3</c:f>
              <c:numCache>
                <c:formatCode>General</c:formatCode>
                <c:ptCount val="2"/>
                <c:pt idx="0">
                  <c:v>5.85</c:v>
                </c:pt>
                <c:pt idx="1">
                  <c:v>32.18</c:v>
                </c:pt>
              </c:numCache>
            </c:numRef>
          </c:val>
          <c:extLst>
            <c:ext xmlns:c16="http://schemas.microsoft.com/office/drawing/2014/chart" uri="{C3380CC4-5D6E-409C-BE32-E72D297353CC}">
              <c16:uniqueId val="{00000000-1E3B-E549-88B5-1DF2D5FA461A}"/>
            </c:ext>
          </c:extLst>
        </c:ser>
        <c:ser>
          <c:idx val="1"/>
          <c:order val="1"/>
          <c:tx>
            <c:strRef>
              <c:f>Sheet1!$C$1</c:f>
              <c:strCache>
                <c:ptCount val="1"/>
                <c:pt idx="0">
                  <c:v>Sold</c:v>
                </c:pt>
              </c:strCache>
            </c:strRef>
          </c:tx>
          <c:spPr>
            <a:solidFill>
              <a:srgbClr val="C8952F"/>
            </a:solidFill>
            <a:effectLst/>
          </c:spPr>
          <c:invertIfNegative val="0"/>
          <c:dLbls>
            <c:numFmt formatCode="0.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Product S</c:v>
                </c:pt>
                <c:pt idx="1">
                  <c:v>Product H</c:v>
                </c:pt>
              </c:strCache>
            </c:strRef>
          </c:cat>
          <c:val>
            <c:numRef>
              <c:f>Sheet1!$C$2:$C$3</c:f>
              <c:numCache>
                <c:formatCode>General</c:formatCode>
                <c:ptCount val="2"/>
                <c:pt idx="0">
                  <c:v>5.85</c:v>
                </c:pt>
                <c:pt idx="1">
                  <c:v>14.55</c:v>
                </c:pt>
              </c:numCache>
            </c:numRef>
          </c:val>
          <c:extLst>
            <c:ext xmlns:c16="http://schemas.microsoft.com/office/drawing/2014/chart" uri="{C3380CC4-5D6E-409C-BE32-E72D297353CC}">
              <c16:uniqueId val="{00000001-1E3B-E549-88B5-1DF2D5FA461A}"/>
            </c:ext>
          </c:extLst>
        </c:ser>
        <c:ser>
          <c:idx val="2"/>
          <c:order val="2"/>
          <c:tx>
            <c:strRef>
              <c:f>Sheet1!$D$1</c:f>
              <c:strCache>
                <c:ptCount val="1"/>
                <c:pt idx="0">
                  <c:v>Demanded</c:v>
                </c:pt>
              </c:strCache>
            </c:strRef>
          </c:tx>
          <c:spPr>
            <a:solidFill>
              <a:srgbClr val="2F7D6B"/>
            </a:solidFill>
            <a:effectLst/>
          </c:spPr>
          <c:invertIfNegative val="0"/>
          <c:dLbls>
            <c:numFmt formatCode="0.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Product S</c:v>
                </c:pt>
                <c:pt idx="1">
                  <c:v>Product H</c:v>
                </c:pt>
              </c:strCache>
            </c:strRef>
          </c:cat>
          <c:val>
            <c:numRef>
              <c:f>Sheet1!$D$2:$D$3</c:f>
              <c:numCache>
                <c:formatCode>General</c:formatCode>
                <c:ptCount val="2"/>
                <c:pt idx="0">
                  <c:v>7.68</c:v>
                </c:pt>
                <c:pt idx="1">
                  <c:v>15.05</c:v>
                </c:pt>
              </c:numCache>
            </c:numRef>
          </c:val>
          <c:extLst>
            <c:ext xmlns:c16="http://schemas.microsoft.com/office/drawing/2014/chart" uri="{C3380CC4-5D6E-409C-BE32-E72D297353CC}">
              <c16:uniqueId val="{00000002-1E3B-E549-88B5-1DF2D5FA461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5D9DF"/>
              </a:solidFill>
              <a:prstDash val="solid"/>
              <a:round/>
            </a:ln>
          </c:spPr>
        </c:majorGridlines>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Company 3</c:v>
                </c:pt>
              </c:strCache>
            </c:strRef>
          </c:tx>
          <c:spPr>
            <a:solidFill>
              <a:srgbClr val="13233F"/>
            </a:solidFill>
            <a:effectLst/>
          </c:spPr>
          <c:invertIfNegative val="0"/>
          <c:dLbls>
            <c:numFmt formatCode="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Profit margin %</c:v>
                </c:pt>
                <c:pt idx="1">
                  <c:v>ROE %</c:v>
                </c:pt>
                <c:pt idx="2">
                  <c:v>ROA %</c:v>
                </c:pt>
                <c:pt idx="3">
                  <c:v>ROI %</c:v>
                </c:pt>
                <c:pt idx="4">
                  <c:v>Debt ratio %</c:v>
                </c:pt>
              </c:strCache>
            </c:strRef>
          </c:cat>
          <c:val>
            <c:numRef>
              <c:f>Sheet1!$B$2:$B$6</c:f>
              <c:numCache>
                <c:formatCode>General</c:formatCode>
                <c:ptCount val="5"/>
                <c:pt idx="0">
                  <c:v>41.43</c:v>
                </c:pt>
                <c:pt idx="1">
                  <c:v>50.68</c:v>
                </c:pt>
                <c:pt idx="2">
                  <c:v>38.71</c:v>
                </c:pt>
                <c:pt idx="3">
                  <c:v>102.76</c:v>
                </c:pt>
                <c:pt idx="4">
                  <c:v>23.62</c:v>
                </c:pt>
              </c:numCache>
            </c:numRef>
          </c:val>
          <c:extLst>
            <c:ext xmlns:c16="http://schemas.microsoft.com/office/drawing/2014/chart" uri="{C3380CC4-5D6E-409C-BE32-E72D297353CC}">
              <c16:uniqueId val="{00000000-963C-A94F-8E61-F5D1A6008432}"/>
            </c:ext>
          </c:extLst>
        </c:ser>
        <c:ser>
          <c:idx val="1"/>
          <c:order val="1"/>
          <c:tx>
            <c:strRef>
              <c:f>Sheet1!$C$1</c:f>
              <c:strCache>
                <c:ptCount val="1"/>
                <c:pt idx="0">
                  <c:v>Industry average</c:v>
                </c:pt>
              </c:strCache>
            </c:strRef>
          </c:tx>
          <c:spPr>
            <a:solidFill>
              <a:srgbClr val="5C6672"/>
            </a:solidFill>
            <a:effectLst/>
          </c:spPr>
          <c:invertIfNegative val="0"/>
          <c:dLbls>
            <c:numFmt formatCode="0.0" sourceLinked="0"/>
            <c:spPr>
              <a:noFill/>
              <a:ln>
                <a:noFill/>
              </a:ln>
              <a:effectLst/>
            </c:spPr>
            <c:txPr>
              <a:bodyPr/>
              <a:lstStyle/>
              <a:p>
                <a:pPr>
                  <a:defRPr sz="1000" b="0" i="0" u="none" strike="noStrike">
                    <a:solidFill>
                      <a:srgbClr val="16202E"/>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Profit margin %</c:v>
                </c:pt>
                <c:pt idx="1">
                  <c:v>ROE %</c:v>
                </c:pt>
                <c:pt idx="2">
                  <c:v>ROA %</c:v>
                </c:pt>
                <c:pt idx="3">
                  <c:v>ROI %</c:v>
                </c:pt>
                <c:pt idx="4">
                  <c:v>Debt ratio %</c:v>
                </c:pt>
              </c:strCache>
            </c:strRef>
          </c:cat>
          <c:val>
            <c:numRef>
              <c:f>Sheet1!$C$2:$C$6</c:f>
              <c:numCache>
                <c:formatCode>General</c:formatCode>
                <c:ptCount val="5"/>
                <c:pt idx="0">
                  <c:v>-20.21</c:v>
                </c:pt>
                <c:pt idx="1">
                  <c:v>16.32</c:v>
                </c:pt>
                <c:pt idx="2">
                  <c:v>12.75</c:v>
                </c:pt>
                <c:pt idx="3">
                  <c:v>43.38</c:v>
                </c:pt>
                <c:pt idx="4">
                  <c:v>7.19</c:v>
                </c:pt>
              </c:numCache>
            </c:numRef>
          </c:val>
          <c:extLst>
            <c:ext xmlns:c16="http://schemas.microsoft.com/office/drawing/2014/chart" uri="{C3380CC4-5D6E-409C-BE32-E72D297353CC}">
              <c16:uniqueId val="{00000001-963C-A94F-8E61-F5D1A600843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6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D5D9DF"/>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5493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20 sec
SAY: "Good morning. Company 3. We finished Year 1 first in the industry on both of the measures you grade — accumulated profit and net income, 67.8 million euros. In the next twenty minutes we will not spend much time on that. We will spend it on the two mistakes that sit underneath it, because they cost us more than the lead is worth, and on what we are doing about them in Year 2."
WHY THIS OPENING: the CEO already has the ranking. Claiming it back is worth one sentence; the credibility comes from being the team that names its own failures before being asked.
DO NOT: read the subtitle aloud, or thank the CEO for the opportunity. Start on the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40 sec
SAY: "Six sections. Introduction, then Year 1 — results, then the analysis by department. Then Year 2 — objectives, decisions, forecast. Each director presents their own department and takes questions on it directly."
Then name the five people and their departments out loud, one line each. The evaluation criteria require every member's role to be identified, and the CEO is grading individuals, not the deck.
BEFORE THE MEETING: replace every [Name] placeholder. A deck handed in with placeholders costs marks under 'individual work'.
IF ASKED "who is actually running this company?": the Managing Director coordinates and owns the strategy and the competitor read; the four department heads own their own decisions. Say it in one sentence — do not describe a process.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10 sec
Transition only. "First, who we are and what market we are in — this is the only meeting where we cover this."
Do not stop on divider slides. Say the line while the slide is changing.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60 sec
SAY: "51.4 million units sold across the industry in Year 1. Product H is three quarters of the volume; product S is the other quarter but it carries the price. Market A is where the volume is — 10.9 million units of S and 20.2 million of H. Market B is smaller and richer: 35,000 euros of income per head against 27,000 in A. Market E is not a market yet — the two companies that entered sold 98,165 units between them against a theoretical potential of 110 million."
THE POINT TO LAND: this is not one market, it is three different customers. A is volume, B is value, E is an unanswered question. Everything we decide afterwards follows from that.
IF ASKED "why has nobody cracked E?": we do not know, and that is the honest answer. Our own test entry costed at $14.24 per unit. We have bought surveys 17 and 18 in Year 2 specifically to answer it before Year 3.
IF ASKED "is the market growing?": no growth rate is given anywhere in the rulebook, so we assume flat and say so on every share target.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60 sec
SAY the headline verbatim: "The premium brand of the industry, and the most profitable one." Then take the four pillars at about ten seconds each — each one is a rule with the Year-1 number that proves it, so read the evidence line, not the description.
1. Premium, not cheap — S at 14.50 euros, 71% above the cheapest rival, and we still took 52.7% of market A.
2. Two products, two jobs — S is the margin engine at 6.95 euros of gross profit a unit; H is volume and cash.
3. Scale where we already win — A and B to their limit before spending on E.
4. Self-financed growth — we paid 3.06 million of interest while sitting on 46.9 million of cash. Never again.
IF ASKED "isn't 'premium' just a word?": every pillar on this slide is stated as a rule we can be held to, with the number that would falsify it. Pillar 4 is the one we broke in Year 1 and are fixing in Year 2.
IF ASKED "why not compete on price?": we tried it on H in market A. We were tied for the cheapest price in the market and came third. Slide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60 sec
SAY: "Two goals — how the brand is perceived, and how much of the market we hold. On perception we are not moving: S stays in the quality corner at (1,8), H stays at (9,1). Both delivered first place in their strongest market. On share, we are at 39.7% of all units and we are targeting 42%."
Walk the share row left to right and be honest about the weak cell: S in market B is 4.0% and stays there, because our S capacity is already sold out in A at a higher realised price.
IF ASKED "why is the H-in-A target 25% — where does that come from?": recovering only the 501,093 units that were demanded and not served in Year 1 already puts us at 25.1%. The price alignment and the promotion are on top of that, not instead of it.
IF ASKED "why not grow S in B?": every S unit is capacity-rationed. Sending units to B means taking them out of A, where we sell at the same price with a 52.7% share. It is a worse use of the same unit.
IF ASKED "you say hold the lead — how safe is it?": 8.3 million euros over Co2. One bad capacity decision is worth more than that, which is exactly what Year 1 proves.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10 sec
Transition. "Year 1 — the numbers first, then the causes." Keep moving.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70 sec
SAY: "189.4 million of revenue at retail price, 163.7 net of retailer margins. Gross profit 95.7 million, 58.5%. Operating income 70.9, a 43.3% margin. Net income 67.8 million, 41.4%, and a return on equity of 50.7%."
Then the chart: "We earned 67.8 million out of an industry total of 119.3. Two of five companies lost money. Our lead over Co2 is 8.3 million."
THEN TURN IT IMMEDIATELY — this is the pivot of the whole presentation: "None of that is the story. 41 million euros of that profit is sitting in a warehouse as unsold product H, and 26.5 million euros of product S revenue was never invoiced because we could not make the units."
DELIVERY: the good news is four numbers and twenty seconds. If you dwell here the CEO will conclude you have not looked hard at your own results.
IF ASKED "a 41% net margin — is that sustainable?": no, and we do not forecast it as such. It is inflated because the production cost of 17.6 million unsold H units is capitalised in inventory rather than charged to the P&amp;L. Slide 10 has the decomposition.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90 sec — the most important slide of the Year-1 half. Take the time.
SAY: "First in unit share overall, 39.7%. First on S with 44.1%. Second on H — Co2 beat us by 78,699 units, and note that we did it while holding 17.6 million more units we could not sell."
Then the two cells that matter: "52.7% of market A on S — and we sold out. 22.6% of market A on H — third place, and we were tied for the cheapest price in that market."
Then the three cards, slowly: 1.83 million units of S demanded and not supplied — 23.8% of the demand for our own brand. 17.6 million units of H made and not sold. 501,093 units of H demanded and not served while those 17.6 million sat in the warehouse.
THE SENTENCE TO LAND: "We ran out of the product people wanted and we drowned in the product they did not."
IF ASKED "how do you know demand for S was 7.68 million?": the results report gives units demanded for our brand separately from units sold. 5,850,000 sold plus 1,827,440 unserved.
IF ASKED "how can H be unserved when you had 17.6 million units?": we cannot fully explain it and we are not going to pretend otherwise. There was no logistic stockout flagged in any market. That leaves shelf space or channel coverage. We did not buy survey 15, which measures it. It is open question 4 on the last slide and it is in the Year-2 research budget.
DO NOT claim the 501,093 was in market A — the data does not say which market.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45 sec
SAY: "189.4 million at retail price. Product H is the bigger line at 104.5 million, S is 84.8. By market, A is 60% of revenue and B is 40%. Nothing in E."
Then the card, which is the reason this slide exists: "H shows a 61.2% gross margin and S shows 55.2%, and that comparison is misleading. H looks better only because the cost of the 17.6 million unsold units sits on the balance sheet instead of in the P&amp;L. Per unit actually sold, S earns 6.95 euros of gross profit and H earns 3.78. S is the product worth making."
IF ASKED "so should you drop H?": no. H is 55% of revenue and it is the cash engine, and market B gives us 55.8% share at a healthy price. The problem is not the product, it is how much of it we made.
IF ASKED "does the revenue tie to the report?": yes, to the euro — 84,825,000 and 104,540,764 on page 4 of the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60 sec
SAY: "Both products, both markets, all three channels. Nothing withdrawn, nothing added, no entry into E. The channel mix is not really a choice we made — S sells through retail and supermarkets, H through supermarkets and wholesale. That is where the retailers put us."
Then the positioning table, which is the real content: "On S we own the quality corner at (1,8). Co2 and Co4 crowd the same corner but neither priced there — Co4 sold from a premium position at 8.50 to 9.40 euros, which is a premium image at a discount price. On H, Co2 sits on our exact coordinates, (9,1). They charged 9.50 to 10.50 in market A. We charged 6.50. Identical positioning, they were 46% dearer, and they still outsold us in A by 71%."
THE POINT: that comparison is the cleanest evidence in the whole deck that our problem on H in market A was not price.
IF ASKED "what were they doing that you weren't?": we do not know yet, and that is the gap. It is either media weight or shelf space. Surveys 10, 11, 13 and 15 are bought in Year 2 to find 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60 sec
SAY: "Two products, two completely different verdicts on price."
S: "14.50 euros against a cheapest rival at 8.50. A 71% premium, and we took 52.7% of market A and ran out of stock. The premium works — the brand carries it."
H: "6.50 euros in market A, tied with Co4 for the cheapest in the market. Third in share. Co2 charged 46% more from our exact positioning and sold 71% more units. We gave away margin and bought nothing with it."
Promotions: "Zero spent. Every competitor except Co5 ran at least one. We have no evidence of what a promotion is worth to us — which is itself a finding."
READ THE CONCLUSION BOX ALOUD. It is the sentence the CEO should remember: S is under-priced relative to the supply we have; H in A is losing on visibility, not on price.
IF ASKED "if S is under-priced, why only 15.00?": 15.00 is a 3.4% step and needs demand to hold within 18.8% to beat 14.50. 15.50 and 16.00 are both on slide 29 with their numbers — they are worth 6.4 and 9.5 million more, but they need demand to hold within 24% and 28%, which nobody has measured. We chose the step we can defend.
WATCH OUT: the share column is share of that product in market A, not share of that channel.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50 sec
Three blocks, roughly fifteen seconds each. Do not read every bullet — take the headline of each.
DISTRIBUTION: "Six sales managers in each of A and B, sixteen representatives, twelve platforms per market, no wholesalers — the whole volume went through our own network. Fixed cost 3.19 million."
SHELF: "Retailer margin 1.90 on S and 1.00 on H; shelf space achieved 18% and 22%. And this is where the 501,093 unserved H units point — we did not buy survey 15, which measures what shelf space the winners got."
ADVERTISING: "828,000 euros including point of sale — 0.44% of revenue, 79.2% net reach. Twelve insertions per market for S, eight for H."
THEN THE ADMISSION, and say it plainly rather than burying it: "Share of voice and share of spend cannot be computed. Surveys 10, 11 and 13 were not purchased. We competed on advertising blind in Year 1. All three are in the Year-2 budget."
IF ASKED "then how do you know 828,000 was the right number?": we do not. That is precisely why we are holding the budget flat in Year 2 rather than moving it — moving it now would confound the reading when the surveys report.
A CEO may push on why you did not buy them in Year 1. The answer is that we bought 11 of 28 surveys for 166,800 euros and prioritised badly. Year 2 is 22 surveys for 680,600.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45 sec
Do not read this table row by row — the CEO can read. Take the four verdicts that matter and move.
SAY: "Positioning of S worked; do not touch it. The price of S was too low for the supply we had. The price of H in market A gave away margin and bought nothing. The price of H in B, at 7.50, is the right level and market A should be aligned to it."
Then read the navy box verbatim — it is the thesis of the whole Year-1 half:
"We created more demand for S than we could serve and less demand for H than we had already produced. Both failures come from the same root: the marketing plan and the production plan were built independently of each other."
That sentence is the handover to Operations. Say it, then pass over.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DIRECTOR · 70 sec
OPEN BY TAKING RESPONSIBILITY, because the numbers are indefensible otherwise: "This is the slide where Year 1 was decided, and it is an operations decision."
SAY: "We installed 22 lines for H and 10 for S — the 32-line legal maximum — and ran three shifts on all of them. That split was set before any demand had been measured. On the plant's 96 line-shifts, H was given 69% of the capacity and needed 32%. S was given 31% and needed 41%."
Then the two deviations: "On S there was no deviation at all. We produced exactly 5,850,000 units and sold every one. The plan was the error, not the execution. On H we produced 32.2 million against a market that took 14.5 million from us. The excess is 17.6 million units."
Then close the point: "No logistic stockouts anywhere, no raw material shortage. Operations executed the plan precisely. The plan was wrong."
The two cards: 41 million euros of cash locked in stock, 12.3 million of contribution lost on S.
IF ASKED "who decided the 22/10 split?": own it as an operations call made without a demand estimate from marketing. Do not spread it around the team — the CEO is grading whether departments coordinate, and admitting the coordination failure is stronger than diffusing it.
IF ASKED "why not just build more S lines?": we cannot. 32 lines is the legal cap and we are at it. SMED is the only remaining lever, and it is on slide 24.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DIRECTOR · 60 sec
LEFT SIDE: "S costs 5.5604 euros a unit against a 14.50 retail price. H costs 2.3252 against 6.50 to 7.50. Labour is the dominant component on S at 3.32 — that is crew cost divided by 195,000 units per line-shift."
VARIANCE — this answers the guideline requirement, so say it explicitly: "Against the standard cost sheet, raw material landed 5.1% above list on both products. Two points of that is scrap yield, three points is the premium we paid for 120-day supplier terms. There is no prior year to compare against."
PRODUCTIVITY: "Preventive maintenance on, 500,000 euros, and it held repairs to 1.1% of unit cost. Poka Yoke off — 23 million euros for 4.55% more output is not defensible. SMED was not available in Year 1; it is available from Year 2 and it is our only remaining capacity lever."
RIGHT SIDE: "No raw material stockouts, no logistic stockouts in any market. 1.63 million euros of logistics, charged at half the tariff formula. 46 vehicles in Year 2 instead of 55 saves 170,400."
CLOSE: "Efficient and over-provisioned at the same time. The fleet never stocked out because it was sized far above what it moved, and the warehouse bill exists only because we made product nobody ordered."
IF ASKED "is 5.56 competitive?": we do not know — survey 24, industry average production cost, was not purchased in Year 1. It is bought in Year 2. Our own Year-2 target is 5.1491.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DIRECTOR · 60 sec
SAY: "Three shifts across 32 lines. We lost thirteen people in the year — four from office and management, nine from the sales force — and that cost 306,000 euros. Separately we spent 722,000 euros on a selection and training department."
THE FINDING, and lead with it rather than working up to it: "Tested with the training department switched off, the turnover cost rises from 306,000 to 366,000. So the department bought us a 60,000 euro reduction for 722,000 euros. It is not defensible and we are closing it."
SALARY TABLE: "We sit in the middle or the lower half of every permitted range. The sales force is at 27,000 plus the minimum permitted commission rate of 0.6% — and the sales force is exactly where we lost nine of the thirteen people, 270,000 euros of the 306,000."
THE HONEST LIMIT: "We cannot compare our salaries to competitors. Survey 25 was not purchased. That comparison is the guideline requirement we cannot meet from Year-1 data, and surveys 14 and 25 are both in the Year-2 budget."
SALES FORCE OPTIMISATION: "Sixteen representatives moved 20.4 million units. The constraint on S was the factory, not the sales force — adding representatives would have added cost and no volume."
IF ASKED "you lost nine reps and you are not raising their pay?": correct, and deliberately. We are buying the survey first. Raising pay blind costs 162,000 euros per extra representative per zone and we have no evidence it changes anything. If the survey shows rivals paying materially more, the review happens in the Year-3 plan with evidence behind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55 sec
SAY: "Against the industry average we win on every profitability measure — profit margin 41.4 against minus 20.2, ROE 50.7 against 16.3, ROA 38.7 against 12.8, ROI 102.8 against 43.4."
BALANCE SHEET, and slow down on the two red lines: "175.2 million of total assets. Inventory is 41.5 million and 98.8% of that is unsold product H. Loans 26 million — 6.5 short-term and 19.5 long. Equity 133.8 million."
THEN THE TWO WE LOSE — volunteer them, do not wait: "Liquidity is below average: current ratio 5.29 against 7.91, quick ratio 3.39 against 6.93. Leverage is above it: debt ratio 23.62 against 7.19. We are the most profitable and the most indebted company in the industry at the same time, and we did not need to be. Asset management is ahead on every measure, including inventory turnover at 1.62 against 1.02."
IF ASKED "why is your liquidity below average when you hold 46.9 million in cash?": because we also carry the industry's largest inventory and the only material debt. The cash is real; the ratio is dragged by the other two, and both are removed in Year 2.
IF ASKED about a ratio not on the chart: current 5.29, quick 3.39, total asset turnover 0.93, non-current asset turnover 2.75, inventory turnover 1.62. Know these six cold.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55 sec
OPEN WITH THE ADMISSION: "This is the department's own mistake and it is the easiest one in the deck to fix."
WALK THE TABLE: "We drew 26 million euros of loans at 10% and paid 2.6 million of interest plus a 260,000 fee — and closed the year with 46.9 million of cash. We requested a 10 million credit line, never drew a euro of it, and paid 200,000 for the privilege. We took 120-day supplier terms and paid a 3% premium on raw material for them, about 414,000 euros, when we had the cash to pay on delivery. And we left 46.9 million earning zero when a 2.5% deposit was available from day one."
THE THREE CARDS: "3.06 million euros of financial expense — 4.5% of net income, paid to borrow money we already had. Zero financial income. 93.8 million of working capital, of which 41.5 is inventory."
THE ONE THING DONE RIGHT: 60-day customer terms, already the shortest setting available.
IF ASKED "why did you borrow 26 million?": the loan was sized before we knew what the year would generate. The operating cash requirement test never came close to needing it — in Year 2 that requirement is 9.6 million against 52.3 million of available cash. Do not make excuses beyond this; the CEO wants to hear that you have measured it, not that it was reasonable at the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DIRECTORS · 60 sec — each director reads their own row. Do not have one person read the table.
STRUCTURE: Managing Director takes row 1, Operations takes rows 2 and 3, Marketing takes row 4, Finance takes row 5, HR takes row 6. Roughly ten seconds each: what happened, why, what it cost, what we do about it.
The guidelines are explicit that establishing the causes is a must — this is the slide that satisfies it, so make the cause-and-consequence structure audible: "X happened because Y; it cost Z; in Year 2 we do W."
THE ARITHMETIC TO HAVE READY: the four costed failures add to roughly 68 million euros of value — 26.5 of uninvoiced S revenue, 41 of frozen cash, 3.06 of financial expense, 0.66 of training. That is almost exactly one year of net income. It is a strong line if the CEO asks how much the mistakes were worth in total, but be precise that these are different kinds of number — lost revenue, frozen cash and P&amp;L cost are not additive in a strict sense.
HANDOVER: Managing Director closes with one sentence into the Year-2 section.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10 sec
Transition. "That is Year 1. Now what we do with it — objectives first, then the decisions in each department, then the forecast."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70 sec
SAY: "Eleven objectives, all measurable, all built on the analysis you have just heard."
Take the six that matter and let the CEO read the rest: "S volume up 14.1% to 6,675,000 — that is the SMED module, nothing else. H up 3.4% to 15,047,394, which is last year's volume plus the units we failed to serve, sold out of existing stock. Revenue up 12.5%. Gross margin from 58.5 to 61.5. Net income from 67.8 to 87.5 million, up 29%. And debt to zero."
VOLUNTEER THE BAD NUMBER BEFORE THE CEO FINDS IT — this is the single highest-value thing on the slide: "One objective moves the wrong way. Return on equity falls from 50.7% to 39.5%. That is arithmetic, not deterioration: equity rises from 133.8 million to 221.3 million because we retain all of it. On the opening equity base the same net income is a 65.4% return. We are not proposing a dividend."
IF ASKED "should you pay a dividend then?": we have not modelled one. The cash is committed to the January trough and to Year-3 capacity, and the course measures accumulated profit, not distributions.
IF ASKED "why is H only up 3.4% when you hold 17.6 million units?": because 15 million is what the market took from us last year plus what we failed to serve. Forecasting more would be assuming a demand increase we have not measured. Slide 28 shows what happens if H demand does come in higher — every scenario is better, not worse.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DIRECTOR · 60 sec
FRAME IT FIRST: "Nine levers. Two of them move, and both moves come straight out of the Year-1 analysis."
THE TWO MOVES: "S goes from 14.50 to 15.00 in every channel of both markets — worth 3.18 million, and the units sell either way because output is capped a million units below last year's demand. H in market A goes from 6.50 to 7.50, aligned to what market B already pays — worth 4.48 million. Being the cheapest H in market A bought us third place; we are not buying that again."
THE PROMOTION: "A 0.50 euro price reduction on H, three promotions, supermarket channel only, both markets. 662,000 euros. Both rivals who promoted H sold out. No S promotion — we have no spare supply to promote and the rules reject a promotion the supply cannot serve."
WHAT DELIBERATELY DOES NOT MOVE: "Positioning, advertising, shelf space. Moving the media budget before surveys 10, 11 and 13 report would confound exactly the reading we are paying for."
THE RESEARCH: "22 surveys instead of 11. 680,600 euros. That is the line that answers why we lost market A on H."
IF ASKED "is 662,000 on a promotion with no measured return justified?": be honest — no lift is credited in the forecast, so the 662,000 is the whole downside and the plan clears 87.5 million with it fully expensed. It is the one H lever with rival evidence behind it. Slide 29 shows not promoting is worth 610,000 more on paper.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DIRECTOR · 60 sec
LEAD WITH THE CONSTRAINT: "We cannot build a single new line. 10 S plus 22 H is 32, and 32 is the legal cap. That was reached in Year 1."
THE INVESTMENT: "Two SMED modules, six million euros. It lifts output per line-shift by 14.1% on S and 14.4% on H. It is the only capacity lever left to us."
THE LINE DECISION, which is the counter-intuitive one — say it slowly: "Ten of ten S lines run. Two of twenty-two H lines run. We have 17.6 million units of H in the warehouse. We sell those before we make more. That gives us 20.97 million units of H available against a 15 million plan."
SUPPLY CHAIN: "Raw material bought on cash terms, dropping the 3% premium. Fleet cut from 55 vehicles to 46, saving 170,400, with loads kept under what each vehicle actually carried in Year 1. Platforms in E cut from the 60-platform template default to 12."
THE PAYBACK, and offer it before being asked: "Six million of SMED replaces 8.4 million of lines we are not permitted to build, and pays for itself inside the year — 825,000 extra units of S at 7.22 euros of contribution is 5.95 million."
IF ASKED "twenty idle H lines — what do they cost?": 3.6 million a year in depreciation whether they run or not, and that is fully in the forecast. Crews are hired per active line-shift, so headcount falls from 3,144 to 1,404.
IF ASKED "why not one SMED module instead of two?": open question 2 on the last slide. Our test measured two modules serving 32 lines; whether one module covers twelve is unconfirmed. If it does, we save three million of cash. We are asking rather than guessing.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DIRECTOR · 50 sec
SAY: "One decision moves, and it is a closure."
THE MOVE: "The recruitment and training department is closed. 722,000 euros of cost against a measured 60,000 euro reduction in turnover. Net saving 662,000."
THE NEW COST: "Two SMED specialist teams per shift — 24 specialists at 24,000, 576,000 euros. That is not optional; the modules do not run without them."
WHAT DOES NOT MOVE: salaries at every level, and the sales force at 27,000 plus 0.6%. Headcount falls from 3,144 to 1,404 plus the specialists, purely because twenty H lines stand idle — that is an operations consequence, not a redundancy programme.
READ THE BOTTOM CARD ALOUD. It is the defensible version of a decision that looks lazy: "Nine sales representatives left in Year 1 and we are paying near the bottom of the permitted range. We are buying survey 14 rather than raising pay blind. If it shows rivals paying materially more, the pay review happens in the Year-3 plan with evidence behind it."
IF ASKED "isn't closing training a false economy?": it is the one HR lever we actually measured. With the department off, turnover cost is 366,000 instead of 306,000. We are paying 722,000 for 60,000 of benefit. If turnover worsens in Year 2 we reopen it with a number attached.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55 sec
FRAME: "Year 1 cost us 3.06 million in financial expense. Year 2 earns 55,000. Four decisions get us there."
"No new loan — the operating cash requirement is 9.6 million against 52.3 million available on 2 January. We prepay the full 19.5 million on 2 January; the 1% penalty is 195,000 and it removes 1.95 million of interest a year. No credit line — the 10 million line cost 200,000 last year and was never drawn. And 10 million goes on fixed-term deposit at 2.5%, sized to hold the January trough above nine million."
PLUS THE SUPPLY-SIDE ONE: "Supplier payment moves from 120 days to cash, dropping the 3% raw-material premium — 414,128 euros."
THE THREE CARDS: financial result from minus 3.06 million to plus 55,000; January trough 9,257,578; zero debt at 31 December.
IF ASKED "is prepaying with a penalty sensible?": 195,000 to avoid 1.95 million a year, for the remaining life of a four-year loan. Yes. The only uncertainty is whether the simulator stops Year-2 interest on a 2 January prepayment — that is open question 1, and it is worth 1.95 million either way. We prepay regardless, because the Year-3 and Year-4 saving stands.
IF ASKED "why deposit 10 million rather than keep it liquid?": the deposit is what holds the January trough above nine million with income on top. Early withdrawal costs 1%, which is less than the 250,000 it earns.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60 sec
Do not read sixteen lines. Take the four bold subtotals and the driver for each.
"Sales at retail price 213 million, up 12.5% — that is 6,675,000 units of S at 15.00 and 15,047,394 of H at 7.50. Net revenue 185.3 million. Gross profit 114 million, up 19.1%, with the margin moving from 58.5 to 61.5 — SMED takes S unit cost from 5.56 to 5.15. Operating income 87.4 million, a 47.2% margin. Net income 87.5 million, up 29%."
THE ONE LINE WORTH CALLING OUT: "Financial result goes from minus 3.06 million to plus 55,000. That single reversal is 3.1 million of the 19.7 million improvement."
THE YEAR-END POSITION, from the footnote: 108.3 million of cash plus a 10 million deposit, no payables, no debt, and inventory down from 41.5 million to 13.8.
AND THE CONSERVATISM, offered rather than extracted: "No credit is taken anywhere in this forecast for any lift from the H promotion. The 662,000 of cost is in; the benefit is not."
IF ASKED "why does market research go up 308%?": from 166,800 to 680,600. It is the line that answers why we lost market A, what rivals spend on media, and whether market E can pay. Against 41 million of stock the Year-1 surveys could not explain, it is cheap.
IF ASKED "advertising flat at 828,000 — really?": deliberately. Moving it before the surveys report destroys the measurement we are paying for.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DIRECTOR · 50 sec
THE GRID FIRST: "H demand down the side, S demand across. Every cell beats Year 1's 67.8 million. The worst case on the table is plus 5% on last year; the best is plus 62%."
THE STRUCTURAL POINT: "The S columns are identical from 6.675 million upwards because output caps sales. Extra S demand does not become revenue — it becomes unserved demand and carries into Year 3."
THE BREAK POINT: "The only scenario that breaks the plan is H demand below roughly 12 million units — a repeat of the market-A collapse in both markets at once. Even there net income clears 71 million and cash clears 86 million."
AND THE ONE THAT MATTERS FOR SOLVENCY: "There is no overdraft in any scenario. The January trough is 9.26 million and it depends only on Year-1 balances, not on Year-2 sales."
THE THREE RISKS: take each in about eight seconds. Rivals adding capacity in A costs us at most 3 million and only at plus 50%. The S price rise needs demand to hold within 18.8%, with a fallback that costs 3.2 million. The H stock does not spoil — anything unsold is Year-3 inventory at 2.31 a unit.
WATCH THE FOOTNOTE: the grid's 15.0 million row reads 87.3 while the plan says 87.5, because the plan sells 15,047,394 units, not 15.0 million. If the CEO spots the gap first it looks like an error; name it yourself.</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DIRECTORS · 40 sec — this slide exists so that every "why didn't you..." has already been answered with a number.
DO NOT WALK THE TABLE. Say: "Thirteen alternatives, each one variable changed against the base case. Four are worth naming."
"No SMED costs us 7.5 million. Poka Yoke is 23 million for 4.55% more output — it never pays. Pricing S at 15.50 or 16.00 is worth 6.4 or 9.5 million more, but needs demand to hold within 24% and 28% and nobody has measured that. And market E: our test entry costed at $14.24 a unit, S is supply-capped and 17.6 million units of H have to clear at home first."
THEN INVITE THE QUESTION: "If there is an option you want costed that is not on here, we will bring it to the next meeting with a number."
That invitation is worth making — it converts a challenge into a commitment rather than a defence.
IF ASKED about the four-H-lines row: at 15 million of H demand, four lines earn 319,604 more than two. It ties up 7.5 million of cash in stock of which we already hold 17.6 million units. It is a cash decision, not a profit decision.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DIRECTOR · 45 sec, then stop talking.
THE FIVE QUESTIONS: do not read all five. Say: "Five things we cannot answer from the data. Two of them are worth real money and we would like your view now."
Take question 1 — does a 2 January prepayment stop that year's interest, worth 1.95 million — and question 2 — how many lines one SMED module serves, worth three million of cash. Then: "The other three are on the slide."
THE COMMITMENTS: read the five figures cleanly and slowly. 87.5 million of net income. 42% unit share. Zero debt. H stock down from 17.6 million to 5.9. And number one held on both measures.
THEN NAME WHAT NEEDS ENDORSEMENT — this is the actual ask of the meeting: "Three decisions need your endorsement today: the six million SMED investment, the S price rise to 15.00, and the loan prepayment."
CLOSE: "Thank you — we are ready for your questions."
Then stop. Do not fill the silence. The CEO's role in this course is to be demanding and to raise doubts, so expect the hardest questions after this slide, not during. Whoever owns the department takes the question; the Managing Director only steps in for strategy or coordination.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Text 0"/>
          <p:cNvSpPr txBox="1"/>
          <p:nvPr/>
        </p:nvSpPr>
        <p:spPr>
          <a:xfrm>
            <a:off x="566928" y="1874520"/>
            <a:ext cx="10058400" cy="320040"/>
          </a:xfrm>
          <a:prstGeom prst="rect">
            <a:avLst/>
          </a:prstGeom>
          <a:noFill/>
          <a:ln/>
        </p:spPr>
        <p:txBody>
          <a:bodyPr wrap="square" lIns="0" tIns="0" rIns="0" bIns="0" rtlCol="0" anchor="ctr"/>
          <a:lstStyle/>
          <a:p>
            <a:pPr marL="0" indent="0">
              <a:buNone/>
            </a:pPr>
            <a:r>
              <a:rPr lang="en-US" sz="1300" b="1" kern="0" spc="300" dirty="0">
                <a:solidFill>
                  <a:srgbClr val="C8952F"/>
                </a:solidFill>
                <a:latin typeface="Calibri" pitchFamily="34" charset="0"/>
                <a:ea typeface="Calibri" pitchFamily="34" charset="-122"/>
                <a:cs typeface="Calibri" pitchFamily="34" charset="-120"/>
              </a:rPr>
              <a:t>MIM CAPSTONE PROJECT  ·  CEO MEETING 1</a:t>
            </a:r>
            <a:endParaRPr lang="en-US" sz="1300" dirty="0"/>
          </a:p>
        </p:txBody>
      </p:sp>
      <p:sp>
        <p:nvSpPr>
          <p:cNvPr id="3" name="Text 1"/>
          <p:cNvSpPr txBox="1"/>
          <p:nvPr/>
        </p:nvSpPr>
        <p:spPr>
          <a:xfrm>
            <a:off x="566928" y="2240280"/>
            <a:ext cx="10607040" cy="13716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Company 3 — Year 1 Review and Year 2 Plan</a:t>
            </a:r>
            <a:endParaRPr lang="en-US" sz="4400" dirty="0"/>
          </a:p>
        </p:txBody>
      </p:sp>
      <p:sp>
        <p:nvSpPr>
          <p:cNvPr id="4" name="Text 2"/>
          <p:cNvSpPr txBox="1"/>
          <p:nvPr/>
        </p:nvSpPr>
        <p:spPr>
          <a:xfrm>
            <a:off x="566928" y="3703320"/>
            <a:ext cx="10058400" cy="822960"/>
          </a:xfrm>
          <a:prstGeom prst="rect">
            <a:avLst/>
          </a:prstGeom>
          <a:noFill/>
          <a:ln/>
        </p:spPr>
        <p:txBody>
          <a:bodyPr wrap="square" lIns="0" tIns="0" rIns="0" bIns="0" rtlCol="0" anchor="ctr"/>
          <a:lstStyle/>
          <a:p>
            <a:pPr marL="0" indent="0">
              <a:lnSpc>
                <a:spcPts val="2400"/>
              </a:lnSpc>
              <a:buNone/>
            </a:pPr>
            <a:r>
              <a:rPr lang="en-US" sz="1600" dirty="0">
                <a:solidFill>
                  <a:srgbClr val="C3CCDA"/>
                </a:solidFill>
                <a:latin typeface="Calibri" pitchFamily="34" charset="0"/>
                <a:ea typeface="Calibri" pitchFamily="34" charset="-122"/>
                <a:cs typeface="Calibri" pitchFamily="34" charset="-120"/>
              </a:rPr>
              <a:t>Simulation B1SIM2C2  ·  Ranked 1st of 5 by net income and by accumulated profit</a:t>
            </a:r>
            <a:endParaRPr lang="en-US" sz="1600" dirty="0"/>
          </a:p>
          <a:p>
            <a:pPr marL="0" indent="0">
              <a:lnSpc>
                <a:spcPts val="2400"/>
              </a:lnSpc>
              <a:buNone/>
            </a:pPr>
            <a:r>
              <a:rPr lang="en-US" sz="1600" dirty="0">
                <a:solidFill>
                  <a:srgbClr val="C3CCDA"/>
                </a:solidFill>
                <a:latin typeface="Calibri" pitchFamily="34" charset="0"/>
                <a:ea typeface="Calibri" pitchFamily="34" charset="-122"/>
                <a:cs typeface="Calibri" pitchFamily="34" charset="-120"/>
              </a:rPr>
              <a:t>Presented by the management team of Company 3</a:t>
            </a:r>
            <a:endParaRPr lang="en-US" sz="1600" dirty="0"/>
          </a:p>
        </p:txBody>
      </p:sp>
      <p:sp>
        <p:nvSpPr>
          <p:cNvPr id="5" name="Shape 3"/>
          <p:cNvSpPr/>
          <p:nvPr/>
        </p:nvSpPr>
        <p:spPr>
          <a:xfrm>
            <a:off x="7973568" y="3258312"/>
            <a:ext cx="1920240" cy="1920240"/>
          </a:xfrm>
          <a:prstGeom prst="ellipse">
            <a:avLst/>
          </a:prstGeom>
          <a:solidFill>
            <a:srgbClr val="C8952F"/>
          </a:solidFill>
          <a:ln/>
        </p:spPr>
        <p:txBody>
          <a:bodyPr/>
          <a:lstStyle/>
          <a:p>
            <a:endParaRPr lang="en-DE"/>
          </a:p>
        </p:txBody>
      </p:sp>
      <p:sp>
        <p:nvSpPr>
          <p:cNvPr id="6" name="Text 4"/>
          <p:cNvSpPr txBox="1"/>
          <p:nvPr/>
        </p:nvSpPr>
        <p:spPr>
          <a:xfrm>
            <a:off x="7973568" y="3505200"/>
            <a:ext cx="1920240" cy="658368"/>
          </a:xfrm>
          <a:prstGeom prst="rect">
            <a:avLst/>
          </a:prstGeom>
          <a:noFill/>
          <a:ln/>
        </p:spPr>
        <p:txBody>
          <a:bodyPr wrap="square" lIns="0" tIns="0" rIns="0" bIns="0" rtlCol="0" anchor="ctr"/>
          <a:lstStyle/>
          <a:p>
            <a:pPr marL="0" indent="0" algn="ctr">
              <a:buNone/>
            </a:pPr>
            <a:r>
              <a:rPr lang="en-US" sz="3400" b="1" dirty="0">
                <a:solidFill>
                  <a:srgbClr val="13233F"/>
                </a:solidFill>
                <a:latin typeface="Cambria" pitchFamily="34" charset="0"/>
                <a:ea typeface="Cambria" pitchFamily="34" charset="-122"/>
                <a:cs typeface="Cambria" pitchFamily="34" charset="-120"/>
              </a:rPr>
              <a:t>No.1</a:t>
            </a:r>
            <a:endParaRPr lang="en-US" sz="3400" dirty="0"/>
          </a:p>
        </p:txBody>
      </p:sp>
      <p:sp>
        <p:nvSpPr>
          <p:cNvPr id="7" name="Text 5"/>
          <p:cNvSpPr txBox="1"/>
          <p:nvPr/>
        </p:nvSpPr>
        <p:spPr>
          <a:xfrm>
            <a:off x="7973568" y="4145280"/>
            <a:ext cx="1920240" cy="365760"/>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in the industry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HOW WE WILL USE THE TIME</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Agenda and speaking roles</a:t>
            </a:r>
            <a:endParaRPr lang="en-US" sz="2900" dirty="0"/>
          </a:p>
        </p:txBody>
      </p:sp>
      <p:sp>
        <p:nvSpPr>
          <p:cNvPr id="4" name="Text 2"/>
          <p:cNvSpPr txBox="1"/>
          <p:nvPr/>
        </p:nvSpPr>
        <p:spPr>
          <a:xfrm>
            <a:off x="566928" y="1298448"/>
            <a:ext cx="512064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AGENDA</a:t>
            </a:r>
            <a:endParaRPr lang="en-US" sz="1250" dirty="0"/>
          </a:p>
        </p:txBody>
      </p:sp>
      <p:sp>
        <p:nvSpPr>
          <p:cNvPr id="5" name="Shape 3"/>
          <p:cNvSpPr/>
          <p:nvPr/>
        </p:nvSpPr>
        <p:spPr>
          <a:xfrm>
            <a:off x="566928" y="1700784"/>
            <a:ext cx="329184" cy="329184"/>
          </a:xfrm>
          <a:prstGeom prst="ellipse">
            <a:avLst/>
          </a:prstGeom>
          <a:solidFill>
            <a:srgbClr val="F3E7CC"/>
          </a:solidFill>
          <a:ln/>
        </p:spPr>
        <p:txBody>
          <a:bodyPr/>
          <a:lstStyle/>
          <a:p>
            <a:endParaRPr lang="en-DE"/>
          </a:p>
        </p:txBody>
      </p:sp>
      <p:sp>
        <p:nvSpPr>
          <p:cNvPr id="6" name="Text 4"/>
          <p:cNvSpPr txBox="1"/>
          <p:nvPr/>
        </p:nvSpPr>
        <p:spPr>
          <a:xfrm>
            <a:off x="566928" y="1700784"/>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42416" y="1645920"/>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Introduction to the company</a:t>
            </a:r>
            <a:endParaRPr lang="en-US" sz="1350" dirty="0"/>
          </a:p>
        </p:txBody>
      </p:sp>
      <p:sp>
        <p:nvSpPr>
          <p:cNvPr id="8" name="Text 6"/>
          <p:cNvSpPr txBox="1"/>
          <p:nvPr/>
        </p:nvSpPr>
        <p:spPr>
          <a:xfrm>
            <a:off x="1042416" y="1911096"/>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Market size, strategy, brand and share goals</a:t>
            </a:r>
            <a:endParaRPr lang="en-US" sz="1050" dirty="0"/>
          </a:p>
        </p:txBody>
      </p:sp>
      <p:sp>
        <p:nvSpPr>
          <p:cNvPr id="9" name="Shape 7"/>
          <p:cNvSpPr/>
          <p:nvPr/>
        </p:nvSpPr>
        <p:spPr>
          <a:xfrm>
            <a:off x="566928" y="2395728"/>
            <a:ext cx="329184" cy="329184"/>
          </a:xfrm>
          <a:prstGeom prst="ellipse">
            <a:avLst/>
          </a:prstGeom>
          <a:solidFill>
            <a:srgbClr val="F3E7CC"/>
          </a:solidFill>
          <a:ln/>
        </p:spPr>
        <p:txBody>
          <a:bodyPr/>
          <a:lstStyle/>
          <a:p>
            <a:endParaRPr lang="en-DE"/>
          </a:p>
        </p:txBody>
      </p:sp>
      <p:sp>
        <p:nvSpPr>
          <p:cNvPr id="10" name="Text 8"/>
          <p:cNvSpPr txBox="1"/>
          <p:nvPr/>
        </p:nvSpPr>
        <p:spPr>
          <a:xfrm>
            <a:off x="566928" y="2395728"/>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42416" y="2340864"/>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Year 1: summary of results</a:t>
            </a:r>
            <a:endParaRPr lang="en-US" sz="1350" dirty="0"/>
          </a:p>
        </p:txBody>
      </p:sp>
      <p:sp>
        <p:nvSpPr>
          <p:cNvPr id="12" name="Text 10"/>
          <p:cNvSpPr txBox="1"/>
          <p:nvPr/>
        </p:nvSpPr>
        <p:spPr>
          <a:xfrm>
            <a:off x="1042416" y="2606040"/>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Financials, sales, share and revenue</a:t>
            </a:r>
            <a:endParaRPr lang="en-US" sz="1050" dirty="0"/>
          </a:p>
        </p:txBody>
      </p:sp>
      <p:sp>
        <p:nvSpPr>
          <p:cNvPr id="13" name="Shape 11"/>
          <p:cNvSpPr/>
          <p:nvPr/>
        </p:nvSpPr>
        <p:spPr>
          <a:xfrm>
            <a:off x="566928" y="3090672"/>
            <a:ext cx="329184" cy="329184"/>
          </a:xfrm>
          <a:prstGeom prst="ellipse">
            <a:avLst/>
          </a:prstGeom>
          <a:solidFill>
            <a:srgbClr val="F3E7CC"/>
          </a:solidFill>
          <a:ln/>
        </p:spPr>
        <p:txBody>
          <a:bodyPr/>
          <a:lstStyle/>
          <a:p>
            <a:endParaRPr lang="en-DE"/>
          </a:p>
        </p:txBody>
      </p:sp>
      <p:sp>
        <p:nvSpPr>
          <p:cNvPr id="14" name="Text 12"/>
          <p:cNvSpPr txBox="1"/>
          <p:nvPr/>
        </p:nvSpPr>
        <p:spPr>
          <a:xfrm>
            <a:off x="566928" y="3090672"/>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42416" y="3035808"/>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Year 1: analysis by department</a:t>
            </a:r>
            <a:endParaRPr lang="en-US" sz="1350" dirty="0"/>
          </a:p>
        </p:txBody>
      </p:sp>
      <p:sp>
        <p:nvSpPr>
          <p:cNvPr id="16" name="Text 14"/>
          <p:cNvSpPr txBox="1"/>
          <p:nvPr/>
        </p:nvSpPr>
        <p:spPr>
          <a:xfrm>
            <a:off x="1042416" y="3300984"/>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Marketing, operations, HR, finance — and the causes</a:t>
            </a:r>
            <a:endParaRPr lang="en-US" sz="1050" dirty="0"/>
          </a:p>
        </p:txBody>
      </p:sp>
      <p:sp>
        <p:nvSpPr>
          <p:cNvPr id="17" name="Shape 15"/>
          <p:cNvSpPr/>
          <p:nvPr/>
        </p:nvSpPr>
        <p:spPr>
          <a:xfrm>
            <a:off x="566928" y="3785616"/>
            <a:ext cx="329184" cy="329184"/>
          </a:xfrm>
          <a:prstGeom prst="ellipse">
            <a:avLst/>
          </a:prstGeom>
          <a:solidFill>
            <a:srgbClr val="F3E7CC"/>
          </a:solidFill>
          <a:ln/>
        </p:spPr>
        <p:txBody>
          <a:bodyPr/>
          <a:lstStyle/>
          <a:p>
            <a:endParaRPr lang="en-DE"/>
          </a:p>
        </p:txBody>
      </p:sp>
      <p:sp>
        <p:nvSpPr>
          <p:cNvPr id="18" name="Text 16"/>
          <p:cNvSpPr txBox="1"/>
          <p:nvPr/>
        </p:nvSpPr>
        <p:spPr>
          <a:xfrm>
            <a:off x="566928" y="3785616"/>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042416" y="3730752"/>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Year 2: objectives</a:t>
            </a:r>
            <a:endParaRPr lang="en-US" sz="1350" dirty="0"/>
          </a:p>
        </p:txBody>
      </p:sp>
      <p:sp>
        <p:nvSpPr>
          <p:cNvPr id="20" name="Text 18"/>
          <p:cNvSpPr txBox="1"/>
          <p:nvPr/>
        </p:nvSpPr>
        <p:spPr>
          <a:xfrm>
            <a:off x="1042416" y="3995928"/>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Specific and measurable targets</a:t>
            </a:r>
            <a:endParaRPr lang="en-US" sz="1050" dirty="0"/>
          </a:p>
        </p:txBody>
      </p:sp>
      <p:sp>
        <p:nvSpPr>
          <p:cNvPr id="21" name="Shape 19"/>
          <p:cNvSpPr/>
          <p:nvPr/>
        </p:nvSpPr>
        <p:spPr>
          <a:xfrm>
            <a:off x="566928" y="4480560"/>
            <a:ext cx="329184" cy="329184"/>
          </a:xfrm>
          <a:prstGeom prst="ellipse">
            <a:avLst/>
          </a:prstGeom>
          <a:solidFill>
            <a:srgbClr val="F3E7CC"/>
          </a:solidFill>
          <a:ln/>
        </p:spPr>
        <p:txBody>
          <a:bodyPr/>
          <a:lstStyle/>
          <a:p>
            <a:endParaRPr lang="en-DE"/>
          </a:p>
        </p:txBody>
      </p:sp>
      <p:sp>
        <p:nvSpPr>
          <p:cNvPr id="22" name="Text 20"/>
          <p:cNvSpPr txBox="1"/>
          <p:nvPr/>
        </p:nvSpPr>
        <p:spPr>
          <a:xfrm>
            <a:off x="566928" y="4480560"/>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1042416" y="4425696"/>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Year 2: decisions</a:t>
            </a:r>
            <a:endParaRPr lang="en-US" sz="1350" dirty="0"/>
          </a:p>
        </p:txBody>
      </p:sp>
      <p:sp>
        <p:nvSpPr>
          <p:cNvPr id="24" name="Text 22"/>
          <p:cNvSpPr txBox="1"/>
          <p:nvPr/>
        </p:nvSpPr>
        <p:spPr>
          <a:xfrm>
            <a:off x="1042416" y="4690872"/>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Actions in every department</a:t>
            </a:r>
            <a:endParaRPr lang="en-US" sz="1050" dirty="0"/>
          </a:p>
        </p:txBody>
      </p:sp>
      <p:sp>
        <p:nvSpPr>
          <p:cNvPr id="25" name="Shape 23"/>
          <p:cNvSpPr/>
          <p:nvPr/>
        </p:nvSpPr>
        <p:spPr>
          <a:xfrm>
            <a:off x="566928" y="5175504"/>
            <a:ext cx="329184" cy="329184"/>
          </a:xfrm>
          <a:prstGeom prst="ellipse">
            <a:avLst/>
          </a:prstGeom>
          <a:solidFill>
            <a:srgbClr val="F3E7CC"/>
          </a:solidFill>
          <a:ln/>
        </p:spPr>
        <p:txBody>
          <a:bodyPr/>
          <a:lstStyle/>
          <a:p>
            <a:endParaRPr lang="en-DE"/>
          </a:p>
        </p:txBody>
      </p:sp>
      <p:sp>
        <p:nvSpPr>
          <p:cNvPr id="26" name="Text 24"/>
          <p:cNvSpPr txBox="1"/>
          <p:nvPr/>
        </p:nvSpPr>
        <p:spPr>
          <a:xfrm>
            <a:off x="566928" y="5175504"/>
            <a:ext cx="329184" cy="329184"/>
          </a:xfrm>
          <a:prstGeom prst="rect">
            <a:avLst/>
          </a:prstGeom>
          <a:noFill/>
          <a:ln/>
        </p:spPr>
        <p:txBody>
          <a:bodyPr wrap="square" lIns="0" tIns="0" rIns="0" bIns="0" rtlCol="0" anchor="ctr"/>
          <a:lstStyle/>
          <a:p>
            <a:pPr marL="0" indent="0" algn="ctr">
              <a:buNone/>
            </a:pPr>
            <a:r>
              <a:rPr lang="en-US" sz="1200" b="1" dirty="0">
                <a:solidFill>
                  <a:srgbClr val="13233F"/>
                </a:solidFill>
                <a:latin typeface="Calibri" pitchFamily="34" charset="0"/>
                <a:ea typeface="Calibri" pitchFamily="34" charset="-122"/>
                <a:cs typeface="Calibri" pitchFamily="34" charset="-120"/>
              </a:rPr>
              <a:t>6</a:t>
            </a:r>
            <a:endParaRPr lang="en-US" sz="1200" dirty="0"/>
          </a:p>
        </p:txBody>
      </p:sp>
      <p:sp>
        <p:nvSpPr>
          <p:cNvPr id="27" name="Text 25"/>
          <p:cNvSpPr txBox="1"/>
          <p:nvPr/>
        </p:nvSpPr>
        <p:spPr>
          <a:xfrm>
            <a:off x="1042416" y="5120640"/>
            <a:ext cx="4663440" cy="274320"/>
          </a:xfrm>
          <a:prstGeom prst="rect">
            <a:avLst/>
          </a:prstGeom>
          <a:noFill/>
          <a:ln/>
        </p:spPr>
        <p:txBody>
          <a:bodyPr wrap="square" lIns="0" tIns="0" rIns="0" bIns="0" rtlCol="0" anchor="ctr"/>
          <a:lstStyle/>
          <a:p>
            <a:pPr marL="0" indent="0">
              <a:buNone/>
            </a:pPr>
            <a:r>
              <a:rPr lang="en-US" sz="1350" b="1" dirty="0">
                <a:solidFill>
                  <a:srgbClr val="16202E"/>
                </a:solidFill>
                <a:latin typeface="Calibri" pitchFamily="34" charset="0"/>
                <a:ea typeface="Calibri" pitchFamily="34" charset="-122"/>
                <a:cs typeface="Calibri" pitchFamily="34" charset="-120"/>
              </a:rPr>
              <a:t>Year 2: financial forecast</a:t>
            </a:r>
            <a:endParaRPr lang="en-US" sz="1350" dirty="0"/>
          </a:p>
        </p:txBody>
      </p:sp>
      <p:sp>
        <p:nvSpPr>
          <p:cNvPr id="28" name="Text 26"/>
          <p:cNvSpPr txBox="1"/>
          <p:nvPr/>
        </p:nvSpPr>
        <p:spPr>
          <a:xfrm>
            <a:off x="1042416" y="5385816"/>
            <a:ext cx="4663440" cy="274320"/>
          </a:xfrm>
          <a:prstGeom prst="rect">
            <a:avLst/>
          </a:prstGeom>
          <a:noFill/>
          <a:ln/>
        </p:spPr>
        <p:txBody>
          <a:bodyPr wrap="square" lIns="0" tIns="0" rIns="0" bIns="0" rtlCol="0" anchor="ctr"/>
          <a:lstStyle/>
          <a:p>
            <a:pPr marL="0" indent="0">
              <a:buNone/>
            </a:pPr>
            <a:r>
              <a:rPr lang="en-US" sz="1050" dirty="0">
                <a:solidFill>
                  <a:srgbClr val="5C6672"/>
                </a:solidFill>
                <a:latin typeface="Calibri" pitchFamily="34" charset="0"/>
                <a:ea typeface="Calibri" pitchFamily="34" charset="-122"/>
                <a:cs typeface="Calibri" pitchFamily="34" charset="-120"/>
              </a:rPr>
              <a:t>Projected income statement, risk, alternatives</a:t>
            </a:r>
            <a:endParaRPr lang="en-US" sz="1050" dirty="0"/>
          </a:p>
        </p:txBody>
      </p:sp>
      <p:sp>
        <p:nvSpPr>
          <p:cNvPr id="29" name="Text 27"/>
          <p:cNvSpPr txBox="1"/>
          <p:nvPr/>
        </p:nvSpPr>
        <p:spPr>
          <a:xfrm>
            <a:off x="6263640" y="1298448"/>
            <a:ext cx="53949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WHO PRESENTS WHAT</a:t>
            </a:r>
            <a:endParaRPr lang="en-US" sz="1250" dirty="0"/>
          </a:p>
        </p:txBody>
      </p:sp>
      <p:sp>
        <p:nvSpPr>
          <p:cNvPr id="30" name="Shape 28"/>
          <p:cNvSpPr/>
          <p:nvPr/>
        </p:nvSpPr>
        <p:spPr>
          <a:xfrm>
            <a:off x="6263640" y="1645920"/>
            <a:ext cx="5376672" cy="694944"/>
          </a:xfrm>
          <a:prstGeom prst="roundRect">
            <a:avLst>
              <a:gd name="adj" fmla="val 9211"/>
            </a:avLst>
          </a:prstGeom>
          <a:solidFill>
            <a:srgbClr val="EDEFF2"/>
          </a:solidFill>
          <a:ln/>
        </p:spPr>
        <p:txBody>
          <a:bodyPr/>
          <a:lstStyle/>
          <a:p>
            <a:endParaRPr lang="en-DE"/>
          </a:p>
        </p:txBody>
      </p:sp>
      <p:sp>
        <p:nvSpPr>
          <p:cNvPr id="31" name="Text 29"/>
          <p:cNvSpPr txBox="1"/>
          <p:nvPr/>
        </p:nvSpPr>
        <p:spPr>
          <a:xfrm>
            <a:off x="6446520" y="1719072"/>
            <a:ext cx="2468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Managing Director</a:t>
            </a:r>
            <a:endParaRPr lang="en-US" sz="1200" dirty="0"/>
          </a:p>
        </p:txBody>
      </p:sp>
      <p:sp>
        <p:nvSpPr>
          <p:cNvPr id="32" name="Text 30"/>
          <p:cNvSpPr txBox="1"/>
          <p:nvPr/>
        </p:nvSpPr>
        <p:spPr>
          <a:xfrm>
            <a:off x="8915400" y="1719072"/>
            <a:ext cx="2560320" cy="274320"/>
          </a:xfrm>
          <a:prstGeom prst="rect">
            <a:avLst/>
          </a:prstGeom>
          <a:noFill/>
          <a:ln/>
        </p:spPr>
        <p:txBody>
          <a:bodyPr wrap="square" lIns="0" tIns="0" rIns="0" bIns="0" rtlCol="0" anchor="ctr"/>
          <a:lstStyle/>
          <a:p>
            <a:pPr marL="0" indent="0" algn="r">
              <a:buNone/>
            </a:pPr>
            <a:r>
              <a:rPr lang="en-US" sz="1200" b="1" dirty="0">
                <a:solidFill>
                  <a:srgbClr val="C8952F"/>
                </a:solidFill>
                <a:latin typeface="Calibri" pitchFamily="34" charset="0"/>
                <a:cs typeface="Calibri" pitchFamily="34" charset="-120"/>
              </a:rPr>
              <a:t>Anthony</a:t>
            </a:r>
            <a:endParaRPr lang="en-US" sz="1200" dirty="0"/>
          </a:p>
        </p:txBody>
      </p:sp>
      <p:sp>
        <p:nvSpPr>
          <p:cNvPr id="33" name="Text 31"/>
          <p:cNvSpPr txBox="1"/>
          <p:nvPr/>
        </p:nvSpPr>
        <p:spPr>
          <a:xfrm>
            <a:off x="6446520" y="1993392"/>
            <a:ext cx="5029200" cy="292608"/>
          </a:xfrm>
          <a:prstGeom prst="rect">
            <a:avLst/>
          </a:prstGeom>
          <a:noFill/>
          <a:ln/>
        </p:spPr>
        <p:txBody>
          <a:bodyPr wrap="square" lIns="0" tIns="0" rIns="0" bIns="0" rtlCol="0" anchor="ctr"/>
          <a:lstStyle/>
          <a:p>
            <a:pPr marL="0" indent="0">
              <a:buNone/>
            </a:pPr>
            <a:r>
              <a:rPr lang="en-US" sz="1000" dirty="0">
                <a:solidFill>
                  <a:srgbClr val="5C6672"/>
                </a:solidFill>
                <a:latin typeface="Calibri" pitchFamily="34" charset="0"/>
                <a:ea typeface="Calibri" pitchFamily="34" charset="-122"/>
                <a:cs typeface="Calibri" pitchFamily="34" charset="-120"/>
              </a:rPr>
              <a:t>Company strategy, market and competitor read, coordination</a:t>
            </a:r>
            <a:endParaRPr lang="en-US" sz="1000" dirty="0"/>
          </a:p>
        </p:txBody>
      </p:sp>
      <p:sp>
        <p:nvSpPr>
          <p:cNvPr id="34" name="Shape 32"/>
          <p:cNvSpPr/>
          <p:nvPr/>
        </p:nvSpPr>
        <p:spPr>
          <a:xfrm>
            <a:off x="6263640" y="2432304"/>
            <a:ext cx="5376672" cy="694944"/>
          </a:xfrm>
          <a:prstGeom prst="roundRect">
            <a:avLst>
              <a:gd name="adj" fmla="val 9211"/>
            </a:avLst>
          </a:prstGeom>
          <a:solidFill>
            <a:srgbClr val="EDEFF2"/>
          </a:solidFill>
          <a:ln/>
        </p:spPr>
        <p:txBody>
          <a:bodyPr/>
          <a:lstStyle/>
          <a:p>
            <a:endParaRPr lang="en-DE"/>
          </a:p>
        </p:txBody>
      </p:sp>
      <p:sp>
        <p:nvSpPr>
          <p:cNvPr id="35" name="Text 33"/>
          <p:cNvSpPr txBox="1"/>
          <p:nvPr/>
        </p:nvSpPr>
        <p:spPr>
          <a:xfrm>
            <a:off x="6446520" y="2505456"/>
            <a:ext cx="2468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Marketing Director</a:t>
            </a:r>
            <a:endParaRPr lang="en-US" sz="1200" dirty="0"/>
          </a:p>
        </p:txBody>
      </p:sp>
      <p:sp>
        <p:nvSpPr>
          <p:cNvPr id="36" name="Text 34"/>
          <p:cNvSpPr txBox="1"/>
          <p:nvPr/>
        </p:nvSpPr>
        <p:spPr>
          <a:xfrm>
            <a:off x="8915400" y="2505456"/>
            <a:ext cx="2560320" cy="274320"/>
          </a:xfrm>
          <a:prstGeom prst="rect">
            <a:avLst/>
          </a:prstGeom>
          <a:noFill/>
          <a:ln/>
        </p:spPr>
        <p:txBody>
          <a:bodyPr wrap="square" lIns="0" tIns="0" rIns="0" bIns="0" rtlCol="0" anchor="ctr"/>
          <a:lstStyle/>
          <a:p>
            <a:pPr marL="0" indent="0" algn="r">
              <a:buNone/>
            </a:pPr>
            <a:r>
              <a:rPr lang="en-US" sz="1200" b="1" dirty="0">
                <a:solidFill>
                  <a:srgbClr val="C8952F"/>
                </a:solidFill>
                <a:latin typeface="Calibri" pitchFamily="34" charset="0"/>
                <a:cs typeface="Calibri" pitchFamily="34" charset="-120"/>
              </a:rPr>
              <a:t>Casey</a:t>
            </a:r>
            <a:endParaRPr lang="en-US" sz="1200" dirty="0"/>
          </a:p>
        </p:txBody>
      </p:sp>
      <p:sp>
        <p:nvSpPr>
          <p:cNvPr id="37" name="Text 35"/>
          <p:cNvSpPr txBox="1"/>
          <p:nvPr/>
        </p:nvSpPr>
        <p:spPr>
          <a:xfrm>
            <a:off x="6446520" y="2779776"/>
            <a:ext cx="5029200" cy="292608"/>
          </a:xfrm>
          <a:prstGeom prst="rect">
            <a:avLst/>
          </a:prstGeom>
          <a:noFill/>
          <a:ln/>
        </p:spPr>
        <p:txBody>
          <a:bodyPr wrap="square" lIns="0" tIns="0" rIns="0" bIns="0" rtlCol="0" anchor="ctr"/>
          <a:lstStyle/>
          <a:p>
            <a:pPr marL="0" indent="0">
              <a:buNone/>
            </a:pPr>
            <a:r>
              <a:rPr lang="en-US" sz="1000" dirty="0">
                <a:solidFill>
                  <a:srgbClr val="5C6672"/>
                </a:solidFill>
                <a:latin typeface="Calibri" pitchFamily="34" charset="0"/>
                <a:ea typeface="Calibri" pitchFamily="34" charset="-122"/>
                <a:cs typeface="Calibri" pitchFamily="34" charset="-120"/>
              </a:rPr>
              <a:t>Portfolio, positioning, price, distribution, advertising, promotions</a:t>
            </a:r>
            <a:endParaRPr lang="en-US" sz="1000" dirty="0"/>
          </a:p>
        </p:txBody>
      </p:sp>
      <p:sp>
        <p:nvSpPr>
          <p:cNvPr id="38" name="Shape 36"/>
          <p:cNvSpPr/>
          <p:nvPr/>
        </p:nvSpPr>
        <p:spPr>
          <a:xfrm>
            <a:off x="6263640" y="3218688"/>
            <a:ext cx="5376672" cy="694944"/>
          </a:xfrm>
          <a:prstGeom prst="roundRect">
            <a:avLst>
              <a:gd name="adj" fmla="val 9211"/>
            </a:avLst>
          </a:prstGeom>
          <a:solidFill>
            <a:srgbClr val="EDEFF2"/>
          </a:solidFill>
          <a:ln/>
        </p:spPr>
        <p:txBody>
          <a:bodyPr/>
          <a:lstStyle/>
          <a:p>
            <a:endParaRPr lang="en-DE"/>
          </a:p>
        </p:txBody>
      </p:sp>
      <p:sp>
        <p:nvSpPr>
          <p:cNvPr id="39" name="Text 37"/>
          <p:cNvSpPr txBox="1"/>
          <p:nvPr/>
        </p:nvSpPr>
        <p:spPr>
          <a:xfrm>
            <a:off x="6446520" y="3291840"/>
            <a:ext cx="2468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Operations Director</a:t>
            </a:r>
            <a:endParaRPr lang="en-US" sz="1200" dirty="0"/>
          </a:p>
        </p:txBody>
      </p:sp>
      <p:sp>
        <p:nvSpPr>
          <p:cNvPr id="40" name="Text 38"/>
          <p:cNvSpPr txBox="1"/>
          <p:nvPr/>
        </p:nvSpPr>
        <p:spPr>
          <a:xfrm>
            <a:off x="8915400" y="3291840"/>
            <a:ext cx="2560320" cy="274320"/>
          </a:xfrm>
          <a:prstGeom prst="rect">
            <a:avLst/>
          </a:prstGeom>
          <a:noFill/>
          <a:ln/>
        </p:spPr>
        <p:txBody>
          <a:bodyPr wrap="square" lIns="0" tIns="0" rIns="0" bIns="0" rtlCol="0" anchor="ctr"/>
          <a:lstStyle/>
          <a:p>
            <a:pPr marL="0" indent="0" algn="r">
              <a:buNone/>
            </a:pPr>
            <a:r>
              <a:rPr lang="en-US" sz="1200" b="1" dirty="0">
                <a:solidFill>
                  <a:srgbClr val="C8952F"/>
                </a:solidFill>
                <a:latin typeface="Calibri" pitchFamily="34" charset="0"/>
                <a:cs typeface="Calibri" pitchFamily="34" charset="-120"/>
              </a:rPr>
              <a:t>Sarah</a:t>
            </a:r>
            <a:endParaRPr lang="en-US" sz="1200" dirty="0"/>
          </a:p>
        </p:txBody>
      </p:sp>
      <p:sp>
        <p:nvSpPr>
          <p:cNvPr id="41" name="Text 39"/>
          <p:cNvSpPr txBox="1"/>
          <p:nvPr/>
        </p:nvSpPr>
        <p:spPr>
          <a:xfrm>
            <a:off x="6446520" y="3566160"/>
            <a:ext cx="5029200" cy="292608"/>
          </a:xfrm>
          <a:prstGeom prst="rect">
            <a:avLst/>
          </a:prstGeom>
          <a:noFill/>
          <a:ln/>
        </p:spPr>
        <p:txBody>
          <a:bodyPr wrap="square" lIns="0" tIns="0" rIns="0" bIns="0" rtlCol="0" anchor="ctr"/>
          <a:lstStyle/>
          <a:p>
            <a:pPr marL="0" indent="0">
              <a:buNone/>
            </a:pPr>
            <a:r>
              <a:rPr lang="en-US" sz="1000" dirty="0">
                <a:solidFill>
                  <a:srgbClr val="5C6672"/>
                </a:solidFill>
                <a:latin typeface="Calibri" pitchFamily="34" charset="0"/>
                <a:ea typeface="Calibri" pitchFamily="34" charset="-122"/>
                <a:cs typeface="Calibri" pitchFamily="34" charset="-120"/>
              </a:rPr>
              <a:t>Capacity, production plan, productivity, supply chain, logistics</a:t>
            </a:r>
            <a:endParaRPr lang="en-US" sz="1000" dirty="0"/>
          </a:p>
        </p:txBody>
      </p:sp>
      <p:sp>
        <p:nvSpPr>
          <p:cNvPr id="42" name="Shape 40"/>
          <p:cNvSpPr/>
          <p:nvPr/>
        </p:nvSpPr>
        <p:spPr>
          <a:xfrm>
            <a:off x="6263640" y="4005072"/>
            <a:ext cx="5376672" cy="694944"/>
          </a:xfrm>
          <a:prstGeom prst="roundRect">
            <a:avLst>
              <a:gd name="adj" fmla="val 9211"/>
            </a:avLst>
          </a:prstGeom>
          <a:solidFill>
            <a:srgbClr val="EDEFF2"/>
          </a:solidFill>
          <a:ln/>
        </p:spPr>
        <p:txBody>
          <a:bodyPr/>
          <a:lstStyle/>
          <a:p>
            <a:endParaRPr lang="en-DE"/>
          </a:p>
        </p:txBody>
      </p:sp>
      <p:sp>
        <p:nvSpPr>
          <p:cNvPr id="43" name="Text 41"/>
          <p:cNvSpPr txBox="1"/>
          <p:nvPr/>
        </p:nvSpPr>
        <p:spPr>
          <a:xfrm>
            <a:off x="6446520" y="4078224"/>
            <a:ext cx="2468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HR Director</a:t>
            </a:r>
            <a:endParaRPr lang="en-US" sz="1200" dirty="0"/>
          </a:p>
        </p:txBody>
      </p:sp>
      <p:sp>
        <p:nvSpPr>
          <p:cNvPr id="44" name="Text 42"/>
          <p:cNvSpPr txBox="1"/>
          <p:nvPr/>
        </p:nvSpPr>
        <p:spPr>
          <a:xfrm>
            <a:off x="8915400" y="4078224"/>
            <a:ext cx="2560320" cy="274320"/>
          </a:xfrm>
          <a:prstGeom prst="rect">
            <a:avLst/>
          </a:prstGeom>
          <a:noFill/>
          <a:ln/>
        </p:spPr>
        <p:txBody>
          <a:bodyPr wrap="square" lIns="0" tIns="0" rIns="0" bIns="0" rtlCol="0" anchor="ctr"/>
          <a:lstStyle/>
          <a:p>
            <a:pPr marL="0" indent="0" algn="r">
              <a:buNone/>
            </a:pPr>
            <a:r>
              <a:rPr lang="en-US" sz="1200" b="1" dirty="0">
                <a:solidFill>
                  <a:srgbClr val="C8952F"/>
                </a:solidFill>
                <a:latin typeface="Calibri" pitchFamily="34" charset="0"/>
                <a:cs typeface="Calibri" pitchFamily="34" charset="-120"/>
              </a:rPr>
              <a:t>Lorena, Maximo</a:t>
            </a:r>
            <a:endParaRPr lang="en-US" sz="1200" dirty="0"/>
          </a:p>
        </p:txBody>
      </p:sp>
      <p:sp>
        <p:nvSpPr>
          <p:cNvPr id="45" name="Text 43"/>
          <p:cNvSpPr txBox="1"/>
          <p:nvPr/>
        </p:nvSpPr>
        <p:spPr>
          <a:xfrm>
            <a:off x="6446520" y="4352544"/>
            <a:ext cx="5029200" cy="292608"/>
          </a:xfrm>
          <a:prstGeom prst="rect">
            <a:avLst/>
          </a:prstGeom>
          <a:noFill/>
          <a:ln/>
        </p:spPr>
        <p:txBody>
          <a:bodyPr wrap="square" lIns="0" tIns="0" rIns="0" bIns="0" rtlCol="0" anchor="ctr"/>
          <a:lstStyle/>
          <a:p>
            <a:pPr marL="0" indent="0">
              <a:buNone/>
            </a:pPr>
            <a:r>
              <a:rPr lang="en-US" sz="1000" dirty="0">
                <a:solidFill>
                  <a:srgbClr val="5C6672"/>
                </a:solidFill>
                <a:latin typeface="Calibri" pitchFamily="34" charset="0"/>
                <a:ea typeface="Calibri" pitchFamily="34" charset="-122"/>
                <a:cs typeface="Calibri" pitchFamily="34" charset="-120"/>
              </a:rPr>
              <a:t>Headcount, salaries, turnover, training, sales-force incentives</a:t>
            </a:r>
            <a:endParaRPr lang="en-US" sz="1000" dirty="0"/>
          </a:p>
        </p:txBody>
      </p:sp>
      <p:sp>
        <p:nvSpPr>
          <p:cNvPr id="46" name="Shape 44"/>
          <p:cNvSpPr/>
          <p:nvPr/>
        </p:nvSpPr>
        <p:spPr>
          <a:xfrm>
            <a:off x="6263640" y="4791456"/>
            <a:ext cx="5376672" cy="694944"/>
          </a:xfrm>
          <a:prstGeom prst="roundRect">
            <a:avLst>
              <a:gd name="adj" fmla="val 9211"/>
            </a:avLst>
          </a:prstGeom>
          <a:solidFill>
            <a:srgbClr val="EDEFF2"/>
          </a:solidFill>
          <a:ln/>
        </p:spPr>
        <p:txBody>
          <a:bodyPr/>
          <a:lstStyle/>
          <a:p>
            <a:endParaRPr lang="en-DE"/>
          </a:p>
        </p:txBody>
      </p:sp>
      <p:sp>
        <p:nvSpPr>
          <p:cNvPr id="47" name="Text 45"/>
          <p:cNvSpPr txBox="1"/>
          <p:nvPr/>
        </p:nvSpPr>
        <p:spPr>
          <a:xfrm>
            <a:off x="6446520" y="4864608"/>
            <a:ext cx="2468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Finance Director</a:t>
            </a:r>
            <a:endParaRPr lang="en-US" sz="1200" dirty="0"/>
          </a:p>
        </p:txBody>
      </p:sp>
      <p:sp>
        <p:nvSpPr>
          <p:cNvPr id="48" name="Text 46"/>
          <p:cNvSpPr txBox="1"/>
          <p:nvPr/>
        </p:nvSpPr>
        <p:spPr>
          <a:xfrm>
            <a:off x="8915400" y="4864608"/>
            <a:ext cx="2560320" cy="274320"/>
          </a:xfrm>
          <a:prstGeom prst="rect">
            <a:avLst/>
          </a:prstGeom>
          <a:noFill/>
          <a:ln/>
        </p:spPr>
        <p:txBody>
          <a:bodyPr wrap="square" lIns="0" tIns="0" rIns="0" bIns="0" rtlCol="0" anchor="ctr"/>
          <a:lstStyle/>
          <a:p>
            <a:pPr marL="0" indent="0" algn="r">
              <a:buNone/>
            </a:pPr>
            <a:r>
              <a:rPr lang="en-US" sz="1200" b="1" dirty="0">
                <a:solidFill>
                  <a:srgbClr val="C8952F"/>
                </a:solidFill>
                <a:latin typeface="Calibri" pitchFamily="34" charset="0"/>
                <a:cs typeface="Calibri" pitchFamily="34" charset="-120"/>
              </a:rPr>
              <a:t>Angelo</a:t>
            </a:r>
            <a:endParaRPr lang="en-US" sz="1200" dirty="0"/>
          </a:p>
        </p:txBody>
      </p:sp>
      <p:sp>
        <p:nvSpPr>
          <p:cNvPr id="49" name="Text 47"/>
          <p:cNvSpPr txBox="1"/>
          <p:nvPr/>
        </p:nvSpPr>
        <p:spPr>
          <a:xfrm>
            <a:off x="6446520" y="5138928"/>
            <a:ext cx="5029200" cy="292608"/>
          </a:xfrm>
          <a:prstGeom prst="rect">
            <a:avLst/>
          </a:prstGeom>
          <a:noFill/>
          <a:ln/>
        </p:spPr>
        <p:txBody>
          <a:bodyPr wrap="square" lIns="0" tIns="0" rIns="0" bIns="0" rtlCol="0" anchor="ctr"/>
          <a:lstStyle/>
          <a:p>
            <a:pPr marL="0" indent="0">
              <a:buNone/>
            </a:pPr>
            <a:r>
              <a:rPr lang="en-US" sz="1000" dirty="0">
                <a:solidFill>
                  <a:srgbClr val="5C6672"/>
                </a:solidFill>
                <a:latin typeface="Calibri" pitchFamily="34" charset="0"/>
                <a:ea typeface="Calibri" pitchFamily="34" charset="-122"/>
                <a:cs typeface="Calibri" pitchFamily="34" charset="-120"/>
              </a:rPr>
              <a:t>P&amp;L, balance sheet, ratios, cash, financing instruments</a:t>
            </a:r>
            <a:endParaRPr lang="en-US" sz="1000" dirty="0"/>
          </a:p>
        </p:txBody>
      </p:sp>
      <p:sp>
        <p:nvSpPr>
          <p:cNvPr id="50" name="Text 48"/>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Replace [Name] with the team members before the meeting — the evaluation guidelines require each member's role to be identified in the presentation handed in. Speaking time is shared equally across the five roles.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566928" y="2468880"/>
            <a:ext cx="658368" cy="658368"/>
          </a:xfrm>
          <a:prstGeom prst="ellipse">
            <a:avLst/>
          </a:prstGeom>
          <a:solidFill>
            <a:srgbClr val="C8952F"/>
          </a:solidFill>
          <a:ln/>
        </p:spPr>
        <p:txBody>
          <a:bodyPr/>
          <a:lstStyle/>
          <a:p>
            <a:endParaRPr lang="en-DE"/>
          </a:p>
        </p:txBody>
      </p:sp>
      <p:sp>
        <p:nvSpPr>
          <p:cNvPr id="3" name="Text 1"/>
          <p:cNvSpPr txBox="1"/>
          <p:nvPr/>
        </p:nvSpPr>
        <p:spPr>
          <a:xfrm>
            <a:off x="566928" y="2468880"/>
            <a:ext cx="658368" cy="658368"/>
          </a:xfrm>
          <a:prstGeom prst="rect">
            <a:avLst/>
          </a:prstGeom>
          <a:noFill/>
          <a:ln/>
        </p:spPr>
        <p:txBody>
          <a:bodyPr wrap="square" lIns="0" tIns="0" rIns="0" bIns="0" rtlCol="0" anchor="ctr"/>
          <a:lstStyle/>
          <a:p>
            <a:pPr marL="0" indent="0" algn="ctr">
              <a:buNone/>
            </a:pPr>
            <a:r>
              <a:rPr lang="en-US" sz="2400" b="1" dirty="0">
                <a:solidFill>
                  <a:srgbClr val="13233F"/>
                </a:solidFill>
                <a:latin typeface="Cambria" pitchFamily="34" charset="0"/>
                <a:ea typeface="Cambria" pitchFamily="34" charset="-122"/>
                <a:cs typeface="Cambria" pitchFamily="34" charset="-120"/>
              </a:rPr>
              <a:t>1</a:t>
            </a:r>
            <a:endParaRPr lang="en-US" sz="2400" dirty="0"/>
          </a:p>
        </p:txBody>
      </p:sp>
      <p:sp>
        <p:nvSpPr>
          <p:cNvPr id="4" name="Text 2"/>
          <p:cNvSpPr txBox="1"/>
          <p:nvPr/>
        </p:nvSpPr>
        <p:spPr>
          <a:xfrm>
            <a:off x="1417320" y="2395728"/>
            <a:ext cx="10058400" cy="658368"/>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Introduction to the company</a:t>
            </a:r>
            <a:endParaRPr lang="en-US" sz="3600" dirty="0"/>
          </a:p>
        </p:txBody>
      </p:sp>
      <p:sp>
        <p:nvSpPr>
          <p:cNvPr id="5" name="Text 3"/>
          <p:cNvSpPr txBox="1"/>
          <p:nvPr/>
        </p:nvSpPr>
        <p:spPr>
          <a:xfrm>
            <a:off x="1417320" y="3154680"/>
            <a:ext cx="9509760" cy="731520"/>
          </a:xfrm>
          <a:prstGeom prst="rect">
            <a:avLst/>
          </a:prstGeom>
          <a:noFill/>
          <a:ln/>
        </p:spPr>
        <p:txBody>
          <a:bodyPr wrap="square" lIns="0" tIns="0" rIns="0" bIns="0" rtlCol="0" anchor="ctr"/>
          <a:lstStyle/>
          <a:p>
            <a:pPr marL="0" indent="0">
              <a:lnSpc>
                <a:spcPts val="2200"/>
              </a:lnSpc>
              <a:buNone/>
            </a:pPr>
            <a:r>
              <a:rPr lang="en-US" sz="1500" dirty="0">
                <a:solidFill>
                  <a:srgbClr val="C3CCDA"/>
                </a:solidFill>
                <a:latin typeface="Calibri" pitchFamily="34" charset="0"/>
                <a:ea typeface="Calibri" pitchFamily="34" charset="-122"/>
                <a:cs typeface="Calibri" pitchFamily="34" charset="-120"/>
              </a:rPr>
              <a:t>Market size · Our strategy · Brand and market-share goals   —   presented by the Managing Director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1 · INTRODUCTION</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The market we compete in</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Managing Director</a:t>
            </a:r>
            <a:endParaRPr lang="en-US" sz="1100" dirty="0"/>
          </a:p>
        </p:txBody>
      </p:sp>
      <p:graphicFrame>
        <p:nvGraphicFramePr>
          <p:cNvPr id="6" name="Chart 0"/>
          <p:cNvGraphicFramePr/>
          <p:nvPr/>
        </p:nvGraphicFramePr>
        <p:xfrm>
          <a:off x="566928" y="1435608"/>
          <a:ext cx="6400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66928" y="5596128"/>
            <a:ext cx="6400800"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Units sold by all participating companies, Year 1</a:t>
            </a:r>
            <a:endParaRPr lang="en-US" sz="1000" dirty="0"/>
          </a:p>
        </p:txBody>
      </p:sp>
      <p:sp>
        <p:nvSpPr>
          <p:cNvPr id="8" name="Text 5"/>
          <p:cNvSpPr txBox="1"/>
          <p:nvPr/>
        </p:nvSpPr>
        <p:spPr>
          <a:xfrm>
            <a:off x="7269480" y="1389888"/>
            <a:ext cx="438912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WHAT THE MARKET LOOKS LIKE</a:t>
            </a:r>
            <a:endParaRPr lang="en-US" sz="1250" dirty="0"/>
          </a:p>
        </p:txBody>
      </p:sp>
      <p:sp>
        <p:nvSpPr>
          <p:cNvPr id="9" name="Text 6"/>
          <p:cNvSpPr txBox="1"/>
          <p:nvPr/>
        </p:nvSpPr>
        <p:spPr>
          <a:xfrm>
            <a:off x="7269480" y="1737360"/>
            <a:ext cx="4389120" cy="3657600"/>
          </a:xfrm>
          <a:prstGeom prst="rect">
            <a:avLst/>
          </a:prstGeom>
          <a:noFill/>
          <a:ln/>
        </p:spPr>
        <p:txBody>
          <a:bodyPr wrap="square" lIns="0" tIns="0" rIns="0" bIns="0" rtlCol="0" anchor="t"/>
          <a:lstStyle/>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51.4 million units were sold in Year 1. Product H is 74% of the volume, product S 26%.</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Market A is the volume market for both products; market B is a smaller, richer market (35,000 € per capita vs 27,000 €).</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Market E is effectively unopened: 98,165 units between the two companies that entered, against a theoretical potential of 110 million units.</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Price is the real segmentation: S sold from 8.00 € to 14.50 €, H from 6.50 € to 12.00 €. The industry is not competing on the same customer.</a:t>
            </a:r>
            <a:endParaRPr lang="en-US" sz="1250" dirty="0"/>
          </a:p>
        </p:txBody>
      </p:sp>
      <p:sp>
        <p:nvSpPr>
          <p:cNvPr id="10" name="Text 7"/>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 Surveys 1, 2 and 3 (units by company and market) and Survey 20 (retail prices), Year 1 results.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1 · INTRODUCTION</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What kind of company we want to be</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Managing Director</a:t>
            </a:r>
            <a:endParaRPr lang="en-US" sz="1100" dirty="0"/>
          </a:p>
        </p:txBody>
      </p:sp>
      <p:sp>
        <p:nvSpPr>
          <p:cNvPr id="6" name="Text 4"/>
          <p:cNvSpPr txBox="1"/>
          <p:nvPr/>
        </p:nvSpPr>
        <p:spPr>
          <a:xfrm>
            <a:off x="566928" y="1298448"/>
            <a:ext cx="11064240" cy="658368"/>
          </a:xfrm>
          <a:prstGeom prst="rect">
            <a:avLst/>
          </a:prstGeom>
          <a:noFill/>
          <a:ln/>
        </p:spPr>
        <p:txBody>
          <a:bodyPr wrap="square" lIns="0" tIns="0" rIns="0" bIns="0" rtlCol="0" anchor="ctr"/>
          <a:lstStyle/>
          <a:p>
            <a:pPr marL="0" indent="0">
              <a:lnSpc>
                <a:spcPts val="2500"/>
              </a:lnSpc>
              <a:buNone/>
            </a:pPr>
            <a:r>
              <a:rPr lang="en-US" sz="1700" i="1" dirty="0">
                <a:solidFill>
                  <a:srgbClr val="13233F"/>
                </a:solidFill>
                <a:latin typeface="Cambria" pitchFamily="34" charset="0"/>
                <a:ea typeface="Cambria" pitchFamily="34" charset="-122"/>
                <a:cs typeface="Cambria" pitchFamily="34" charset="-120"/>
              </a:rPr>
              <a:t>The premium brand of the industry — and the most profitable one. We charge the highest price in the market and we earn the highest return on every unit we sell.</a:t>
            </a:r>
            <a:endParaRPr lang="en-US" sz="1700" dirty="0"/>
          </a:p>
        </p:txBody>
      </p:sp>
      <p:sp>
        <p:nvSpPr>
          <p:cNvPr id="7" name="Shape 5"/>
          <p:cNvSpPr/>
          <p:nvPr/>
        </p:nvSpPr>
        <p:spPr>
          <a:xfrm>
            <a:off x="566928" y="2167128"/>
            <a:ext cx="5440680" cy="2029968"/>
          </a:xfrm>
          <a:prstGeom prst="roundRect">
            <a:avLst>
              <a:gd name="adj" fmla="val 3153"/>
            </a:avLst>
          </a:prstGeom>
          <a:solidFill>
            <a:srgbClr val="EDEFF2"/>
          </a:solidFill>
          <a:ln/>
        </p:spPr>
        <p:txBody>
          <a:bodyPr/>
          <a:lstStyle/>
          <a:p>
            <a:endParaRPr lang="en-DE"/>
          </a:p>
        </p:txBody>
      </p:sp>
      <p:sp>
        <p:nvSpPr>
          <p:cNvPr id="8" name="Shape 6"/>
          <p:cNvSpPr/>
          <p:nvPr/>
        </p:nvSpPr>
        <p:spPr>
          <a:xfrm>
            <a:off x="795528" y="2386584"/>
            <a:ext cx="310896" cy="310896"/>
          </a:xfrm>
          <a:prstGeom prst="ellipse">
            <a:avLst/>
          </a:prstGeom>
          <a:solidFill>
            <a:srgbClr val="C8952F"/>
          </a:solidFill>
          <a:ln/>
        </p:spPr>
        <p:txBody>
          <a:bodyPr/>
          <a:lstStyle/>
          <a:p>
            <a:endParaRPr lang="en-DE"/>
          </a:p>
        </p:txBody>
      </p:sp>
      <p:sp>
        <p:nvSpPr>
          <p:cNvPr id="9" name="Text 7"/>
          <p:cNvSpPr txBox="1"/>
          <p:nvPr/>
        </p:nvSpPr>
        <p:spPr>
          <a:xfrm>
            <a:off x="795528" y="2386584"/>
            <a:ext cx="310896" cy="310896"/>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225296" y="2386584"/>
            <a:ext cx="45720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Premium, not cheap</a:t>
            </a:r>
            <a:endParaRPr lang="en-US" sz="1400" dirty="0"/>
          </a:p>
        </p:txBody>
      </p:sp>
      <p:sp>
        <p:nvSpPr>
          <p:cNvPr id="11" name="Text 9"/>
          <p:cNvSpPr txBox="1"/>
          <p:nvPr/>
        </p:nvSpPr>
        <p:spPr>
          <a:xfrm>
            <a:off x="795528" y="278892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16202E"/>
                </a:solidFill>
                <a:latin typeface="Calibri" pitchFamily="34" charset="0"/>
                <a:ea typeface="Calibri" pitchFamily="34" charset="-122"/>
                <a:cs typeface="Calibri" pitchFamily="34" charset="-120"/>
              </a:rPr>
              <a:t>S positioned at (1,8) — the quality corner — and priced at 14.50 €, the highest in the industry. We will defend the price before we defend the volume.</a:t>
            </a:r>
            <a:endParaRPr lang="en-US" sz="1150" dirty="0"/>
          </a:p>
        </p:txBody>
      </p:sp>
      <p:sp>
        <p:nvSpPr>
          <p:cNvPr id="12" name="Text 10"/>
          <p:cNvSpPr txBox="1"/>
          <p:nvPr/>
        </p:nvSpPr>
        <p:spPr>
          <a:xfrm>
            <a:off x="795528" y="3685032"/>
            <a:ext cx="4983480" cy="384048"/>
          </a:xfrm>
          <a:prstGeom prst="rect">
            <a:avLst/>
          </a:prstGeom>
          <a:noFill/>
          <a:ln/>
        </p:spPr>
        <p:txBody>
          <a:bodyPr wrap="square" lIns="0" tIns="0" rIns="0" bIns="0" rtlCol="0" anchor="ctr"/>
          <a:lstStyle/>
          <a:p>
            <a:pPr marL="0" indent="0">
              <a:lnSpc>
                <a:spcPts val="1300"/>
              </a:lnSpc>
              <a:buNone/>
            </a:pPr>
            <a:r>
              <a:rPr lang="en-US" sz="1000" i="1" dirty="0">
                <a:solidFill>
                  <a:srgbClr val="5C6672"/>
                </a:solidFill>
                <a:latin typeface="Calibri" pitchFamily="34" charset="0"/>
                <a:ea typeface="Calibri" pitchFamily="34" charset="-122"/>
                <a:cs typeface="Calibri" pitchFamily="34" charset="-120"/>
              </a:rPr>
              <a:t>Evidence: 52.7% share of market A for S at 71% above the cheapest rival.</a:t>
            </a:r>
            <a:endParaRPr lang="en-US" sz="1000" dirty="0"/>
          </a:p>
        </p:txBody>
      </p:sp>
      <p:sp>
        <p:nvSpPr>
          <p:cNvPr id="13" name="Shape 11"/>
          <p:cNvSpPr/>
          <p:nvPr/>
        </p:nvSpPr>
        <p:spPr>
          <a:xfrm>
            <a:off x="6199632" y="2167128"/>
            <a:ext cx="5440680" cy="2029968"/>
          </a:xfrm>
          <a:prstGeom prst="roundRect">
            <a:avLst>
              <a:gd name="adj" fmla="val 3153"/>
            </a:avLst>
          </a:prstGeom>
          <a:solidFill>
            <a:srgbClr val="EDEFF2"/>
          </a:solidFill>
          <a:ln/>
        </p:spPr>
        <p:txBody>
          <a:bodyPr/>
          <a:lstStyle/>
          <a:p>
            <a:endParaRPr lang="en-DE"/>
          </a:p>
        </p:txBody>
      </p:sp>
      <p:sp>
        <p:nvSpPr>
          <p:cNvPr id="14" name="Shape 12"/>
          <p:cNvSpPr/>
          <p:nvPr/>
        </p:nvSpPr>
        <p:spPr>
          <a:xfrm>
            <a:off x="6428232" y="2386584"/>
            <a:ext cx="310896" cy="310896"/>
          </a:xfrm>
          <a:prstGeom prst="ellipse">
            <a:avLst/>
          </a:prstGeom>
          <a:solidFill>
            <a:srgbClr val="C8952F"/>
          </a:solidFill>
          <a:ln/>
        </p:spPr>
        <p:txBody>
          <a:bodyPr/>
          <a:lstStyle/>
          <a:p>
            <a:endParaRPr lang="en-DE"/>
          </a:p>
        </p:txBody>
      </p:sp>
      <p:sp>
        <p:nvSpPr>
          <p:cNvPr id="15" name="Text 13"/>
          <p:cNvSpPr txBox="1"/>
          <p:nvPr/>
        </p:nvSpPr>
        <p:spPr>
          <a:xfrm>
            <a:off x="6428232" y="2386584"/>
            <a:ext cx="310896" cy="310896"/>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6858000" y="2386584"/>
            <a:ext cx="45720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Two products, two jobs</a:t>
            </a:r>
            <a:endParaRPr lang="en-US" sz="1400" dirty="0"/>
          </a:p>
        </p:txBody>
      </p:sp>
      <p:sp>
        <p:nvSpPr>
          <p:cNvPr id="17" name="Text 15"/>
          <p:cNvSpPr txBox="1"/>
          <p:nvPr/>
        </p:nvSpPr>
        <p:spPr>
          <a:xfrm>
            <a:off x="6428232" y="2788920"/>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16202E"/>
                </a:solidFill>
                <a:latin typeface="Calibri" pitchFamily="34" charset="0"/>
                <a:ea typeface="Calibri" pitchFamily="34" charset="-122"/>
                <a:cs typeface="Calibri" pitchFamily="34" charset="-120"/>
              </a:rPr>
              <a:t>S is the margin engine: 6.95 € of gross profit per unit. H is the volume and cash engine: 14.5 million units, 55% of revenue.</a:t>
            </a:r>
            <a:endParaRPr lang="en-US" sz="1150" dirty="0"/>
          </a:p>
        </p:txBody>
      </p:sp>
      <p:sp>
        <p:nvSpPr>
          <p:cNvPr id="18" name="Text 16"/>
          <p:cNvSpPr txBox="1"/>
          <p:nvPr/>
        </p:nvSpPr>
        <p:spPr>
          <a:xfrm>
            <a:off x="6428232" y="3685032"/>
            <a:ext cx="4983480" cy="384048"/>
          </a:xfrm>
          <a:prstGeom prst="rect">
            <a:avLst/>
          </a:prstGeom>
          <a:noFill/>
          <a:ln/>
        </p:spPr>
        <p:txBody>
          <a:bodyPr wrap="square" lIns="0" tIns="0" rIns="0" bIns="0" rtlCol="0" anchor="ctr"/>
          <a:lstStyle/>
          <a:p>
            <a:pPr marL="0" indent="0">
              <a:lnSpc>
                <a:spcPts val="1300"/>
              </a:lnSpc>
              <a:buNone/>
            </a:pPr>
            <a:r>
              <a:rPr lang="en-US" sz="1000" i="1" dirty="0">
                <a:solidFill>
                  <a:srgbClr val="5C6672"/>
                </a:solidFill>
                <a:latin typeface="Calibri" pitchFamily="34" charset="0"/>
                <a:ea typeface="Calibri" pitchFamily="34" charset="-122"/>
                <a:cs typeface="Calibri" pitchFamily="34" charset="-120"/>
              </a:rPr>
              <a:t>Evidence: S 55.2% gross margin, H 61.2% gross margin in Year 1.</a:t>
            </a:r>
            <a:endParaRPr lang="en-US" sz="1000" dirty="0"/>
          </a:p>
        </p:txBody>
      </p:sp>
      <p:sp>
        <p:nvSpPr>
          <p:cNvPr id="19" name="Shape 17"/>
          <p:cNvSpPr/>
          <p:nvPr/>
        </p:nvSpPr>
        <p:spPr>
          <a:xfrm>
            <a:off x="566928" y="4379976"/>
            <a:ext cx="5440680" cy="2029968"/>
          </a:xfrm>
          <a:prstGeom prst="roundRect">
            <a:avLst>
              <a:gd name="adj" fmla="val 3153"/>
            </a:avLst>
          </a:prstGeom>
          <a:solidFill>
            <a:srgbClr val="EDEFF2"/>
          </a:solidFill>
          <a:ln/>
        </p:spPr>
        <p:txBody>
          <a:bodyPr/>
          <a:lstStyle/>
          <a:p>
            <a:endParaRPr lang="en-DE"/>
          </a:p>
        </p:txBody>
      </p:sp>
      <p:sp>
        <p:nvSpPr>
          <p:cNvPr id="20" name="Shape 18"/>
          <p:cNvSpPr/>
          <p:nvPr/>
        </p:nvSpPr>
        <p:spPr>
          <a:xfrm>
            <a:off x="795528" y="4599432"/>
            <a:ext cx="310896" cy="310896"/>
          </a:xfrm>
          <a:prstGeom prst="ellipse">
            <a:avLst/>
          </a:prstGeom>
          <a:solidFill>
            <a:srgbClr val="C8952F"/>
          </a:solidFill>
          <a:ln/>
        </p:spPr>
        <p:txBody>
          <a:bodyPr/>
          <a:lstStyle/>
          <a:p>
            <a:endParaRPr lang="en-DE"/>
          </a:p>
        </p:txBody>
      </p:sp>
      <p:sp>
        <p:nvSpPr>
          <p:cNvPr id="21" name="Text 19"/>
          <p:cNvSpPr txBox="1"/>
          <p:nvPr/>
        </p:nvSpPr>
        <p:spPr>
          <a:xfrm>
            <a:off x="795528" y="4599432"/>
            <a:ext cx="310896" cy="310896"/>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1225296" y="4599432"/>
            <a:ext cx="45720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Scale where we already win</a:t>
            </a:r>
            <a:endParaRPr lang="en-US" sz="1400" dirty="0"/>
          </a:p>
        </p:txBody>
      </p:sp>
      <p:sp>
        <p:nvSpPr>
          <p:cNvPr id="23" name="Text 21"/>
          <p:cNvSpPr txBox="1"/>
          <p:nvPr/>
        </p:nvSpPr>
        <p:spPr>
          <a:xfrm>
            <a:off x="795528" y="5001768"/>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16202E"/>
                </a:solidFill>
                <a:latin typeface="Calibri" pitchFamily="34" charset="0"/>
                <a:ea typeface="Calibri" pitchFamily="34" charset="-122"/>
                <a:cs typeface="Calibri" pitchFamily="34" charset="-120"/>
              </a:rPr>
              <a:t>Grow A and B to their limit before spending on market E. Enter E only when the surveys tell us it can pay.</a:t>
            </a:r>
            <a:endParaRPr lang="en-US" sz="1150" dirty="0"/>
          </a:p>
        </p:txBody>
      </p:sp>
      <p:sp>
        <p:nvSpPr>
          <p:cNvPr id="24" name="Text 22"/>
          <p:cNvSpPr txBox="1"/>
          <p:nvPr/>
        </p:nvSpPr>
        <p:spPr>
          <a:xfrm>
            <a:off x="795528" y="5897880"/>
            <a:ext cx="4983480" cy="384048"/>
          </a:xfrm>
          <a:prstGeom prst="rect">
            <a:avLst/>
          </a:prstGeom>
          <a:noFill/>
          <a:ln/>
        </p:spPr>
        <p:txBody>
          <a:bodyPr wrap="square" lIns="0" tIns="0" rIns="0" bIns="0" rtlCol="0" anchor="ctr"/>
          <a:lstStyle/>
          <a:p>
            <a:pPr marL="0" indent="0">
              <a:lnSpc>
                <a:spcPts val="1300"/>
              </a:lnSpc>
              <a:buNone/>
            </a:pPr>
            <a:r>
              <a:rPr lang="en-US" sz="1000" i="1" dirty="0">
                <a:solidFill>
                  <a:srgbClr val="5C6672"/>
                </a:solidFill>
                <a:latin typeface="Calibri" pitchFamily="34" charset="0"/>
                <a:ea typeface="Calibri" pitchFamily="34" charset="-122"/>
                <a:cs typeface="Calibri" pitchFamily="34" charset="-120"/>
              </a:rPr>
              <a:t>Evidence: E delivered 98,165 units in total across the industry in Year 1.</a:t>
            </a:r>
            <a:endParaRPr lang="en-US" sz="1000" dirty="0"/>
          </a:p>
        </p:txBody>
      </p:sp>
      <p:sp>
        <p:nvSpPr>
          <p:cNvPr id="25" name="Shape 23"/>
          <p:cNvSpPr/>
          <p:nvPr/>
        </p:nvSpPr>
        <p:spPr>
          <a:xfrm>
            <a:off x="6199632" y="4379976"/>
            <a:ext cx="5440680" cy="2029968"/>
          </a:xfrm>
          <a:prstGeom prst="roundRect">
            <a:avLst>
              <a:gd name="adj" fmla="val 3153"/>
            </a:avLst>
          </a:prstGeom>
          <a:solidFill>
            <a:srgbClr val="EDEFF2"/>
          </a:solidFill>
          <a:ln/>
        </p:spPr>
        <p:txBody>
          <a:bodyPr/>
          <a:lstStyle/>
          <a:p>
            <a:endParaRPr lang="en-DE"/>
          </a:p>
        </p:txBody>
      </p:sp>
      <p:sp>
        <p:nvSpPr>
          <p:cNvPr id="26" name="Shape 24"/>
          <p:cNvSpPr/>
          <p:nvPr/>
        </p:nvSpPr>
        <p:spPr>
          <a:xfrm>
            <a:off x="6428232" y="4599432"/>
            <a:ext cx="310896" cy="310896"/>
          </a:xfrm>
          <a:prstGeom prst="ellipse">
            <a:avLst/>
          </a:prstGeom>
          <a:solidFill>
            <a:srgbClr val="C8952F"/>
          </a:solidFill>
          <a:ln/>
        </p:spPr>
        <p:txBody>
          <a:bodyPr/>
          <a:lstStyle/>
          <a:p>
            <a:endParaRPr lang="en-DE"/>
          </a:p>
        </p:txBody>
      </p:sp>
      <p:sp>
        <p:nvSpPr>
          <p:cNvPr id="27" name="Text 25"/>
          <p:cNvSpPr txBox="1"/>
          <p:nvPr/>
        </p:nvSpPr>
        <p:spPr>
          <a:xfrm>
            <a:off x="6428232" y="4599432"/>
            <a:ext cx="310896" cy="310896"/>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6858000" y="4599432"/>
            <a:ext cx="45720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Self-financed growth</a:t>
            </a:r>
            <a:endParaRPr lang="en-US" sz="1400" dirty="0"/>
          </a:p>
        </p:txBody>
      </p:sp>
      <p:sp>
        <p:nvSpPr>
          <p:cNvPr id="29" name="Text 27"/>
          <p:cNvSpPr txBox="1"/>
          <p:nvPr/>
        </p:nvSpPr>
        <p:spPr>
          <a:xfrm>
            <a:off x="6428232" y="5001768"/>
            <a:ext cx="4983480" cy="868680"/>
          </a:xfrm>
          <a:prstGeom prst="rect">
            <a:avLst/>
          </a:prstGeom>
          <a:noFill/>
          <a:ln/>
        </p:spPr>
        <p:txBody>
          <a:bodyPr wrap="square" lIns="0" tIns="0" rIns="0" bIns="0" rtlCol="0" anchor="ctr"/>
          <a:lstStyle/>
          <a:p>
            <a:pPr marL="0" indent="0">
              <a:lnSpc>
                <a:spcPts val="1500"/>
              </a:lnSpc>
              <a:buNone/>
            </a:pPr>
            <a:r>
              <a:rPr lang="en-US" sz="1150" dirty="0">
                <a:solidFill>
                  <a:srgbClr val="16202E"/>
                </a:solidFill>
                <a:latin typeface="Calibri" pitchFamily="34" charset="0"/>
                <a:ea typeface="Calibri" pitchFamily="34" charset="-122"/>
                <a:cs typeface="Calibri" pitchFamily="34" charset="-120"/>
              </a:rPr>
              <a:t>Fund capacity and stock from operating cash, not from debt. Every euro of interest is a euro of margin given away.</a:t>
            </a:r>
            <a:endParaRPr lang="en-US" sz="1150" dirty="0"/>
          </a:p>
        </p:txBody>
      </p:sp>
      <p:sp>
        <p:nvSpPr>
          <p:cNvPr id="30" name="Text 28"/>
          <p:cNvSpPr txBox="1"/>
          <p:nvPr/>
        </p:nvSpPr>
        <p:spPr>
          <a:xfrm>
            <a:off x="6428232" y="5897880"/>
            <a:ext cx="4983480" cy="384048"/>
          </a:xfrm>
          <a:prstGeom prst="rect">
            <a:avLst/>
          </a:prstGeom>
          <a:noFill/>
          <a:ln/>
        </p:spPr>
        <p:txBody>
          <a:bodyPr wrap="square" lIns="0" tIns="0" rIns="0" bIns="0" rtlCol="0" anchor="ctr"/>
          <a:lstStyle/>
          <a:p>
            <a:pPr marL="0" indent="0">
              <a:lnSpc>
                <a:spcPts val="1300"/>
              </a:lnSpc>
              <a:buNone/>
            </a:pPr>
            <a:r>
              <a:rPr lang="en-US" sz="1000" i="1" dirty="0">
                <a:solidFill>
                  <a:srgbClr val="5C6672"/>
                </a:solidFill>
                <a:latin typeface="Calibri" pitchFamily="34" charset="0"/>
                <a:ea typeface="Calibri" pitchFamily="34" charset="-122"/>
                <a:cs typeface="Calibri" pitchFamily="34" charset="-120"/>
              </a:rPr>
              <a:t>Evidence: 3.06 M € of financial expense in Year 1 while holding 46.9 M € of cash.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1 · INTRODUCTION</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Goals: brand perception and market share</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Managing Director</a:t>
            </a:r>
            <a:endParaRPr lang="en-US" sz="1100" dirty="0"/>
          </a:p>
        </p:txBody>
      </p:sp>
      <p:sp>
        <p:nvSpPr>
          <p:cNvPr id="6" name="Text 4"/>
          <p:cNvSpPr txBox="1"/>
          <p:nvPr/>
        </p:nvSpPr>
        <p:spPr>
          <a:xfrm>
            <a:off x="566928" y="1298448"/>
            <a:ext cx="548640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BRAND PERCEPTION — WHERE WE STAND AND WHERE WE GO</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110642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Brand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Position (X,Y)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Nearest rival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Goal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2062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markets A and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 8) quality corner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Co4 (2,8), Co2 (3,8)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Hold. Highest price, top-left corner — 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markets A and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 1) value corner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Co2 sits on the same (9,1)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Hold the position, close the price gap to Co2.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txBox="1"/>
          <p:nvPr/>
        </p:nvSpPr>
        <p:spPr>
          <a:xfrm>
            <a:off x="566928" y="2871216"/>
            <a:ext cx="548640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MARKET SHARE — YEAR 1 ACHIEVED AND YEAR 2 TARGET</a:t>
            </a:r>
            <a:endParaRPr lang="en-US" sz="12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66928" y="3182112"/>
          <a:ext cx="1106424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384048">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 in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 in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 in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 in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All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Year 1 achieved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52.7%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Year 2 target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 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5C6672"/>
                          </a:solidFill>
                          <a:latin typeface="Calibri" pitchFamily="34" charset="0"/>
                          <a:ea typeface="Calibri" pitchFamily="34" charset="-122"/>
                          <a:cs typeface="Calibri" pitchFamily="34" charset="-120"/>
                        </a:rPr>
                        <a:t>hold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3233F"/>
                          </a:solidFill>
                          <a:latin typeface="Calibri" pitchFamily="34" charset="0"/>
                          <a:ea typeface="Calibri" pitchFamily="34" charset="-122"/>
                          <a:cs typeface="Calibri" pitchFamily="34" charset="-120"/>
                        </a:rPr>
                        <a:t>≥ 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566928" y="4315968"/>
            <a:ext cx="3529584" cy="1481328"/>
          </a:xfrm>
          <a:prstGeom prst="roundRect">
            <a:avLst>
              <a:gd name="adj" fmla="val 4321"/>
            </a:avLst>
          </a:prstGeom>
          <a:solidFill>
            <a:srgbClr val="DDECE7"/>
          </a:solidFill>
          <a:ln/>
        </p:spPr>
        <p:txBody>
          <a:bodyPr/>
          <a:lstStyle/>
          <a:p>
            <a:endParaRPr lang="en-DE"/>
          </a:p>
        </p:txBody>
      </p:sp>
      <p:sp>
        <p:nvSpPr>
          <p:cNvPr id="11" name="Text 7"/>
          <p:cNvSpPr txBox="1"/>
          <p:nvPr/>
        </p:nvSpPr>
        <p:spPr>
          <a:xfrm>
            <a:off x="731520" y="4434840"/>
            <a:ext cx="3200400"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39.7% → 42%</a:t>
            </a:r>
            <a:endParaRPr lang="en-US" sz="2700" dirty="0"/>
          </a:p>
        </p:txBody>
      </p:sp>
      <p:sp>
        <p:nvSpPr>
          <p:cNvPr id="12" name="Text 8"/>
          <p:cNvSpPr txBox="1"/>
          <p:nvPr/>
        </p:nvSpPr>
        <p:spPr>
          <a:xfrm>
            <a:off x="731520"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Unit share of the whole industry</a:t>
            </a:r>
            <a:endParaRPr lang="en-US" sz="1150" dirty="0"/>
          </a:p>
        </p:txBody>
      </p:sp>
      <p:sp>
        <p:nvSpPr>
          <p:cNvPr id="9" name="Text 9"/>
          <p:cNvSpPr txBox="1"/>
          <p:nvPr/>
        </p:nvSpPr>
        <p:spPr>
          <a:xfrm>
            <a:off x="731520"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20.4 M of 51.4 M units in Year 1. Year-2 plan puts 21.7 M units into the same market.</a:t>
            </a:r>
            <a:endParaRPr lang="en-US" sz="1000" dirty="0"/>
          </a:p>
        </p:txBody>
      </p:sp>
      <p:sp>
        <p:nvSpPr>
          <p:cNvPr id="14" name="Shape 10"/>
          <p:cNvSpPr/>
          <p:nvPr/>
        </p:nvSpPr>
        <p:spPr>
          <a:xfrm>
            <a:off x="4334256" y="4315968"/>
            <a:ext cx="3529584" cy="1481328"/>
          </a:xfrm>
          <a:prstGeom prst="roundRect">
            <a:avLst>
              <a:gd name="adj" fmla="val 4321"/>
            </a:avLst>
          </a:prstGeom>
          <a:solidFill>
            <a:srgbClr val="EDEFF2"/>
          </a:solidFill>
          <a:ln/>
        </p:spPr>
        <p:txBody>
          <a:bodyPr/>
          <a:lstStyle/>
          <a:p>
            <a:endParaRPr lang="en-DE"/>
          </a:p>
        </p:txBody>
      </p:sp>
      <p:sp>
        <p:nvSpPr>
          <p:cNvPr id="15" name="Text 11"/>
          <p:cNvSpPr txBox="1"/>
          <p:nvPr/>
        </p:nvSpPr>
        <p:spPr>
          <a:xfrm>
            <a:off x="4498848" y="4434840"/>
            <a:ext cx="3200400"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No. 1 → stay No. 1</a:t>
            </a:r>
            <a:endParaRPr lang="en-US" sz="2700" dirty="0"/>
          </a:p>
        </p:txBody>
      </p:sp>
      <p:sp>
        <p:nvSpPr>
          <p:cNvPr id="16" name="Text 12"/>
          <p:cNvSpPr txBox="1"/>
          <p:nvPr/>
        </p:nvSpPr>
        <p:spPr>
          <a:xfrm>
            <a:off x="4498848"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Rank by accumulated profit</a:t>
            </a:r>
            <a:endParaRPr lang="en-US" sz="1150" dirty="0"/>
          </a:p>
        </p:txBody>
      </p:sp>
      <p:sp>
        <p:nvSpPr>
          <p:cNvPr id="17" name="Text 13"/>
          <p:cNvSpPr txBox="1"/>
          <p:nvPr/>
        </p:nvSpPr>
        <p:spPr>
          <a:xfrm>
            <a:off x="4498848"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67.8 M € against 59.5 M € for Co2. The lead is 8.3 M €, which is one bad decision wide.</a:t>
            </a:r>
            <a:endParaRPr lang="en-US" sz="1000" dirty="0"/>
          </a:p>
        </p:txBody>
      </p:sp>
      <p:sp>
        <p:nvSpPr>
          <p:cNvPr id="18" name="Shape 14"/>
          <p:cNvSpPr/>
          <p:nvPr/>
        </p:nvSpPr>
        <p:spPr>
          <a:xfrm>
            <a:off x="8101584" y="4315968"/>
            <a:ext cx="3529584" cy="1481328"/>
          </a:xfrm>
          <a:prstGeom prst="roundRect">
            <a:avLst>
              <a:gd name="adj" fmla="val 4321"/>
            </a:avLst>
          </a:prstGeom>
          <a:solidFill>
            <a:srgbClr val="DDECE7"/>
          </a:solidFill>
          <a:ln/>
        </p:spPr>
        <p:txBody>
          <a:bodyPr/>
          <a:lstStyle/>
          <a:p>
            <a:endParaRPr lang="en-DE"/>
          </a:p>
        </p:txBody>
      </p:sp>
      <p:sp>
        <p:nvSpPr>
          <p:cNvPr id="19" name="Text 15"/>
          <p:cNvSpPr txBox="1"/>
          <p:nvPr/>
        </p:nvSpPr>
        <p:spPr>
          <a:xfrm>
            <a:off x="8266176" y="4434840"/>
            <a:ext cx="3200400"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Price leader</a:t>
            </a:r>
            <a:endParaRPr lang="en-US" sz="2700" dirty="0"/>
          </a:p>
        </p:txBody>
      </p:sp>
      <p:sp>
        <p:nvSpPr>
          <p:cNvPr id="20" name="Text 16"/>
          <p:cNvSpPr txBox="1"/>
          <p:nvPr/>
        </p:nvSpPr>
        <p:spPr>
          <a:xfrm>
            <a:off x="8266176"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Brand perception goal</a:t>
            </a:r>
            <a:endParaRPr lang="en-US" sz="1150" dirty="0"/>
          </a:p>
        </p:txBody>
      </p:sp>
      <p:sp>
        <p:nvSpPr>
          <p:cNvPr id="21" name="Text 17"/>
          <p:cNvSpPr txBox="1"/>
          <p:nvPr/>
        </p:nvSpPr>
        <p:spPr>
          <a:xfrm>
            <a:off x="8266176"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Highest S price in the industry, sold out at that price. That is the perception we are defending.</a:t>
            </a:r>
            <a:endParaRPr lang="en-US" sz="1000" dirty="0"/>
          </a:p>
        </p:txBody>
      </p:sp>
      <p:sp>
        <p:nvSpPr>
          <p:cNvPr id="22" name="Text 18"/>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Share targets assume market size holds at Year-1 levels; no growth constant is given in the rulebook. Sources: Surveys 1, 2, 3, 7, 8,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566928" y="2468880"/>
            <a:ext cx="658368" cy="658368"/>
          </a:xfrm>
          <a:prstGeom prst="ellipse">
            <a:avLst/>
          </a:prstGeom>
          <a:solidFill>
            <a:srgbClr val="C8952F"/>
          </a:solidFill>
          <a:ln/>
        </p:spPr>
        <p:txBody>
          <a:bodyPr/>
          <a:lstStyle/>
          <a:p>
            <a:endParaRPr lang="en-DE"/>
          </a:p>
        </p:txBody>
      </p:sp>
      <p:sp>
        <p:nvSpPr>
          <p:cNvPr id="3" name="Text 1"/>
          <p:cNvSpPr txBox="1"/>
          <p:nvPr/>
        </p:nvSpPr>
        <p:spPr>
          <a:xfrm>
            <a:off x="566928" y="2468880"/>
            <a:ext cx="658368" cy="658368"/>
          </a:xfrm>
          <a:prstGeom prst="rect">
            <a:avLst/>
          </a:prstGeom>
          <a:noFill/>
          <a:ln/>
        </p:spPr>
        <p:txBody>
          <a:bodyPr wrap="square" lIns="0" tIns="0" rIns="0" bIns="0" rtlCol="0" anchor="ctr"/>
          <a:lstStyle/>
          <a:p>
            <a:pPr marL="0" indent="0" algn="ctr">
              <a:buNone/>
            </a:pPr>
            <a:r>
              <a:rPr lang="en-US" sz="2400" b="1" dirty="0">
                <a:solidFill>
                  <a:srgbClr val="13233F"/>
                </a:solidFill>
                <a:latin typeface="Cambria" pitchFamily="34" charset="0"/>
                <a:ea typeface="Cambria" pitchFamily="34" charset="-122"/>
                <a:cs typeface="Cambria" pitchFamily="34" charset="-120"/>
              </a:rPr>
              <a:t>2</a:t>
            </a:r>
            <a:endParaRPr lang="en-US" sz="2400" dirty="0"/>
          </a:p>
        </p:txBody>
      </p:sp>
      <p:sp>
        <p:nvSpPr>
          <p:cNvPr id="4" name="Text 2"/>
          <p:cNvSpPr txBox="1"/>
          <p:nvPr/>
        </p:nvSpPr>
        <p:spPr>
          <a:xfrm>
            <a:off x="1417320" y="2395728"/>
            <a:ext cx="10058400" cy="658368"/>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Year 1: summary of results</a:t>
            </a:r>
            <a:endParaRPr lang="en-US" sz="3600" dirty="0"/>
          </a:p>
        </p:txBody>
      </p:sp>
      <p:sp>
        <p:nvSpPr>
          <p:cNvPr id="5" name="Text 3"/>
          <p:cNvSpPr txBox="1"/>
          <p:nvPr/>
        </p:nvSpPr>
        <p:spPr>
          <a:xfrm>
            <a:off x="1417320" y="3154680"/>
            <a:ext cx="9509760" cy="731520"/>
          </a:xfrm>
          <a:prstGeom prst="rect">
            <a:avLst/>
          </a:prstGeom>
          <a:noFill/>
          <a:ln/>
        </p:spPr>
        <p:txBody>
          <a:bodyPr wrap="square" lIns="0" tIns="0" rIns="0" bIns="0" rtlCol="0" anchor="ctr"/>
          <a:lstStyle/>
          <a:p>
            <a:pPr marL="0" indent="0">
              <a:lnSpc>
                <a:spcPts val="2200"/>
              </a:lnSpc>
              <a:buNone/>
            </a:pPr>
            <a:r>
              <a:rPr lang="en-US" sz="1500" dirty="0">
                <a:solidFill>
                  <a:srgbClr val="C3CCDA"/>
                </a:solidFill>
                <a:latin typeface="Calibri" pitchFamily="34" charset="0"/>
                <a:ea typeface="Calibri" pitchFamily="34" charset="-122"/>
                <a:cs typeface="Calibri" pitchFamily="34" charset="-120"/>
              </a:rPr>
              <a:t>Main financial figures · Sales and market share · Revenue by product and market   —   Finance and Managing Directors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2 · SUMMARY OF RESULTS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Main financial figures</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sp>
        <p:nvSpPr>
          <p:cNvPr id="6" name="Shape 4"/>
          <p:cNvSpPr/>
          <p:nvPr/>
        </p:nvSpPr>
        <p:spPr>
          <a:xfrm>
            <a:off x="566928" y="1298448"/>
            <a:ext cx="2670048" cy="1481328"/>
          </a:xfrm>
          <a:prstGeom prst="roundRect">
            <a:avLst>
              <a:gd name="adj" fmla="val 4321"/>
            </a:avLst>
          </a:prstGeom>
          <a:solidFill>
            <a:srgbClr val="EDEFF2"/>
          </a:solidFill>
          <a:ln/>
        </p:spPr>
        <p:txBody>
          <a:bodyPr/>
          <a:lstStyle/>
          <a:p>
            <a:endParaRPr lang="en-DE"/>
          </a:p>
        </p:txBody>
      </p:sp>
      <p:sp>
        <p:nvSpPr>
          <p:cNvPr id="7" name="Text 5"/>
          <p:cNvSpPr txBox="1"/>
          <p:nvPr/>
        </p:nvSpPr>
        <p:spPr>
          <a:xfrm>
            <a:off x="731520" y="1417320"/>
            <a:ext cx="2340864"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189.4 M €</a:t>
            </a:r>
            <a:endParaRPr lang="en-US" sz="2700" dirty="0"/>
          </a:p>
        </p:txBody>
      </p:sp>
      <p:sp>
        <p:nvSpPr>
          <p:cNvPr id="8" name="Text 6"/>
          <p:cNvSpPr txBox="1"/>
          <p:nvPr/>
        </p:nvSpPr>
        <p:spPr>
          <a:xfrm>
            <a:off x="73152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Revenue at retail price</a:t>
            </a:r>
            <a:endParaRPr lang="en-US" sz="1150" dirty="0"/>
          </a:p>
        </p:txBody>
      </p:sp>
      <p:sp>
        <p:nvSpPr>
          <p:cNvPr id="9" name="Text 7"/>
          <p:cNvSpPr txBox="1"/>
          <p:nvPr/>
        </p:nvSpPr>
        <p:spPr>
          <a:xfrm>
            <a:off x="73152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163.7 M € net of retailer margins</a:t>
            </a:r>
            <a:endParaRPr lang="en-US" sz="1000" dirty="0"/>
          </a:p>
        </p:txBody>
      </p:sp>
      <p:sp>
        <p:nvSpPr>
          <p:cNvPr id="10" name="Shape 8"/>
          <p:cNvSpPr/>
          <p:nvPr/>
        </p:nvSpPr>
        <p:spPr>
          <a:xfrm>
            <a:off x="3447288" y="1298448"/>
            <a:ext cx="2670048" cy="1481328"/>
          </a:xfrm>
          <a:prstGeom prst="roundRect">
            <a:avLst>
              <a:gd name="adj" fmla="val 4321"/>
            </a:avLst>
          </a:prstGeom>
          <a:solidFill>
            <a:srgbClr val="DDECE7"/>
          </a:solidFill>
          <a:ln/>
        </p:spPr>
        <p:txBody>
          <a:bodyPr/>
          <a:lstStyle/>
          <a:p>
            <a:endParaRPr lang="en-DE"/>
          </a:p>
        </p:txBody>
      </p:sp>
      <p:sp>
        <p:nvSpPr>
          <p:cNvPr id="11" name="Text 9"/>
          <p:cNvSpPr txBox="1"/>
          <p:nvPr/>
        </p:nvSpPr>
        <p:spPr>
          <a:xfrm>
            <a:off x="3611880" y="1417320"/>
            <a:ext cx="2340864"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95.7 M €</a:t>
            </a:r>
            <a:endParaRPr lang="en-US" sz="2700" dirty="0"/>
          </a:p>
        </p:txBody>
      </p:sp>
      <p:sp>
        <p:nvSpPr>
          <p:cNvPr id="12" name="Text 10"/>
          <p:cNvSpPr txBox="1"/>
          <p:nvPr/>
        </p:nvSpPr>
        <p:spPr>
          <a:xfrm>
            <a:off x="361188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Gross profit</a:t>
            </a:r>
            <a:endParaRPr lang="en-US" sz="1150" dirty="0"/>
          </a:p>
        </p:txBody>
      </p:sp>
      <p:sp>
        <p:nvSpPr>
          <p:cNvPr id="13" name="Text 11"/>
          <p:cNvSpPr txBox="1"/>
          <p:nvPr/>
        </p:nvSpPr>
        <p:spPr>
          <a:xfrm>
            <a:off x="361188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58.5% of net revenue</a:t>
            </a:r>
            <a:endParaRPr lang="en-US" sz="1000" dirty="0"/>
          </a:p>
        </p:txBody>
      </p:sp>
      <p:sp>
        <p:nvSpPr>
          <p:cNvPr id="14" name="Shape 12"/>
          <p:cNvSpPr/>
          <p:nvPr/>
        </p:nvSpPr>
        <p:spPr>
          <a:xfrm>
            <a:off x="6327648" y="1298448"/>
            <a:ext cx="2670048" cy="1481328"/>
          </a:xfrm>
          <a:prstGeom prst="roundRect">
            <a:avLst>
              <a:gd name="adj" fmla="val 4321"/>
            </a:avLst>
          </a:prstGeom>
          <a:solidFill>
            <a:srgbClr val="DDECE7"/>
          </a:solidFill>
          <a:ln/>
        </p:spPr>
        <p:txBody>
          <a:bodyPr/>
          <a:lstStyle/>
          <a:p>
            <a:endParaRPr lang="en-DE"/>
          </a:p>
        </p:txBody>
      </p:sp>
      <p:sp>
        <p:nvSpPr>
          <p:cNvPr id="15" name="Text 13"/>
          <p:cNvSpPr txBox="1"/>
          <p:nvPr/>
        </p:nvSpPr>
        <p:spPr>
          <a:xfrm>
            <a:off x="6492240" y="1417320"/>
            <a:ext cx="2340864"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70.9 M €</a:t>
            </a:r>
            <a:endParaRPr lang="en-US" sz="2700" dirty="0"/>
          </a:p>
        </p:txBody>
      </p:sp>
      <p:sp>
        <p:nvSpPr>
          <p:cNvPr id="16" name="Text 14"/>
          <p:cNvSpPr txBox="1"/>
          <p:nvPr/>
        </p:nvSpPr>
        <p:spPr>
          <a:xfrm>
            <a:off x="649224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Operating income</a:t>
            </a:r>
            <a:endParaRPr lang="en-US" sz="1150" dirty="0"/>
          </a:p>
        </p:txBody>
      </p:sp>
      <p:sp>
        <p:nvSpPr>
          <p:cNvPr id="17" name="Text 15"/>
          <p:cNvSpPr txBox="1"/>
          <p:nvPr/>
        </p:nvSpPr>
        <p:spPr>
          <a:xfrm>
            <a:off x="649224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43.3% operating margin</a:t>
            </a:r>
            <a:endParaRPr lang="en-US" sz="1000" dirty="0"/>
          </a:p>
        </p:txBody>
      </p:sp>
      <p:sp>
        <p:nvSpPr>
          <p:cNvPr id="18" name="Shape 16"/>
          <p:cNvSpPr/>
          <p:nvPr/>
        </p:nvSpPr>
        <p:spPr>
          <a:xfrm>
            <a:off x="9208008" y="1298448"/>
            <a:ext cx="2670048" cy="1481328"/>
          </a:xfrm>
          <a:prstGeom prst="roundRect">
            <a:avLst>
              <a:gd name="adj" fmla="val 4321"/>
            </a:avLst>
          </a:prstGeom>
          <a:solidFill>
            <a:srgbClr val="DDECE7"/>
          </a:solidFill>
          <a:ln/>
        </p:spPr>
        <p:txBody>
          <a:bodyPr/>
          <a:lstStyle/>
          <a:p>
            <a:endParaRPr lang="en-DE"/>
          </a:p>
        </p:txBody>
      </p:sp>
      <p:sp>
        <p:nvSpPr>
          <p:cNvPr id="19" name="Text 17"/>
          <p:cNvSpPr txBox="1"/>
          <p:nvPr/>
        </p:nvSpPr>
        <p:spPr>
          <a:xfrm>
            <a:off x="9372600" y="1417320"/>
            <a:ext cx="2340864"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67.8 M €</a:t>
            </a:r>
            <a:endParaRPr lang="en-US" sz="2700" dirty="0"/>
          </a:p>
        </p:txBody>
      </p:sp>
      <p:sp>
        <p:nvSpPr>
          <p:cNvPr id="20" name="Text 18"/>
          <p:cNvSpPr txBox="1"/>
          <p:nvPr/>
        </p:nvSpPr>
        <p:spPr>
          <a:xfrm>
            <a:off x="937260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Net income</a:t>
            </a:r>
            <a:endParaRPr lang="en-US" sz="1150" dirty="0"/>
          </a:p>
        </p:txBody>
      </p:sp>
      <p:sp>
        <p:nvSpPr>
          <p:cNvPr id="21" name="Text 19"/>
          <p:cNvSpPr txBox="1"/>
          <p:nvPr/>
        </p:nvSpPr>
        <p:spPr>
          <a:xfrm>
            <a:off x="937260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41.4% net margin · ROE 50.7%</a:t>
            </a:r>
            <a:endParaRPr lang="en-US" sz="1000" dirty="0"/>
          </a:p>
        </p:txBody>
      </p:sp>
      <p:sp>
        <p:nvSpPr>
          <p:cNvPr id="22" name="Text 20"/>
          <p:cNvSpPr txBox="1"/>
          <p:nvPr/>
        </p:nvSpPr>
        <p:spPr>
          <a:xfrm>
            <a:off x="566928" y="3054096"/>
            <a:ext cx="58521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NET INCOME OF EVERY COMPANY IN THE INDUSTRY (M €)</a:t>
            </a:r>
            <a:endParaRPr lang="en-US" sz="1250" dirty="0"/>
          </a:p>
        </p:txBody>
      </p:sp>
      <p:graphicFrame>
        <p:nvGraphicFramePr>
          <p:cNvPr id="23" name="Chart 0"/>
          <p:cNvGraphicFramePr/>
          <p:nvPr/>
        </p:nvGraphicFramePr>
        <p:xfrm>
          <a:off x="566928" y="3364992"/>
          <a:ext cx="58521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txBox="1"/>
          <p:nvPr/>
        </p:nvSpPr>
        <p:spPr>
          <a:xfrm>
            <a:off x="6903720" y="3054096"/>
            <a:ext cx="475488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READING THE RESULT</a:t>
            </a:r>
            <a:endParaRPr lang="en-US" sz="1250" dirty="0"/>
          </a:p>
        </p:txBody>
      </p:sp>
      <p:sp>
        <p:nvSpPr>
          <p:cNvPr id="25" name="Text 22"/>
          <p:cNvSpPr txBox="1"/>
          <p:nvPr/>
        </p:nvSpPr>
        <p:spPr>
          <a:xfrm>
            <a:off x="6903720" y="3364992"/>
            <a:ext cx="4754880" cy="2743200"/>
          </a:xfrm>
          <a:prstGeom prst="rect">
            <a:avLst/>
          </a:prstGeom>
          <a:noFill/>
          <a:ln/>
        </p:spPr>
        <p:txBody>
          <a:bodyPr wrap="square" lIns="0" tIns="0" rIns="0" bIns="0" rtlCol="0" anchor="t"/>
          <a:lstStyle/>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We earned 67.8 M €, more than half of the 119.3 M € the whole industry made between them.</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Two of five companies lost money. Our lead over Co2 is 8.3 M € — 13.9%.</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Margins are not the achievement: 41.4% net margin against an industry average of −20.2%.</a:t>
            </a:r>
            <a:endParaRPr lang="en-US" sz="1250" dirty="0"/>
          </a:p>
          <a:p>
            <a:pPr marL="177800" indent="-177800">
              <a:lnSpc>
                <a:spcPts val="1650"/>
              </a:lnSpc>
              <a:spcAft>
                <a:spcPts val="700"/>
              </a:spcAft>
              <a:buSzPct val="100000"/>
              <a:buChar char="•"/>
            </a:pPr>
            <a:r>
              <a:rPr lang="en-US" sz="1250" dirty="0">
                <a:solidFill>
                  <a:srgbClr val="16202E"/>
                </a:solidFill>
                <a:latin typeface="Calibri" pitchFamily="34" charset="0"/>
                <a:ea typeface="Calibri" pitchFamily="34" charset="-122"/>
                <a:cs typeface="Calibri" pitchFamily="34" charset="-120"/>
              </a:rPr>
              <a:t>But 41.0 M € of that profit is sitting in a warehouse as unsold product H, and 26.5 M € of product S revenue was never invoiced because we could not make the units.</a:t>
            </a:r>
            <a:endParaRPr lang="en-US" sz="1250" dirty="0"/>
          </a:p>
        </p:txBody>
      </p:sp>
      <p:sp>
        <p:nvSpPr>
          <p:cNvPr id="26" name="Text 23"/>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income statement (p.5), balance sheet (p.6), ratios (p.8); Survey 23 for rivals' net income.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2 · SUMMARY OF RESULTS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Sales and market share by product and market</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3429000">
                  <a:extLst>
                    <a:ext uri="{9D8B030D-6E8A-4147-A177-3AD203B41FA5}">
                      <a16:colId xmlns:a16="http://schemas.microsoft.com/office/drawing/2014/main" val="20005"/>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 / market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Market size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Our units sold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Our share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Rank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market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10,935,676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5,759,496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52.7%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Sold out. Demand exceeded what we could produce.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market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2,290,527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90,504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Co2 took 92.5% of B with a 12.00–13.00 € price.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total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13,264,800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5,850,000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44.1%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Every unit produced was sold; zero closing stock.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market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20,162,811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4,556,494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3rd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Tied for the cheapest H in A and still third.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market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17,892,931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9,989,807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55.8%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Clear leadership at 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total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38,115,310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14,546,301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38.2%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Co2 beat us by 78,699 units — and we hold 17.6 M more.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All products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51,380,110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20,396,301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39.7%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Leader overall: 20.4 M units against Co2's 18.1 M.</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566928" y="4608576"/>
            <a:ext cx="3529584" cy="1481328"/>
          </a:xfrm>
          <a:prstGeom prst="roundRect">
            <a:avLst>
              <a:gd name="adj" fmla="val 4321"/>
            </a:avLst>
          </a:prstGeom>
          <a:solidFill>
            <a:srgbClr val="F6E4DF"/>
          </a:solidFill>
          <a:ln/>
        </p:spPr>
        <p:txBody>
          <a:bodyPr/>
          <a:lstStyle/>
          <a:p>
            <a:endParaRPr lang="en-DE"/>
          </a:p>
        </p:txBody>
      </p:sp>
      <p:sp>
        <p:nvSpPr>
          <p:cNvPr id="8" name="Text 5"/>
          <p:cNvSpPr txBox="1"/>
          <p:nvPr/>
        </p:nvSpPr>
        <p:spPr>
          <a:xfrm>
            <a:off x="731520" y="4727448"/>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1,827,440</a:t>
            </a:r>
            <a:endParaRPr lang="en-US" sz="2700" dirty="0"/>
          </a:p>
        </p:txBody>
      </p:sp>
      <p:sp>
        <p:nvSpPr>
          <p:cNvPr id="9" name="Text 6"/>
          <p:cNvSpPr txBox="1"/>
          <p:nvPr/>
        </p:nvSpPr>
        <p:spPr>
          <a:xfrm>
            <a:off x="731520" y="530352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Units of S demanded and not supplied</a:t>
            </a:r>
            <a:endParaRPr lang="en-US" sz="1150" dirty="0"/>
          </a:p>
        </p:txBody>
      </p:sp>
      <p:sp>
        <p:nvSpPr>
          <p:cNvPr id="6" name="Text 7"/>
          <p:cNvSpPr txBox="1"/>
          <p:nvPr/>
        </p:nvSpPr>
        <p:spPr>
          <a:xfrm>
            <a:off x="731520" y="559612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23.8% of the demand for our S brand. At 14.50 € that is 26.5 M € of revenue and 12.3 M € of contribution.</a:t>
            </a:r>
            <a:endParaRPr lang="en-US" sz="1000" dirty="0"/>
          </a:p>
        </p:txBody>
      </p:sp>
      <p:sp>
        <p:nvSpPr>
          <p:cNvPr id="11" name="Shape 8"/>
          <p:cNvSpPr/>
          <p:nvPr/>
        </p:nvSpPr>
        <p:spPr>
          <a:xfrm>
            <a:off x="4334256" y="4608576"/>
            <a:ext cx="3529584" cy="1481328"/>
          </a:xfrm>
          <a:prstGeom prst="roundRect">
            <a:avLst>
              <a:gd name="adj" fmla="val 4321"/>
            </a:avLst>
          </a:prstGeom>
          <a:solidFill>
            <a:srgbClr val="F6E4DF"/>
          </a:solidFill>
          <a:ln/>
        </p:spPr>
        <p:txBody>
          <a:bodyPr/>
          <a:lstStyle/>
          <a:p>
            <a:endParaRPr lang="en-DE"/>
          </a:p>
        </p:txBody>
      </p:sp>
      <p:sp>
        <p:nvSpPr>
          <p:cNvPr id="12" name="Text 9"/>
          <p:cNvSpPr txBox="1"/>
          <p:nvPr/>
        </p:nvSpPr>
        <p:spPr>
          <a:xfrm>
            <a:off x="4498848" y="4727448"/>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17,628,699</a:t>
            </a:r>
            <a:endParaRPr lang="en-US" sz="2700" dirty="0"/>
          </a:p>
        </p:txBody>
      </p:sp>
      <p:sp>
        <p:nvSpPr>
          <p:cNvPr id="13" name="Text 10"/>
          <p:cNvSpPr txBox="1"/>
          <p:nvPr/>
        </p:nvSpPr>
        <p:spPr>
          <a:xfrm>
            <a:off x="4498848" y="530352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Units of H made and not sold</a:t>
            </a:r>
            <a:endParaRPr lang="en-US" sz="1150" dirty="0"/>
          </a:p>
        </p:txBody>
      </p:sp>
      <p:sp>
        <p:nvSpPr>
          <p:cNvPr id="14" name="Text 11"/>
          <p:cNvSpPr txBox="1"/>
          <p:nvPr/>
        </p:nvSpPr>
        <p:spPr>
          <a:xfrm>
            <a:off x="4498848" y="559612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121% of the H units we actually sold, worth 41.0 M € on the balance sheet.</a:t>
            </a:r>
            <a:endParaRPr lang="en-US" sz="1000" dirty="0"/>
          </a:p>
        </p:txBody>
      </p:sp>
      <p:sp>
        <p:nvSpPr>
          <p:cNvPr id="15" name="Shape 12"/>
          <p:cNvSpPr/>
          <p:nvPr/>
        </p:nvSpPr>
        <p:spPr>
          <a:xfrm>
            <a:off x="8101584" y="4608576"/>
            <a:ext cx="3529584" cy="1481328"/>
          </a:xfrm>
          <a:prstGeom prst="roundRect">
            <a:avLst>
              <a:gd name="adj" fmla="val 4321"/>
            </a:avLst>
          </a:prstGeom>
          <a:solidFill>
            <a:srgbClr val="F6E4DF"/>
          </a:solidFill>
          <a:ln/>
        </p:spPr>
        <p:txBody>
          <a:bodyPr/>
          <a:lstStyle/>
          <a:p>
            <a:endParaRPr lang="en-DE"/>
          </a:p>
        </p:txBody>
      </p:sp>
      <p:sp>
        <p:nvSpPr>
          <p:cNvPr id="16" name="Text 13"/>
          <p:cNvSpPr txBox="1"/>
          <p:nvPr/>
        </p:nvSpPr>
        <p:spPr>
          <a:xfrm>
            <a:off x="8266176" y="4727448"/>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501,093</a:t>
            </a:r>
            <a:endParaRPr lang="en-US" sz="2700" dirty="0"/>
          </a:p>
        </p:txBody>
      </p:sp>
      <p:sp>
        <p:nvSpPr>
          <p:cNvPr id="17" name="Text 14"/>
          <p:cNvSpPr txBox="1"/>
          <p:nvPr/>
        </p:nvSpPr>
        <p:spPr>
          <a:xfrm>
            <a:off x="8266176" y="530352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Units of H demanded and not served</a:t>
            </a:r>
            <a:endParaRPr lang="en-US" sz="1150" dirty="0"/>
          </a:p>
        </p:txBody>
      </p:sp>
      <p:sp>
        <p:nvSpPr>
          <p:cNvPr id="18" name="Text 15"/>
          <p:cNvSpPr txBox="1"/>
          <p:nvPr/>
        </p:nvSpPr>
        <p:spPr>
          <a:xfrm>
            <a:off x="8266176" y="559612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Not a stock problem — we had 17.6 M units and no logistic stockout. Shelf space or channel coverage.</a:t>
            </a:r>
            <a:endParaRPr lang="en-US" sz="1000" dirty="0"/>
          </a:p>
        </p:txBody>
      </p:sp>
      <p:sp>
        <p:nvSpPr>
          <p:cNvPr id="19" name="Text 16"/>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Surveys 1, 2 and 3; Year-1 REP product results (p.2–p.3). Share is our units divided by units sold by all participating companies.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2 · SUMMARY OF RESULTS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Revenue by product and market</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graphicFrame>
        <p:nvGraphicFramePr>
          <p:cNvPr id="6" name="Chart 0"/>
          <p:cNvGraphicFramePr/>
          <p:nvPr/>
        </p:nvGraphicFramePr>
        <p:xfrm>
          <a:off x="566928" y="1298448"/>
          <a:ext cx="5760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66928" y="5248656"/>
            <a:ext cx="5760720"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Revenue at retail price, M €</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29400" y="1298448"/>
          <a:ext cx="5010912"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Revenue (M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Share of total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Gross margin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Product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84.8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44.8%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55.2%  ·  6.95 €/unit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Product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104.5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61.2%  ·  3.78 €/unit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113.1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76.2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Not entered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189.4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58.5% overall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5"/>
          <p:cNvSpPr/>
          <p:nvPr/>
        </p:nvSpPr>
        <p:spPr>
          <a:xfrm>
            <a:off x="6629400" y="4087368"/>
            <a:ext cx="5010912" cy="1417320"/>
          </a:xfrm>
          <a:prstGeom prst="roundRect">
            <a:avLst>
              <a:gd name="adj" fmla="val 4516"/>
            </a:avLst>
          </a:prstGeom>
          <a:solidFill>
            <a:srgbClr val="F3E7CC"/>
          </a:solidFill>
          <a:ln/>
        </p:spPr>
        <p:txBody>
          <a:bodyPr/>
          <a:lstStyle/>
          <a:p>
            <a:endParaRPr lang="en-DE"/>
          </a:p>
        </p:txBody>
      </p:sp>
      <p:sp>
        <p:nvSpPr>
          <p:cNvPr id="10" name="Text 6"/>
          <p:cNvSpPr txBox="1"/>
          <p:nvPr/>
        </p:nvSpPr>
        <p:spPr>
          <a:xfrm>
            <a:off x="6812280" y="4206240"/>
            <a:ext cx="4663440" cy="274320"/>
          </a:xfrm>
          <a:prstGeom prst="rect">
            <a:avLst/>
          </a:prstGeom>
          <a:noFill/>
          <a:ln/>
        </p:spPr>
        <p:txBody>
          <a:bodyPr wrap="square" lIns="0" tIns="0" rIns="0" bIns="0" rtlCol="0" anchor="ctr"/>
          <a:lstStyle/>
          <a:p>
            <a:pPr marL="0" indent="0">
              <a:buNone/>
            </a:pPr>
            <a:r>
              <a:rPr lang="en-US" sz="1250" b="1" dirty="0">
                <a:solidFill>
                  <a:srgbClr val="13233F"/>
                </a:solidFill>
                <a:latin typeface="Calibri" pitchFamily="34" charset="0"/>
                <a:ea typeface="Calibri" pitchFamily="34" charset="-122"/>
                <a:cs typeface="Calibri" pitchFamily="34" charset="-120"/>
              </a:rPr>
              <a:t>The margin figures flatter product H</a:t>
            </a:r>
            <a:endParaRPr lang="en-US" sz="1250" dirty="0"/>
          </a:p>
        </p:txBody>
      </p:sp>
      <p:sp>
        <p:nvSpPr>
          <p:cNvPr id="8" name="Text 7"/>
          <p:cNvSpPr txBox="1"/>
          <p:nvPr/>
        </p:nvSpPr>
        <p:spPr>
          <a:xfrm>
            <a:off x="6812280" y="4498848"/>
            <a:ext cx="4663440" cy="914400"/>
          </a:xfrm>
          <a:prstGeom prst="rect">
            <a:avLst/>
          </a:prstGeom>
          <a:noFill/>
          <a:ln/>
        </p:spPr>
        <p:txBody>
          <a:bodyPr wrap="square" lIns="0" tIns="0" rIns="0" bIns="0" rtlCol="0" anchor="ctr"/>
          <a:lstStyle/>
          <a:p>
            <a:pPr marL="0" indent="0">
              <a:lnSpc>
                <a:spcPts val="1400"/>
              </a:lnSpc>
              <a:buNone/>
            </a:pPr>
            <a:r>
              <a:rPr lang="en-US" sz="1050" dirty="0">
                <a:solidFill>
                  <a:srgbClr val="16202E"/>
                </a:solidFill>
                <a:latin typeface="Calibri" pitchFamily="34" charset="0"/>
                <a:ea typeface="Calibri" pitchFamily="34" charset="-122"/>
                <a:cs typeface="Calibri" pitchFamily="34" charset="-120"/>
              </a:rPr>
              <a:t>H shows a 61.2% gross margin only because the cost of the 17.6 M unsold units is capitalised in inventory instead of charged to the P&amp;L. Per unit sold, S earns 6.95 € of gross profit against 3.78 € for H — S is the product worth making.</a:t>
            </a:r>
            <a:endParaRPr lang="en-US" sz="1050" dirty="0"/>
          </a:p>
        </p:txBody>
      </p:sp>
      <p:sp>
        <p:nvSpPr>
          <p:cNvPr id="12" name="Text 8"/>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Revenue at MSRP: S 5,850,000 units × 14.50 €; H 4,556,494 × 6.50 € in A and 9,989,807 × 7.50 € in B. Ties to REP p.4 (84,825,000 and 104,540,764).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MARKETING</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Portfolio, channels and brand positioning</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sp>
        <p:nvSpPr>
          <p:cNvPr id="6" name="Text 4"/>
          <p:cNvSpPr txBox="1"/>
          <p:nvPr/>
        </p:nvSpPr>
        <p:spPr>
          <a:xfrm>
            <a:off x="566928" y="1298448"/>
            <a:ext cx="53949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WHERE WE SELL — CHANNEL MIX OF UNITS SOLD</a:t>
            </a:r>
            <a:endParaRPr lang="en-US" sz="1250" dirty="0"/>
          </a:p>
        </p:txBody>
      </p:sp>
      <p:graphicFrame>
        <p:nvGraphicFramePr>
          <p:cNvPr id="7" name="Chart 0"/>
          <p:cNvGraphicFramePr/>
          <p:nvPr/>
        </p:nvGraphicFramePr>
        <p:xfrm>
          <a:off x="566928" y="1609344"/>
          <a:ext cx="53949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66928" y="5431536"/>
            <a:ext cx="5394960"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Units sold, millions</a:t>
            </a:r>
            <a:endParaRPr lang="en-US" sz="1000" dirty="0"/>
          </a:p>
        </p:txBody>
      </p:sp>
      <p:sp>
        <p:nvSpPr>
          <p:cNvPr id="9" name="Text 6"/>
          <p:cNvSpPr txBox="1"/>
          <p:nvPr/>
        </p:nvSpPr>
        <p:spPr>
          <a:xfrm>
            <a:off x="6355080" y="1298448"/>
            <a:ext cx="530352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BRAND POSITIONING vs COMPETITORS (SURVEYS 7 AND 8)</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55080" y="1609344"/>
          <a:ext cx="53035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84048">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 (Co3)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Product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(1, 8)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(3, 8)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(2, 8)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Product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(9, 1)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(5, 5)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(1, 8)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Text 7"/>
          <p:cNvSpPr txBox="1"/>
          <p:nvPr/>
        </p:nvSpPr>
        <p:spPr>
          <a:xfrm>
            <a:off x="6355080" y="2596896"/>
            <a:ext cx="5303520" cy="3108960"/>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S: we own the quality corner. Co2 and Co4 crowd the same corner but neither priced there — Co4 sold S at 8.50–9.40 € from position (2,8), which is a premium image at a discount price.</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H: Co2 occupies our exact coordinates (9,1) and charged 9.50–10.50 € in market A. We charged 6.50 €. Identical positioning, Co2 priced 46% above us, and Co2 still outsold us in A by 71%.</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Portfolio: both products sold in both markets through all three channels. No product was withdrawn and market E was never entered.</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The channel mix is not a choice we made — it is where the retailers put us. S is a retail and supermarket product; H is a supermarket and wholesale product.</a:t>
            </a:r>
            <a:endParaRPr lang="en-US" sz="1150" dirty="0"/>
          </a:p>
        </p:txBody>
      </p:sp>
      <p:sp>
        <p:nvSpPr>
          <p:cNvPr id="10" name="Text 8"/>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Surveys 7 and 8 (positioning), Survey 20 (prices), Year-1 REP p.2–p.3 (units by channel).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MARKETING</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Price against competitors, and what it bought us</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sp>
        <p:nvSpPr>
          <p:cNvPr id="6" name="Text 4"/>
          <p:cNvSpPr txBox="1"/>
          <p:nvPr/>
        </p:nvSpPr>
        <p:spPr>
          <a:xfrm>
            <a:off x="566928" y="1298448"/>
            <a:ext cx="1106424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RETAIL PRICES, MARKET A (€) — SURVEY 20</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110642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4114800">
                  <a:extLst>
                    <a:ext uri="{9D8B030D-6E8A-4147-A177-3AD203B41FA5}">
                      <a16:colId xmlns:a16="http://schemas.microsoft.com/office/drawing/2014/main" val="20006"/>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 · channel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 (Co3)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 share of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retail (G)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14.50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11.50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52.7%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Price premium of 71% and still first. The premium works.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 supermarket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14.50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9.10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Sold out at the highest price in the industry.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retail (G)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Tied cheapest with Co4, third in share. Price is not the lever.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 wholesale (T)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7.20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Co2 sold at 10.50 € and beat us on volume.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566928" y="3785616"/>
            <a:ext cx="3529584" cy="1481328"/>
          </a:xfrm>
          <a:prstGeom prst="roundRect">
            <a:avLst>
              <a:gd name="adj" fmla="val 4321"/>
            </a:avLst>
          </a:prstGeom>
          <a:solidFill>
            <a:srgbClr val="DDECE7"/>
          </a:solidFill>
          <a:ln/>
        </p:spPr>
        <p:txBody>
          <a:bodyPr/>
          <a:lstStyle/>
          <a:p>
            <a:endParaRPr lang="en-DE"/>
          </a:p>
        </p:txBody>
      </p:sp>
      <p:sp>
        <p:nvSpPr>
          <p:cNvPr id="9" name="Text 6"/>
          <p:cNvSpPr txBox="1"/>
          <p:nvPr/>
        </p:nvSpPr>
        <p:spPr>
          <a:xfrm>
            <a:off x="731520" y="3904488"/>
            <a:ext cx="3200400"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+71%</a:t>
            </a:r>
            <a:endParaRPr lang="en-US" sz="2700" dirty="0"/>
          </a:p>
        </p:txBody>
      </p:sp>
      <p:sp>
        <p:nvSpPr>
          <p:cNvPr id="10" name="Text 7"/>
          <p:cNvSpPr txBox="1"/>
          <p:nvPr/>
        </p:nvSpPr>
        <p:spPr>
          <a:xfrm>
            <a:off x="731520" y="448056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Our S price above the cheapest rival</a:t>
            </a:r>
            <a:endParaRPr lang="en-US" sz="1150" dirty="0"/>
          </a:p>
        </p:txBody>
      </p:sp>
      <p:sp>
        <p:nvSpPr>
          <p:cNvPr id="11" name="Text 8"/>
          <p:cNvSpPr txBox="1"/>
          <p:nvPr/>
        </p:nvSpPr>
        <p:spPr>
          <a:xfrm>
            <a:off x="731520" y="477316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14.50 € against Co1 and Co4 at 8.50 € in retail. We still took 52.7% of A and ran out of stock.</a:t>
            </a:r>
            <a:endParaRPr lang="en-US" sz="1000" dirty="0"/>
          </a:p>
        </p:txBody>
      </p:sp>
      <p:sp>
        <p:nvSpPr>
          <p:cNvPr id="12" name="Shape 9"/>
          <p:cNvSpPr/>
          <p:nvPr/>
        </p:nvSpPr>
        <p:spPr>
          <a:xfrm>
            <a:off x="4334256" y="3785616"/>
            <a:ext cx="3529584" cy="1481328"/>
          </a:xfrm>
          <a:prstGeom prst="roundRect">
            <a:avLst>
              <a:gd name="adj" fmla="val 4321"/>
            </a:avLst>
          </a:prstGeom>
          <a:solidFill>
            <a:srgbClr val="F6E4DF"/>
          </a:solidFill>
          <a:ln/>
        </p:spPr>
        <p:txBody>
          <a:bodyPr/>
          <a:lstStyle/>
          <a:p>
            <a:endParaRPr lang="en-DE"/>
          </a:p>
        </p:txBody>
      </p:sp>
      <p:sp>
        <p:nvSpPr>
          <p:cNvPr id="7" name="Text 10"/>
          <p:cNvSpPr txBox="1"/>
          <p:nvPr/>
        </p:nvSpPr>
        <p:spPr>
          <a:xfrm>
            <a:off x="4498848" y="3904488"/>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+46%</a:t>
            </a:r>
            <a:endParaRPr lang="en-US" sz="2700" dirty="0"/>
          </a:p>
        </p:txBody>
      </p:sp>
      <p:sp>
        <p:nvSpPr>
          <p:cNvPr id="14" name="Text 11"/>
          <p:cNvSpPr txBox="1"/>
          <p:nvPr/>
        </p:nvSpPr>
        <p:spPr>
          <a:xfrm>
            <a:off x="4498848" y="448056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Co2's H price above ours in market A</a:t>
            </a:r>
            <a:endParaRPr lang="en-US" sz="1150" dirty="0"/>
          </a:p>
        </p:txBody>
      </p:sp>
      <p:sp>
        <p:nvSpPr>
          <p:cNvPr id="15" name="Text 12"/>
          <p:cNvSpPr txBox="1"/>
          <p:nvPr/>
        </p:nvSpPr>
        <p:spPr>
          <a:xfrm>
            <a:off x="4498848" y="477316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From the same (9,1) position — and Co2 still sold 71% more units in A: 7.78 M against our 4.56 M.</a:t>
            </a:r>
            <a:endParaRPr lang="en-US" sz="1000" dirty="0"/>
          </a:p>
        </p:txBody>
      </p:sp>
      <p:sp>
        <p:nvSpPr>
          <p:cNvPr id="16" name="Shape 13"/>
          <p:cNvSpPr/>
          <p:nvPr/>
        </p:nvSpPr>
        <p:spPr>
          <a:xfrm>
            <a:off x="8101584" y="3785616"/>
            <a:ext cx="3529584" cy="1481328"/>
          </a:xfrm>
          <a:prstGeom prst="roundRect">
            <a:avLst>
              <a:gd name="adj" fmla="val 4321"/>
            </a:avLst>
          </a:prstGeom>
          <a:solidFill>
            <a:srgbClr val="EDEFF2"/>
          </a:solidFill>
          <a:ln/>
        </p:spPr>
        <p:txBody>
          <a:bodyPr/>
          <a:lstStyle/>
          <a:p>
            <a:endParaRPr lang="en-DE"/>
          </a:p>
        </p:txBody>
      </p:sp>
      <p:sp>
        <p:nvSpPr>
          <p:cNvPr id="17" name="Text 14"/>
          <p:cNvSpPr txBox="1"/>
          <p:nvPr/>
        </p:nvSpPr>
        <p:spPr>
          <a:xfrm>
            <a:off x="8266176" y="3904488"/>
            <a:ext cx="3200400"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0 €</a:t>
            </a:r>
            <a:endParaRPr lang="en-US" sz="2700" dirty="0"/>
          </a:p>
        </p:txBody>
      </p:sp>
      <p:sp>
        <p:nvSpPr>
          <p:cNvPr id="18" name="Text 15"/>
          <p:cNvSpPr txBox="1"/>
          <p:nvPr/>
        </p:nvSpPr>
        <p:spPr>
          <a:xfrm>
            <a:off x="8266176" y="4480560"/>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Spent on promotions in Year 1</a:t>
            </a:r>
            <a:endParaRPr lang="en-US" sz="1150" dirty="0"/>
          </a:p>
        </p:txBody>
      </p:sp>
      <p:sp>
        <p:nvSpPr>
          <p:cNvPr id="19" name="Text 16"/>
          <p:cNvSpPr txBox="1"/>
          <p:nvPr/>
        </p:nvSpPr>
        <p:spPr>
          <a:xfrm>
            <a:off x="8266176" y="4773168"/>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Every competitor except Co5 ran at least one. We have no evidence of what a promotion is worth to us.</a:t>
            </a:r>
            <a:endParaRPr lang="en-US" sz="1000" dirty="0"/>
          </a:p>
        </p:txBody>
      </p:sp>
      <p:sp>
        <p:nvSpPr>
          <p:cNvPr id="20" name="Shape 17"/>
          <p:cNvSpPr/>
          <p:nvPr/>
        </p:nvSpPr>
        <p:spPr>
          <a:xfrm>
            <a:off x="566928" y="5431536"/>
            <a:ext cx="11064240" cy="868680"/>
          </a:xfrm>
          <a:prstGeom prst="roundRect">
            <a:avLst>
              <a:gd name="adj" fmla="val 7368"/>
            </a:avLst>
          </a:prstGeom>
          <a:solidFill>
            <a:srgbClr val="F3E7CC"/>
          </a:solidFill>
          <a:ln/>
        </p:spPr>
        <p:txBody>
          <a:bodyPr/>
          <a:lstStyle/>
          <a:p>
            <a:endParaRPr lang="en-DE"/>
          </a:p>
        </p:txBody>
      </p:sp>
      <p:sp>
        <p:nvSpPr>
          <p:cNvPr id="21" name="Text 18"/>
          <p:cNvSpPr txBox="1"/>
          <p:nvPr/>
        </p:nvSpPr>
        <p:spPr>
          <a:xfrm>
            <a:off x="768096" y="5504688"/>
            <a:ext cx="3657600" cy="256032"/>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Conclusion for pricing</a:t>
            </a:r>
            <a:endParaRPr lang="en-US" sz="1200" dirty="0"/>
          </a:p>
        </p:txBody>
      </p:sp>
      <p:sp>
        <p:nvSpPr>
          <p:cNvPr id="22" name="Text 19"/>
          <p:cNvSpPr txBox="1"/>
          <p:nvPr/>
        </p:nvSpPr>
        <p:spPr>
          <a:xfrm>
            <a:off x="768096" y="5769864"/>
            <a:ext cx="10607040" cy="475488"/>
          </a:xfrm>
          <a:prstGeom prst="rect">
            <a:avLst/>
          </a:prstGeom>
          <a:noFill/>
          <a:ln/>
        </p:spPr>
        <p:txBody>
          <a:bodyPr wrap="square" lIns="0" tIns="0" rIns="0" bIns="0" rtlCol="0" anchor="t"/>
          <a:lstStyle/>
          <a:p>
            <a:pPr marL="0" indent="0">
              <a:lnSpc>
                <a:spcPts val="1400"/>
              </a:lnSpc>
              <a:buNone/>
            </a:pPr>
            <a:r>
              <a:rPr lang="en-US" sz="1050" dirty="0">
                <a:solidFill>
                  <a:srgbClr val="16202E"/>
                </a:solidFill>
                <a:latin typeface="Calibri" pitchFamily="34" charset="0"/>
                <a:ea typeface="Calibri" pitchFamily="34" charset="-122"/>
                <a:cs typeface="Calibri" pitchFamily="34" charset="-120"/>
              </a:rPr>
              <a:t>S is under-priced relative to demand — we sold out and left 1.83 million units unserved, which is the definition of a price too low for the supply available. H in market A is not losing on price; it is losing on visibility, and the surveys that would prove it were not bought in Year 1.</a:t>
            </a:r>
            <a:endParaRPr lang="en-US" sz="1050" dirty="0"/>
          </a:p>
        </p:txBody>
      </p:sp>
      <p:sp>
        <p:nvSpPr>
          <p:cNvPr id="23" name="Text 20"/>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Survey 20 (retail prices by product and channel), Survey 22 (promotion types), Surveys 1–3 (shares).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MARKETING</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Distribution, shelf space and advertising</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sp>
        <p:nvSpPr>
          <p:cNvPr id="6" name="Shape 4"/>
          <p:cNvSpPr/>
          <p:nvPr/>
        </p:nvSpPr>
        <p:spPr>
          <a:xfrm>
            <a:off x="566928" y="1298448"/>
            <a:ext cx="3566160" cy="4572000"/>
          </a:xfrm>
          <a:prstGeom prst="roundRect">
            <a:avLst>
              <a:gd name="adj" fmla="val 1795"/>
            </a:avLst>
          </a:prstGeom>
          <a:solidFill>
            <a:srgbClr val="EDEFF2"/>
          </a:solidFill>
          <a:ln/>
        </p:spPr>
        <p:txBody>
          <a:bodyPr/>
          <a:lstStyle/>
          <a:p>
            <a:endParaRPr lang="en-DE"/>
          </a:p>
        </p:txBody>
      </p:sp>
      <p:sp>
        <p:nvSpPr>
          <p:cNvPr id="7" name="Shape 5"/>
          <p:cNvSpPr/>
          <p:nvPr/>
        </p:nvSpPr>
        <p:spPr>
          <a:xfrm>
            <a:off x="795528" y="1536192"/>
            <a:ext cx="274320" cy="274320"/>
          </a:xfrm>
          <a:prstGeom prst="ellipse">
            <a:avLst/>
          </a:prstGeom>
          <a:solidFill>
            <a:srgbClr val="13233F"/>
          </a:solidFill>
          <a:ln/>
        </p:spPr>
        <p:txBody>
          <a:bodyPr/>
          <a:lstStyle/>
          <a:p>
            <a:endParaRPr lang="en-DE"/>
          </a:p>
        </p:txBody>
      </p:sp>
      <p:sp>
        <p:nvSpPr>
          <p:cNvPr id="8" name="Text 6"/>
          <p:cNvSpPr txBox="1"/>
          <p:nvPr/>
        </p:nvSpPr>
        <p:spPr>
          <a:xfrm>
            <a:off x="1188720" y="1517904"/>
            <a:ext cx="27432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Distribution</a:t>
            </a:r>
            <a:endParaRPr lang="en-US" sz="1400" dirty="0"/>
          </a:p>
        </p:txBody>
      </p:sp>
      <p:sp>
        <p:nvSpPr>
          <p:cNvPr id="9" name="Text 7"/>
          <p:cNvSpPr txBox="1"/>
          <p:nvPr/>
        </p:nvSpPr>
        <p:spPr>
          <a:xfrm>
            <a:off x="795528" y="1956816"/>
            <a:ext cx="3127248" cy="3749040"/>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6 sales managers in A and 6 in B covering the retail channel; no manager in E.</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Sales representatives: 4 supermarket + 4 wholesale in A; 5 + 3 in B.</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Fixed sales-network cost 3.19 M €; incentives 0.70 M € at 0.6% commission.</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12 distribution platforms in A and in B; the E template default of 60 platforms was left untouched and cost nothing because we never priced in E.</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No wholesaler used — the whole volume went through our own network.</a:t>
            </a:r>
            <a:endParaRPr lang="en-US" sz="1050" dirty="0"/>
          </a:p>
        </p:txBody>
      </p:sp>
      <p:sp>
        <p:nvSpPr>
          <p:cNvPr id="10" name="Shape 8"/>
          <p:cNvSpPr/>
          <p:nvPr/>
        </p:nvSpPr>
        <p:spPr>
          <a:xfrm>
            <a:off x="4315968" y="1298448"/>
            <a:ext cx="3566160" cy="4572000"/>
          </a:xfrm>
          <a:prstGeom prst="roundRect">
            <a:avLst>
              <a:gd name="adj" fmla="val 1795"/>
            </a:avLst>
          </a:prstGeom>
          <a:solidFill>
            <a:srgbClr val="EDEFF2"/>
          </a:solidFill>
          <a:ln/>
        </p:spPr>
        <p:txBody>
          <a:bodyPr/>
          <a:lstStyle/>
          <a:p>
            <a:endParaRPr lang="en-DE"/>
          </a:p>
        </p:txBody>
      </p:sp>
      <p:sp>
        <p:nvSpPr>
          <p:cNvPr id="11" name="Shape 9"/>
          <p:cNvSpPr/>
          <p:nvPr/>
        </p:nvSpPr>
        <p:spPr>
          <a:xfrm>
            <a:off x="4544568" y="1536192"/>
            <a:ext cx="274320" cy="274320"/>
          </a:xfrm>
          <a:prstGeom prst="ellipse">
            <a:avLst/>
          </a:prstGeom>
          <a:solidFill>
            <a:srgbClr val="C8952F"/>
          </a:solidFill>
          <a:ln/>
        </p:spPr>
        <p:txBody>
          <a:bodyPr/>
          <a:lstStyle/>
          <a:p>
            <a:endParaRPr lang="en-DE"/>
          </a:p>
        </p:txBody>
      </p:sp>
      <p:sp>
        <p:nvSpPr>
          <p:cNvPr id="12" name="Text 10"/>
          <p:cNvSpPr txBox="1"/>
          <p:nvPr/>
        </p:nvSpPr>
        <p:spPr>
          <a:xfrm>
            <a:off x="4937760" y="1517904"/>
            <a:ext cx="27432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Shelf space and point of sale</a:t>
            </a:r>
            <a:endParaRPr lang="en-US" sz="1400" dirty="0"/>
          </a:p>
        </p:txBody>
      </p:sp>
      <p:sp>
        <p:nvSpPr>
          <p:cNvPr id="13" name="Text 11"/>
          <p:cNvSpPr txBox="1"/>
          <p:nvPr/>
        </p:nvSpPr>
        <p:spPr>
          <a:xfrm>
            <a:off x="4544568" y="1956816"/>
            <a:ext cx="3127248" cy="3749040"/>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Retailer margin: 1.90 € per unit on S, 1.00 € on H. Shelf space achieved: 18% for S, 22% for H.</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Point-of-sale advertising: 10,000 € per channel for S and 15,000 € for H — 150,000 € in total.</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501,093 units of H were demanded and not served while 17.6 M units sat in stock and no logistic stockout was flagged. Shelf space or channel coverage is the only explanation left, and we did not buy survey 15, which measures it.</a:t>
            </a:r>
            <a:endParaRPr lang="en-US" sz="1050" dirty="0"/>
          </a:p>
        </p:txBody>
      </p:sp>
      <p:sp>
        <p:nvSpPr>
          <p:cNvPr id="14" name="Shape 12"/>
          <p:cNvSpPr/>
          <p:nvPr/>
        </p:nvSpPr>
        <p:spPr>
          <a:xfrm>
            <a:off x="8065008" y="1298448"/>
            <a:ext cx="3566160" cy="4572000"/>
          </a:xfrm>
          <a:prstGeom prst="roundRect">
            <a:avLst>
              <a:gd name="adj" fmla="val 1795"/>
            </a:avLst>
          </a:prstGeom>
          <a:solidFill>
            <a:srgbClr val="EDEFF2"/>
          </a:solidFill>
          <a:ln/>
        </p:spPr>
        <p:txBody>
          <a:bodyPr/>
          <a:lstStyle/>
          <a:p>
            <a:endParaRPr lang="en-DE"/>
          </a:p>
        </p:txBody>
      </p:sp>
      <p:sp>
        <p:nvSpPr>
          <p:cNvPr id="15" name="Shape 13"/>
          <p:cNvSpPr/>
          <p:nvPr/>
        </p:nvSpPr>
        <p:spPr>
          <a:xfrm>
            <a:off x="8293608" y="1536192"/>
            <a:ext cx="274320" cy="274320"/>
          </a:xfrm>
          <a:prstGeom prst="ellipse">
            <a:avLst/>
          </a:prstGeom>
          <a:solidFill>
            <a:srgbClr val="2F7D6B"/>
          </a:solidFill>
          <a:ln/>
        </p:spPr>
        <p:txBody>
          <a:bodyPr/>
          <a:lstStyle/>
          <a:p>
            <a:endParaRPr lang="en-DE"/>
          </a:p>
        </p:txBody>
      </p:sp>
      <p:sp>
        <p:nvSpPr>
          <p:cNvPr id="16" name="Text 14"/>
          <p:cNvSpPr txBox="1"/>
          <p:nvPr/>
        </p:nvSpPr>
        <p:spPr>
          <a:xfrm>
            <a:off x="8686800" y="1517904"/>
            <a:ext cx="2743200" cy="310896"/>
          </a:xfrm>
          <a:prstGeom prst="rect">
            <a:avLst/>
          </a:prstGeom>
          <a:noFill/>
          <a:ln/>
        </p:spPr>
        <p:txBody>
          <a:bodyPr wrap="square" lIns="0" tIns="0" rIns="0" bIns="0" rtlCol="0" anchor="ctr"/>
          <a:lstStyle/>
          <a:p>
            <a:pPr marL="0" indent="0">
              <a:buNone/>
            </a:pPr>
            <a:r>
              <a:rPr lang="en-US" sz="1400" b="1" dirty="0">
                <a:solidFill>
                  <a:srgbClr val="13233F"/>
                </a:solidFill>
                <a:latin typeface="Calibri" pitchFamily="34" charset="0"/>
                <a:ea typeface="Calibri" pitchFamily="34" charset="-122"/>
                <a:cs typeface="Calibri" pitchFamily="34" charset="-120"/>
              </a:rPr>
              <a:t>Advertising</a:t>
            </a:r>
            <a:endParaRPr lang="en-US" sz="1400" dirty="0"/>
          </a:p>
        </p:txBody>
      </p:sp>
      <p:sp>
        <p:nvSpPr>
          <p:cNvPr id="17" name="Text 15"/>
          <p:cNvSpPr txBox="1"/>
          <p:nvPr/>
        </p:nvSpPr>
        <p:spPr>
          <a:xfrm>
            <a:off x="8293608" y="1956816"/>
            <a:ext cx="3127248" cy="3749040"/>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Campaign 18 for S and campaign 19 for H, run in A and B; nothing in E.</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Media budget 828,000 € including point of sale — 0.44% of revenue.</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Our weight, as a GRP proxy: 12 insertions per market for S (8 TV + 4 press) and 8 for H (5 TV + 3 press), giving 79.2% net reach in A and in B.</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Rivals also advertised in both markets (survey 21 gives campaign identifiers, not spend): Co2 ran 17 for S and 19 for H, Co4 ran 6 and 14, Co1 ran 1 and 1.</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Share of voice and share of spend cannot be computed: surveys 10, 11 and 13 were not purchased in Year 1. All three are in the Year-2 research budget.</a:t>
            </a:r>
            <a:endParaRPr lang="en-US" sz="1050" dirty="0"/>
          </a:p>
        </p:txBody>
      </p:sp>
      <p:sp>
        <p:nvSpPr>
          <p:cNvPr id="18" name="Text 16"/>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DEP decisions (sales network, platforms, POP, campaigns), REP p.5 (general expenses), Survey 21 (rivals' campaigns), Survey 27 (platforms).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MARKETING</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What our decisions did to demand</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we did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Effect on demand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Conclusion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Positioning of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(1,8) quality corner, held in both markets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52.7% of market A; demand 31% above our capacity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Worked. Do not touch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of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14.50 €, the highest in the industry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Sold out; 1.83 M units of demand unserved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Too low for the supply we have. Raise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of H in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6.50 €, tied for cheapest in the market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22.6% share — third place behind two dearer brands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B04A38"/>
                          </a:solidFill>
                          <a:latin typeface="Calibri" pitchFamily="34" charset="0"/>
                          <a:ea typeface="Calibri" pitchFamily="34" charset="-122"/>
                          <a:cs typeface="Calibri" pitchFamily="34" charset="-120"/>
                        </a:rPr>
                        <a:t>Gave away margin and bought nothing.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of H in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55.8% share — clear leadership</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Correct level. Align A to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Advertising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828,000 €, 0.44% of revenue, 79.2% net reach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Cannot be measured — rivals' spend unknown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5C6672"/>
                          </a:solidFill>
                          <a:latin typeface="Calibri" pitchFamily="34" charset="0"/>
                          <a:ea typeface="Calibri" pitchFamily="34" charset="-122"/>
                          <a:cs typeface="Calibri" pitchFamily="34" charset="-120"/>
                        </a:rPr>
                        <a:t>Buy the surveys before moving the budget.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Promotions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Co2 and Co4 both promoted H and both sold out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5C6672"/>
                          </a:solidFill>
                          <a:latin typeface="Calibri" pitchFamily="34" charset="0"/>
                          <a:ea typeface="Calibri" pitchFamily="34" charset="-122"/>
                          <a:cs typeface="Calibri" pitchFamily="34" charset="-120"/>
                        </a:rPr>
                        <a:t>Test one on H, where we have stock to sell.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Distribution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Own network only, 12 platforms per market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 logistic stockout; 501,093 H units still unserved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5C6672"/>
                          </a:solidFill>
                          <a:latin typeface="Calibri" pitchFamily="34" charset="0"/>
                          <a:ea typeface="Calibri" pitchFamily="34" charset="-122"/>
                          <a:cs typeface="Calibri" pitchFamily="34" charset="-120"/>
                        </a:rPr>
                        <a:t>The bottleneck is shelf space, not logistics.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566928" y="4590288"/>
            <a:ext cx="11064240" cy="960120"/>
          </a:xfrm>
          <a:prstGeom prst="roundRect">
            <a:avLst>
              <a:gd name="adj" fmla="val 6667"/>
            </a:avLst>
          </a:prstGeom>
          <a:solidFill>
            <a:srgbClr val="13233F"/>
          </a:solidFill>
          <a:ln/>
        </p:spPr>
        <p:txBody>
          <a:bodyPr/>
          <a:lstStyle/>
          <a:p>
            <a:endParaRPr lang="en-DE"/>
          </a:p>
        </p:txBody>
      </p:sp>
      <p:sp>
        <p:nvSpPr>
          <p:cNvPr id="8" name="Text 5"/>
          <p:cNvSpPr txBox="1"/>
          <p:nvPr/>
        </p:nvSpPr>
        <p:spPr>
          <a:xfrm>
            <a:off x="795528" y="4681728"/>
            <a:ext cx="3657600" cy="274320"/>
          </a:xfrm>
          <a:prstGeom prst="rect">
            <a:avLst/>
          </a:prstGeom>
          <a:noFill/>
          <a:ln/>
        </p:spPr>
        <p:txBody>
          <a:bodyPr wrap="square" lIns="0" tIns="0" rIns="0" bIns="0" rtlCol="0" anchor="ctr"/>
          <a:lstStyle/>
          <a:p>
            <a:pPr marL="0" indent="0">
              <a:buNone/>
            </a:pPr>
            <a:r>
              <a:rPr lang="en-US" sz="1200" b="1" dirty="0">
                <a:solidFill>
                  <a:srgbClr val="C8952F"/>
                </a:solidFill>
                <a:latin typeface="Calibri" pitchFamily="34" charset="0"/>
                <a:ea typeface="Calibri" pitchFamily="34" charset="-122"/>
                <a:cs typeface="Calibri" pitchFamily="34" charset="-120"/>
              </a:rPr>
              <a:t>The one sentence version</a:t>
            </a:r>
            <a:endParaRPr lang="en-US" sz="1200" dirty="0"/>
          </a:p>
        </p:txBody>
      </p:sp>
      <p:sp>
        <p:nvSpPr>
          <p:cNvPr id="9" name="Text 6"/>
          <p:cNvSpPr txBox="1"/>
          <p:nvPr/>
        </p:nvSpPr>
        <p:spPr>
          <a:xfrm>
            <a:off x="795528" y="4956048"/>
            <a:ext cx="10607040" cy="512064"/>
          </a:xfrm>
          <a:prstGeom prst="rect">
            <a:avLst/>
          </a:prstGeom>
          <a:noFill/>
          <a:ln/>
        </p:spPr>
        <p:txBody>
          <a:bodyPr wrap="square" lIns="0" tIns="0" rIns="0" bIns="0" rtlCol="0" anchor="t"/>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We created more demand for S than we could serve and less demand for H than we had already produced. Both failures come from the same root: the marketing plan and the production plan were built independently of each other.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OPERATIONS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Expected production against actual demand</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Operations Director</a:t>
            </a:r>
            <a:endParaRPr lang="en-US" sz="1100" dirty="0"/>
          </a:p>
        </p:txBody>
      </p:sp>
      <p:graphicFrame>
        <p:nvGraphicFramePr>
          <p:cNvPr id="6" name="Chart 0"/>
          <p:cNvGraphicFramePr/>
          <p:nvPr/>
        </p:nvGraphicFramePr>
        <p:xfrm>
          <a:off x="566928" y="1298448"/>
          <a:ext cx="60350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66928" y="5175504"/>
            <a:ext cx="6035040" cy="274320"/>
          </a:xfrm>
          <a:prstGeom prst="rect">
            <a:avLst/>
          </a:prstGeom>
          <a:noFill/>
          <a:ln/>
        </p:spPr>
        <p:txBody>
          <a:bodyPr wrap="square" lIns="0" tIns="0" rIns="0" bIns="0" rtlCol="0" anchor="ctr"/>
          <a:lstStyle/>
          <a:p>
            <a:pPr marL="0" indent="0">
              <a:buNone/>
            </a:pPr>
            <a:r>
              <a:rPr lang="en-US" sz="1000" i="1" dirty="0">
                <a:solidFill>
                  <a:srgbClr val="5C6672"/>
                </a:solidFill>
                <a:latin typeface="Calibri" pitchFamily="34" charset="0"/>
                <a:ea typeface="Calibri" pitchFamily="34" charset="-122"/>
                <a:cs typeface="Calibri" pitchFamily="34" charset="-120"/>
              </a:rPr>
              <a:t>Millions of units, Year 1</a:t>
            </a:r>
            <a:endParaRPr lang="en-US" sz="1000" dirty="0"/>
          </a:p>
        </p:txBody>
      </p:sp>
      <p:sp>
        <p:nvSpPr>
          <p:cNvPr id="8" name="Text 5"/>
          <p:cNvSpPr txBox="1"/>
          <p:nvPr/>
        </p:nvSpPr>
        <p:spPr>
          <a:xfrm>
            <a:off x="6858000" y="1298448"/>
            <a:ext cx="480060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THE CAUSE, AND WHAT IT COST</a:t>
            </a:r>
            <a:endParaRPr lang="en-US" sz="1250" dirty="0"/>
          </a:p>
        </p:txBody>
      </p:sp>
      <p:sp>
        <p:nvSpPr>
          <p:cNvPr id="9" name="Text 6"/>
          <p:cNvSpPr txBox="1"/>
          <p:nvPr/>
        </p:nvSpPr>
        <p:spPr>
          <a:xfrm>
            <a:off x="6858000" y="1609344"/>
            <a:ext cx="4800600" cy="3200400"/>
          </a:xfrm>
          <a:prstGeom prst="rect">
            <a:avLst/>
          </a:prstGeom>
          <a:noFill/>
          <a:ln/>
        </p:spPr>
        <p:txBody>
          <a:bodyPr wrap="square" lIns="0" tIns="0" rIns="0" bIns="0" rtlCol="0" anchor="t"/>
          <a:lstStyle/>
          <a:p>
            <a:pPr marL="177800" indent="-177800">
              <a:lnSpc>
                <a:spcPts val="1584"/>
              </a:lnSpc>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We installed 22 production lines for H and 10 for S — the 32-line legal maximum — and ran three shifts on all of them.</a:t>
            </a:r>
            <a:endParaRPr lang="en-US" sz="1200" dirty="0"/>
          </a:p>
          <a:p>
            <a:pPr marL="177800" indent="-177800">
              <a:lnSpc>
                <a:spcPts val="1584"/>
              </a:lnSpc>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That allocation was made before any demand was measured. Measured on the plant's 96 line-shifts, H was given 69% of the capacity and needed 32%; S was given 31% and needed 41%.</a:t>
            </a:r>
            <a:endParaRPr lang="en-US" sz="1200" dirty="0"/>
          </a:p>
          <a:p>
            <a:pPr marL="177800" indent="-177800">
              <a:lnSpc>
                <a:spcPts val="1584"/>
              </a:lnSpc>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Deviation on S: none. Output 5,850,000 units, exactly to plan, and all of it sold. The plan itself was the error, not the execution.</a:t>
            </a:r>
            <a:endParaRPr lang="en-US" sz="1200" dirty="0"/>
          </a:p>
          <a:p>
            <a:pPr marL="177800" indent="-177800">
              <a:lnSpc>
                <a:spcPts val="1584"/>
              </a:lnSpc>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Deviation on H: we produced 32,175,000 units against a market that took 14,546,301 from us. The excess is 17,628,699 units.</a:t>
            </a:r>
            <a:endParaRPr lang="en-US" sz="1200" dirty="0"/>
          </a:p>
          <a:p>
            <a:pPr marL="177800" indent="-177800">
              <a:lnSpc>
                <a:spcPts val="1584"/>
              </a:lnSpc>
              <a:spcAft>
                <a:spcPts val="700"/>
              </a:spcAft>
              <a:buSzPct val="100000"/>
              <a:buChar char="•"/>
            </a:pPr>
            <a:r>
              <a:rPr lang="en-US" sz="1200" dirty="0">
                <a:solidFill>
                  <a:srgbClr val="16202E"/>
                </a:solidFill>
                <a:latin typeface="Calibri" pitchFamily="34" charset="0"/>
                <a:ea typeface="Calibri" pitchFamily="34" charset="-122"/>
                <a:cs typeface="Calibri" pitchFamily="34" charset="-120"/>
              </a:rPr>
              <a:t>There were no logistic stockouts in any market and no shortage of raw material. Operations executed the plan precisely — the plan was wrong.</a:t>
            </a:r>
            <a:endParaRPr lang="en-US" sz="1200" dirty="0"/>
          </a:p>
        </p:txBody>
      </p:sp>
      <p:sp>
        <p:nvSpPr>
          <p:cNvPr id="10" name="Shape 7"/>
          <p:cNvSpPr/>
          <p:nvPr/>
        </p:nvSpPr>
        <p:spPr>
          <a:xfrm>
            <a:off x="6858000" y="4910328"/>
            <a:ext cx="2331720" cy="1188720"/>
          </a:xfrm>
          <a:prstGeom prst="roundRect">
            <a:avLst>
              <a:gd name="adj" fmla="val 5385"/>
            </a:avLst>
          </a:prstGeom>
          <a:solidFill>
            <a:srgbClr val="F6E4DF"/>
          </a:solidFill>
          <a:ln/>
        </p:spPr>
        <p:txBody>
          <a:bodyPr/>
          <a:lstStyle/>
          <a:p>
            <a:endParaRPr lang="en-DE"/>
          </a:p>
        </p:txBody>
      </p:sp>
      <p:sp>
        <p:nvSpPr>
          <p:cNvPr id="11" name="Text 8"/>
          <p:cNvSpPr txBox="1"/>
          <p:nvPr/>
        </p:nvSpPr>
        <p:spPr>
          <a:xfrm>
            <a:off x="7022592" y="5029200"/>
            <a:ext cx="2002536"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41.0 M €</a:t>
            </a:r>
            <a:endParaRPr lang="en-US" sz="2700" dirty="0"/>
          </a:p>
        </p:txBody>
      </p:sp>
      <p:sp>
        <p:nvSpPr>
          <p:cNvPr id="12" name="Text 9"/>
          <p:cNvSpPr txBox="1"/>
          <p:nvPr/>
        </p:nvSpPr>
        <p:spPr>
          <a:xfrm>
            <a:off x="7022592" y="5605272"/>
            <a:ext cx="2002536"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Cash locked in H stock</a:t>
            </a:r>
            <a:endParaRPr lang="en-US" sz="1150" dirty="0"/>
          </a:p>
        </p:txBody>
      </p:sp>
      <p:sp>
        <p:nvSpPr>
          <p:cNvPr id="13" name="Shape 10"/>
          <p:cNvSpPr/>
          <p:nvPr/>
        </p:nvSpPr>
        <p:spPr>
          <a:xfrm>
            <a:off x="9326880" y="4910328"/>
            <a:ext cx="2331720" cy="1188720"/>
          </a:xfrm>
          <a:prstGeom prst="roundRect">
            <a:avLst>
              <a:gd name="adj" fmla="val 5385"/>
            </a:avLst>
          </a:prstGeom>
          <a:solidFill>
            <a:srgbClr val="F6E4DF"/>
          </a:solidFill>
          <a:ln/>
        </p:spPr>
        <p:txBody>
          <a:bodyPr/>
          <a:lstStyle/>
          <a:p>
            <a:endParaRPr lang="en-DE"/>
          </a:p>
        </p:txBody>
      </p:sp>
      <p:sp>
        <p:nvSpPr>
          <p:cNvPr id="14" name="Text 11"/>
          <p:cNvSpPr txBox="1"/>
          <p:nvPr/>
        </p:nvSpPr>
        <p:spPr>
          <a:xfrm>
            <a:off x="9491472" y="5029200"/>
            <a:ext cx="2002536"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12.3 M €</a:t>
            </a:r>
            <a:endParaRPr lang="en-US" sz="2700" dirty="0"/>
          </a:p>
        </p:txBody>
      </p:sp>
      <p:sp>
        <p:nvSpPr>
          <p:cNvPr id="15" name="Text 12"/>
          <p:cNvSpPr txBox="1"/>
          <p:nvPr/>
        </p:nvSpPr>
        <p:spPr>
          <a:xfrm>
            <a:off x="9491472" y="5605272"/>
            <a:ext cx="2002536"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Contribution lost on S</a:t>
            </a:r>
            <a:endParaRPr lang="en-US" sz="1150" dirty="0"/>
          </a:p>
        </p:txBody>
      </p:sp>
      <p:sp>
        <p:nvSpPr>
          <p:cNvPr id="16" name="Text 13"/>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p.2–p.4 (units produced, sold, demanded, closing inventory), DEP (lines installed and shifts).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OPERATIONS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Cost, productivity, supply chain and transport</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Operations Director</a:t>
            </a:r>
            <a:endParaRPr lang="en-US" sz="1100" dirty="0"/>
          </a:p>
        </p:txBody>
      </p:sp>
      <p:sp>
        <p:nvSpPr>
          <p:cNvPr id="6" name="Text 4"/>
          <p:cNvSpPr txBox="1"/>
          <p:nvPr/>
        </p:nvSpPr>
        <p:spPr>
          <a:xfrm>
            <a:off x="566928" y="1298448"/>
            <a:ext cx="53949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UNIT COST AND ITS COMPONENTS (€ PER UNIT)</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580644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Product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Driver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Raw material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1.7335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1.1031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List 1.65 / 1.05 × 1.02 yield, plus 3% for 120-day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Labour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3.3231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0.9323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Crew cost ÷ 195,000 (S) and 487,500 (H) per line-shift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Repairs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0.0621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0.0249</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Preventive maintenance on, 500,000 € flat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Power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0.4417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0.2650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INF rate of 0.25 / 0.15 scaled by the plant power factor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Total cost per unit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5.5604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2.3252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Against a retail price of 14.50 € and 6.50–7.50 €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566928" y="4517136"/>
            <a:ext cx="5806440" cy="1719072"/>
          </a:xfrm>
          <a:prstGeom prst="roundRect">
            <a:avLst>
              <a:gd name="adj" fmla="val 3723"/>
            </a:avLst>
          </a:prstGeom>
          <a:solidFill>
            <a:srgbClr val="F6E4DF"/>
          </a:solidFill>
          <a:ln/>
        </p:spPr>
        <p:txBody>
          <a:bodyPr/>
          <a:lstStyle/>
          <a:p>
            <a:endParaRPr lang="en-DE"/>
          </a:p>
        </p:txBody>
      </p:sp>
      <p:sp>
        <p:nvSpPr>
          <p:cNvPr id="9" name="Text 6"/>
          <p:cNvSpPr txBox="1"/>
          <p:nvPr/>
        </p:nvSpPr>
        <p:spPr>
          <a:xfrm>
            <a:off x="749808" y="4599432"/>
            <a:ext cx="539496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Cost variance and productivity policies</a:t>
            </a:r>
            <a:endParaRPr lang="en-US" sz="1200" dirty="0"/>
          </a:p>
        </p:txBody>
      </p:sp>
      <p:sp>
        <p:nvSpPr>
          <p:cNvPr id="10" name="Text 7"/>
          <p:cNvSpPr txBox="1"/>
          <p:nvPr/>
        </p:nvSpPr>
        <p:spPr>
          <a:xfrm>
            <a:off x="749808" y="4892040"/>
            <a:ext cx="5440680" cy="1298448"/>
          </a:xfrm>
          <a:prstGeom prst="rect">
            <a:avLst/>
          </a:prstGeom>
          <a:noFill/>
          <a:ln/>
        </p:spPr>
        <p:txBody>
          <a:bodyPr wrap="square" lIns="0" tIns="0" rIns="0" bIns="0" rtlCol="0" anchor="t"/>
          <a:lstStyle/>
          <a:p>
            <a:pPr marL="177800" indent="-177800">
              <a:lnSpc>
                <a:spcPts val="1254"/>
              </a:lnSpc>
              <a:spcAft>
                <a:spcPts val="700"/>
              </a:spcAft>
              <a:buSzPct val="100000"/>
              <a:buChar char="•"/>
            </a:pPr>
            <a:r>
              <a:rPr lang="en-US" sz="950" dirty="0">
                <a:solidFill>
                  <a:srgbClr val="16202E"/>
                </a:solidFill>
                <a:latin typeface="Calibri" pitchFamily="34" charset="0"/>
                <a:ea typeface="Calibri" pitchFamily="34" charset="-122"/>
                <a:cs typeface="Calibri" pitchFamily="34" charset="-120"/>
              </a:rPr>
              <a:t>Variance against the standard cost sheet: raw material landed 5.1% above list on both products — 2% scrap yield plus the 3% premium for 120-day supplier terms. There is no prior year to compare against.</a:t>
            </a:r>
            <a:endParaRPr lang="en-US" sz="950" dirty="0"/>
          </a:p>
          <a:p>
            <a:pPr marL="177800" indent="-177800">
              <a:lnSpc>
                <a:spcPts val="1254"/>
              </a:lnSpc>
              <a:spcAft>
                <a:spcPts val="700"/>
              </a:spcAft>
              <a:buSzPct val="100000"/>
              <a:buChar char="•"/>
            </a:pPr>
            <a:r>
              <a:rPr lang="en-US" sz="950" dirty="0">
                <a:solidFill>
                  <a:srgbClr val="16202E"/>
                </a:solidFill>
                <a:latin typeface="Calibri" pitchFamily="34" charset="0"/>
                <a:ea typeface="Calibri" pitchFamily="34" charset="-122"/>
                <a:cs typeface="Calibri" pitchFamily="34" charset="-120"/>
              </a:rPr>
              <a:t>Preventive maintenance: ON, 500,000 €. Kept repair cost at 1.1% of unit cost.</a:t>
            </a:r>
            <a:endParaRPr lang="en-US" sz="950" dirty="0"/>
          </a:p>
          <a:p>
            <a:pPr marL="177800" indent="-177800">
              <a:lnSpc>
                <a:spcPts val="1254"/>
              </a:lnSpc>
              <a:spcAft>
                <a:spcPts val="700"/>
              </a:spcAft>
              <a:buSzPct val="100000"/>
              <a:buChar char="•"/>
            </a:pPr>
            <a:r>
              <a:rPr lang="en-US" sz="950" dirty="0">
                <a:solidFill>
                  <a:srgbClr val="16202E"/>
                </a:solidFill>
                <a:latin typeface="Calibri" pitchFamily="34" charset="0"/>
                <a:ea typeface="Calibri" pitchFamily="34" charset="-122"/>
                <a:cs typeface="Calibri" pitchFamily="34" charset="-120"/>
              </a:rPr>
              <a:t>Poka Yoke: OFF. Would have cost 23,040,000 € for +4.55% output — not defensible.</a:t>
            </a:r>
            <a:endParaRPr lang="en-US" sz="950" dirty="0"/>
          </a:p>
          <a:p>
            <a:pPr marL="177800" indent="-177800">
              <a:lnSpc>
                <a:spcPts val="1254"/>
              </a:lnSpc>
              <a:spcAft>
                <a:spcPts val="700"/>
              </a:spcAft>
              <a:buSzPct val="100000"/>
              <a:buChar char="•"/>
            </a:pPr>
            <a:r>
              <a:rPr lang="en-US" sz="950" dirty="0">
                <a:solidFill>
                  <a:srgbClr val="16202E"/>
                </a:solidFill>
                <a:latin typeface="Calibri" pitchFamily="34" charset="0"/>
                <a:ea typeface="Calibri" pitchFamily="34" charset="-122"/>
                <a:cs typeface="Calibri" pitchFamily="34" charset="-120"/>
              </a:rPr>
              <a:t>SMED: not available in Year 1. It is available from Year 2 and it is our only remaining capacity lever.</a:t>
            </a:r>
            <a:endParaRPr lang="en-US" sz="950" dirty="0"/>
          </a:p>
        </p:txBody>
      </p:sp>
      <p:sp>
        <p:nvSpPr>
          <p:cNvPr id="11" name="Text 8"/>
          <p:cNvSpPr txBox="1"/>
          <p:nvPr/>
        </p:nvSpPr>
        <p:spPr>
          <a:xfrm>
            <a:off x="6720840" y="1298448"/>
            <a:ext cx="49377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SUPPLY CHAIN AND TRANSPORT</a:t>
            </a:r>
            <a:endParaRPr lang="en-US" sz="12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720840" y="1609344"/>
          <a:ext cx="493776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Read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Raw-material stockouts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Purchases covered output plus 2% scrap</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Closing RM inventory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298,350 u of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Small and deliberate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Logistic stockouts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None in A, B or 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 vehicles was more than enough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Trunk transport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132,000 €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 vehicles in A, 2 in B at 24,000 kg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Last-mile transport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30 in A, 20 in B at 10,000 kg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Warehouse cost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600,862 €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Inflated by the 17.6 M units of H stored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vs the tariff reference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50% charged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fleet ran at half the §10/§12 formula rate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Total logistics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1,632,862 €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46 vehicles in Year 2 saves 170,400 €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3" name="Shape 9"/>
          <p:cNvSpPr/>
          <p:nvPr/>
        </p:nvSpPr>
        <p:spPr>
          <a:xfrm>
            <a:off x="6720840" y="5486400"/>
            <a:ext cx="4937760" cy="804672"/>
          </a:xfrm>
          <a:prstGeom prst="roundRect">
            <a:avLst>
              <a:gd name="adj" fmla="val 7955"/>
            </a:avLst>
          </a:prstGeom>
          <a:solidFill>
            <a:srgbClr val="DDECE7"/>
          </a:solidFill>
          <a:ln/>
        </p:spPr>
        <p:txBody>
          <a:bodyPr/>
          <a:lstStyle/>
          <a:p>
            <a:endParaRPr lang="en-DE"/>
          </a:p>
        </p:txBody>
      </p:sp>
      <p:sp>
        <p:nvSpPr>
          <p:cNvPr id="14" name="Text 10"/>
          <p:cNvSpPr txBox="1"/>
          <p:nvPr/>
        </p:nvSpPr>
        <p:spPr>
          <a:xfrm>
            <a:off x="6903720" y="5550408"/>
            <a:ext cx="4572000" cy="237744"/>
          </a:xfrm>
          <a:prstGeom prst="rect">
            <a:avLst/>
          </a:prstGeom>
          <a:noFill/>
          <a:ln/>
        </p:spPr>
        <p:txBody>
          <a:bodyPr wrap="square" lIns="0" tIns="0" rIns="0" bIns="0" rtlCol="0" anchor="ctr"/>
          <a:lstStyle/>
          <a:p>
            <a:pPr marL="0" indent="0">
              <a:buNone/>
            </a:pPr>
            <a:r>
              <a:rPr lang="en-US" sz="1150" b="1" dirty="0">
                <a:solidFill>
                  <a:srgbClr val="13233F"/>
                </a:solidFill>
                <a:latin typeface="Calibri" pitchFamily="34" charset="0"/>
                <a:ea typeface="Calibri" pitchFamily="34" charset="-122"/>
                <a:cs typeface="Calibri" pitchFamily="34" charset="-120"/>
              </a:rPr>
              <a:t>Conclusion</a:t>
            </a:r>
            <a:endParaRPr lang="en-US" sz="1150" dirty="0"/>
          </a:p>
        </p:txBody>
      </p:sp>
      <p:sp>
        <p:nvSpPr>
          <p:cNvPr id="15" name="Text 11"/>
          <p:cNvSpPr txBox="1"/>
          <p:nvPr/>
        </p:nvSpPr>
        <p:spPr>
          <a:xfrm>
            <a:off x="6903720" y="5797296"/>
            <a:ext cx="4572000" cy="438912"/>
          </a:xfrm>
          <a:prstGeom prst="rect">
            <a:avLst/>
          </a:prstGeom>
          <a:noFill/>
          <a:ln/>
        </p:spPr>
        <p:txBody>
          <a:bodyPr wrap="square" lIns="0" tIns="0" rIns="0" bIns="0" rtlCol="0" anchor="t"/>
          <a:lstStyle/>
          <a:p>
            <a:pPr marL="0" indent="0">
              <a:lnSpc>
                <a:spcPts val="1200"/>
              </a:lnSpc>
              <a:buNone/>
            </a:pPr>
            <a:r>
              <a:rPr lang="en-US" sz="950" dirty="0">
                <a:solidFill>
                  <a:srgbClr val="16202E"/>
                </a:solidFill>
                <a:latin typeface="Calibri" pitchFamily="34" charset="0"/>
                <a:ea typeface="Calibri" pitchFamily="34" charset="-122"/>
                <a:cs typeface="Calibri" pitchFamily="34" charset="-120"/>
              </a:rPr>
              <a:t>Efficient and over-provisioned at once: the fleet never stocked out because it was sized far above what it moved, and the warehouse bill exists only because we made product nobody ordered.</a:t>
            </a:r>
            <a:endParaRPr lang="en-US" sz="950" dirty="0"/>
          </a:p>
        </p:txBody>
      </p:sp>
      <p:sp>
        <p:nvSpPr>
          <p:cNvPr id="16" name="Text 12"/>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p.4 (production results, standard costs, stockout flags, transport and warehouse costs), INF (standard cost and rates), DEP (fleet and maintenance decisions).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HUMAN RESOURCES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Turnover, pay, training and the sales force</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HR Director</a:t>
            </a:r>
            <a:endParaRPr lang="en-US" sz="1100" dirty="0"/>
          </a:p>
        </p:txBody>
      </p:sp>
      <p:sp>
        <p:nvSpPr>
          <p:cNvPr id="6" name="Shape 4"/>
          <p:cNvSpPr/>
          <p:nvPr/>
        </p:nvSpPr>
        <p:spPr>
          <a:xfrm>
            <a:off x="566928" y="1298448"/>
            <a:ext cx="2670048" cy="1481328"/>
          </a:xfrm>
          <a:prstGeom prst="roundRect">
            <a:avLst>
              <a:gd name="adj" fmla="val 4321"/>
            </a:avLst>
          </a:prstGeom>
          <a:solidFill>
            <a:srgbClr val="EDEFF2"/>
          </a:solidFill>
          <a:ln/>
        </p:spPr>
        <p:txBody>
          <a:bodyPr/>
          <a:lstStyle/>
          <a:p>
            <a:endParaRPr lang="en-DE"/>
          </a:p>
        </p:txBody>
      </p:sp>
      <p:sp>
        <p:nvSpPr>
          <p:cNvPr id="7" name="Text 5"/>
          <p:cNvSpPr txBox="1"/>
          <p:nvPr/>
        </p:nvSpPr>
        <p:spPr>
          <a:xfrm>
            <a:off x="731520" y="1417320"/>
            <a:ext cx="2340864"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3,144</a:t>
            </a:r>
            <a:endParaRPr lang="en-US" sz="2700" dirty="0"/>
          </a:p>
        </p:txBody>
      </p:sp>
      <p:sp>
        <p:nvSpPr>
          <p:cNvPr id="8" name="Text 6"/>
          <p:cNvSpPr txBox="1"/>
          <p:nvPr/>
        </p:nvSpPr>
        <p:spPr>
          <a:xfrm>
            <a:off x="73152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Production headcount</a:t>
            </a:r>
            <a:endParaRPr lang="en-US" sz="1150" dirty="0"/>
          </a:p>
        </p:txBody>
      </p:sp>
      <p:sp>
        <p:nvSpPr>
          <p:cNvPr id="9" name="Text 7"/>
          <p:cNvSpPr txBox="1"/>
          <p:nvPr/>
        </p:nvSpPr>
        <p:spPr>
          <a:xfrm>
            <a:off x="73152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Operators and supervision on 3 shifts across all 32 lines</a:t>
            </a:r>
            <a:endParaRPr lang="en-US" sz="1000" dirty="0"/>
          </a:p>
        </p:txBody>
      </p:sp>
      <p:sp>
        <p:nvSpPr>
          <p:cNvPr id="10" name="Shape 8"/>
          <p:cNvSpPr/>
          <p:nvPr/>
        </p:nvSpPr>
        <p:spPr>
          <a:xfrm>
            <a:off x="3447288" y="1298448"/>
            <a:ext cx="2670048" cy="1481328"/>
          </a:xfrm>
          <a:prstGeom prst="roundRect">
            <a:avLst>
              <a:gd name="adj" fmla="val 4321"/>
            </a:avLst>
          </a:prstGeom>
          <a:solidFill>
            <a:srgbClr val="F6E4DF"/>
          </a:solidFill>
          <a:ln/>
        </p:spPr>
        <p:txBody>
          <a:bodyPr/>
          <a:lstStyle/>
          <a:p>
            <a:endParaRPr lang="en-DE"/>
          </a:p>
        </p:txBody>
      </p:sp>
      <p:sp>
        <p:nvSpPr>
          <p:cNvPr id="11" name="Text 9"/>
          <p:cNvSpPr txBox="1"/>
          <p:nvPr/>
        </p:nvSpPr>
        <p:spPr>
          <a:xfrm>
            <a:off x="3611880" y="1417320"/>
            <a:ext cx="2340864"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13</a:t>
            </a:r>
            <a:endParaRPr lang="en-US" sz="2700" dirty="0"/>
          </a:p>
        </p:txBody>
      </p:sp>
      <p:sp>
        <p:nvSpPr>
          <p:cNvPr id="12" name="Text 10"/>
          <p:cNvSpPr txBox="1"/>
          <p:nvPr/>
        </p:nvSpPr>
        <p:spPr>
          <a:xfrm>
            <a:off x="361188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People lost in the year</a:t>
            </a:r>
            <a:endParaRPr lang="en-US" sz="1150" dirty="0"/>
          </a:p>
        </p:txBody>
      </p:sp>
      <p:sp>
        <p:nvSpPr>
          <p:cNvPr id="13" name="Text 11"/>
          <p:cNvSpPr txBox="1"/>
          <p:nvPr/>
        </p:nvSpPr>
        <p:spPr>
          <a:xfrm>
            <a:off x="361188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4 office and management, 9 sales force</a:t>
            </a:r>
            <a:endParaRPr lang="en-US" sz="1000" dirty="0"/>
          </a:p>
        </p:txBody>
      </p:sp>
      <p:sp>
        <p:nvSpPr>
          <p:cNvPr id="14" name="Shape 12"/>
          <p:cNvSpPr/>
          <p:nvPr/>
        </p:nvSpPr>
        <p:spPr>
          <a:xfrm>
            <a:off x="6327648" y="1298448"/>
            <a:ext cx="2670048" cy="1481328"/>
          </a:xfrm>
          <a:prstGeom prst="roundRect">
            <a:avLst>
              <a:gd name="adj" fmla="val 4321"/>
            </a:avLst>
          </a:prstGeom>
          <a:solidFill>
            <a:srgbClr val="F6E4DF"/>
          </a:solidFill>
          <a:ln/>
        </p:spPr>
        <p:txBody>
          <a:bodyPr/>
          <a:lstStyle/>
          <a:p>
            <a:endParaRPr lang="en-DE"/>
          </a:p>
        </p:txBody>
      </p:sp>
      <p:sp>
        <p:nvSpPr>
          <p:cNvPr id="15" name="Text 13"/>
          <p:cNvSpPr txBox="1"/>
          <p:nvPr/>
        </p:nvSpPr>
        <p:spPr>
          <a:xfrm>
            <a:off x="6492240" y="1417320"/>
            <a:ext cx="2340864"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306,000 €</a:t>
            </a:r>
            <a:endParaRPr lang="en-US" sz="2700" dirty="0"/>
          </a:p>
        </p:txBody>
      </p:sp>
      <p:sp>
        <p:nvSpPr>
          <p:cNvPr id="16" name="Text 14"/>
          <p:cNvSpPr txBox="1"/>
          <p:nvPr/>
        </p:nvSpPr>
        <p:spPr>
          <a:xfrm>
            <a:off x="649224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Cost of that turnover</a:t>
            </a:r>
            <a:endParaRPr lang="en-US" sz="1150" dirty="0"/>
          </a:p>
        </p:txBody>
      </p:sp>
      <p:sp>
        <p:nvSpPr>
          <p:cNvPr id="17" name="Text 15"/>
          <p:cNvSpPr txBox="1"/>
          <p:nvPr/>
        </p:nvSpPr>
        <p:spPr>
          <a:xfrm>
            <a:off x="649224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36,000 € office, 270,000 € sales force</a:t>
            </a:r>
            <a:endParaRPr lang="en-US" sz="1000" dirty="0"/>
          </a:p>
        </p:txBody>
      </p:sp>
      <p:sp>
        <p:nvSpPr>
          <p:cNvPr id="18" name="Shape 16"/>
          <p:cNvSpPr/>
          <p:nvPr/>
        </p:nvSpPr>
        <p:spPr>
          <a:xfrm>
            <a:off x="9208008" y="1298448"/>
            <a:ext cx="2670048" cy="1481328"/>
          </a:xfrm>
          <a:prstGeom prst="roundRect">
            <a:avLst>
              <a:gd name="adj" fmla="val 4321"/>
            </a:avLst>
          </a:prstGeom>
          <a:solidFill>
            <a:srgbClr val="F6E4DF"/>
          </a:solidFill>
          <a:ln/>
        </p:spPr>
        <p:txBody>
          <a:bodyPr/>
          <a:lstStyle/>
          <a:p>
            <a:endParaRPr lang="en-DE"/>
          </a:p>
        </p:txBody>
      </p:sp>
      <p:sp>
        <p:nvSpPr>
          <p:cNvPr id="19" name="Text 17"/>
          <p:cNvSpPr txBox="1"/>
          <p:nvPr/>
        </p:nvSpPr>
        <p:spPr>
          <a:xfrm>
            <a:off x="9372600" y="1417320"/>
            <a:ext cx="2340864"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722,000 €</a:t>
            </a:r>
            <a:endParaRPr lang="en-US" sz="2700" dirty="0"/>
          </a:p>
        </p:txBody>
      </p:sp>
      <p:sp>
        <p:nvSpPr>
          <p:cNvPr id="20" name="Text 18"/>
          <p:cNvSpPr txBox="1"/>
          <p:nvPr/>
        </p:nvSpPr>
        <p:spPr>
          <a:xfrm>
            <a:off x="9372600" y="1993392"/>
            <a:ext cx="2340864"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Spent on selection and training</a:t>
            </a:r>
            <a:endParaRPr lang="en-US" sz="1150" dirty="0"/>
          </a:p>
        </p:txBody>
      </p:sp>
      <p:sp>
        <p:nvSpPr>
          <p:cNvPr id="21" name="Text 19"/>
          <p:cNvSpPr txBox="1"/>
          <p:nvPr/>
        </p:nvSpPr>
        <p:spPr>
          <a:xfrm>
            <a:off x="9372600" y="2286000"/>
            <a:ext cx="2340864"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With no measurable effect on turnover</a:t>
            </a:r>
            <a:endParaRPr lang="en-US" sz="1000" dirty="0"/>
          </a:p>
        </p:txBody>
      </p:sp>
      <p:sp>
        <p:nvSpPr>
          <p:cNvPr id="22" name="Text 20"/>
          <p:cNvSpPr txBox="1"/>
          <p:nvPr/>
        </p:nvSpPr>
        <p:spPr>
          <a:xfrm>
            <a:off x="566928" y="3035808"/>
            <a:ext cx="53949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SALARY LEVELS AND WHERE THEY SIT IN THE ALLOWED RANGE</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3346704"/>
          <a:ext cx="557784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Our salary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Allowed range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Position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Level I</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126,000 €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108,000 – 150,000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Lower half</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Level II</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84,000 €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72,124 – 99,170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Mid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Level III</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51,100 – 72,124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Mid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Level IV</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35,000 €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30,050 – 42,075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Mid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Operator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13,500 €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12,000 – 16,830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Lower half</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Specialist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24,000 €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21,000 – 29,450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Lower half</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 rep</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27,000 € + 0.6%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21,000–42,000 / 0.6–1.2%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Low pay, min. rate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4" name="Text 21"/>
          <p:cNvSpPr txBox="1"/>
          <p:nvPr/>
        </p:nvSpPr>
        <p:spPr>
          <a:xfrm>
            <a:off x="6492240" y="3035808"/>
            <a:ext cx="516636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WHAT THE NUMBERS SAY</a:t>
            </a:r>
            <a:endParaRPr lang="en-US" sz="1250" dirty="0"/>
          </a:p>
        </p:txBody>
      </p:sp>
      <p:sp>
        <p:nvSpPr>
          <p:cNvPr id="25" name="Text 22"/>
          <p:cNvSpPr txBox="1"/>
          <p:nvPr/>
        </p:nvSpPr>
        <p:spPr>
          <a:xfrm>
            <a:off x="6492240" y="3346704"/>
            <a:ext cx="5166360" cy="3291840"/>
          </a:xfrm>
          <a:prstGeom prst="rect">
            <a:avLst/>
          </a:prstGeom>
          <a:noFill/>
          <a:ln/>
        </p:spPr>
        <p:txBody>
          <a:bodyPr wrap="square" lIns="0" tIns="0" rIns="0" bIns="0" rtlCol="0" anchor="t"/>
          <a:lstStyle/>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Our sales force sits in the lower part of the permitted salary range and at the minimum permitted commission rate, and it is where we lost nine people — 270,000 € of the 306,000 € turnover bill.</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The recruitment and training department cost 722,000 € and turnover still happened. Tested with the department switched off, the turnover cost is 366,000 € — so the department bought a 60,000 € reduction for 722,000 €.</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Rivals' salaries cannot be compared: survey 25 (salary averages) and survey 14 (rep counts by company) were not purchased in Year 1, so the only benchmark we have is the permitted range. Both surveys are in the Year-2 budget.</a:t>
            </a:r>
            <a:endParaRPr lang="en-US" sz="1150" dirty="0"/>
          </a:p>
          <a:p>
            <a:pPr marL="177800" indent="-177800">
              <a:lnSpc>
                <a:spcPts val="1518"/>
              </a:lnSpc>
              <a:spcAft>
                <a:spcPts val="700"/>
              </a:spcAft>
              <a:buSzPct val="100000"/>
              <a:buChar char="•"/>
            </a:pPr>
            <a:r>
              <a:rPr lang="en-US" sz="1150" dirty="0">
                <a:solidFill>
                  <a:srgbClr val="16202E"/>
                </a:solidFill>
                <a:latin typeface="Calibri" pitchFamily="34" charset="0"/>
                <a:ea typeface="Calibri" pitchFamily="34" charset="-122"/>
                <a:cs typeface="Calibri" pitchFamily="34" charset="-120"/>
              </a:rPr>
              <a:t>Sales-force optimisation: 16 representatives across two markets generated 20.4 M units. The constraint on S was the factory, not the sales force, so adding reps would have added cost and no volume.</a:t>
            </a:r>
            <a:endParaRPr lang="en-US" sz="1150" dirty="0"/>
          </a:p>
        </p:txBody>
      </p:sp>
      <p:sp>
        <p:nvSpPr>
          <p:cNvPr id="26" name="Text 23"/>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p.4 (workforce turnover) and p.5 (staff costs, selection and training, incentives); INF and the rulebook for permitted salary ranges.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FINANCE</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Financial statements and ratios</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sp>
        <p:nvSpPr>
          <p:cNvPr id="6" name="Text 4"/>
          <p:cNvSpPr txBox="1"/>
          <p:nvPr/>
        </p:nvSpPr>
        <p:spPr>
          <a:xfrm>
            <a:off x="566928" y="1298448"/>
            <a:ext cx="566928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OUR RATIOS AGAINST THE INDUSTRY AVERAGE</a:t>
            </a:r>
            <a:endParaRPr lang="en-US" sz="1250" dirty="0"/>
          </a:p>
        </p:txBody>
      </p:sp>
      <p:graphicFrame>
        <p:nvGraphicFramePr>
          <p:cNvPr id="7" name="Chart 0"/>
          <p:cNvGraphicFramePr/>
          <p:nvPr/>
        </p:nvGraphicFramePr>
        <p:xfrm>
          <a:off x="566928" y="1609344"/>
          <a:ext cx="566928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6537960" y="1298448"/>
            <a:ext cx="512064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BALANCE SHEET AT 31 DECEMBER, YEAR 1</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37960" y="1609344"/>
          <a:ext cx="5120640" cy="914400"/>
        </p:xfrm>
        <a:graphic>
          <a:graphicData uri="http://schemas.openxmlformats.org/drawingml/2006/table">
            <a:tbl>
              <a:tblPr/>
              <a:tblGrid>
                <a:gridCol w="16916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24612">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Cash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46,902,208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Idle, earning nothing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Receivables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27,284,077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60-day customer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41,497,297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98.8% is unsold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Non-current assets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59,520,000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32 lines, net of depreciation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2461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Total assets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175,203,582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Payables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15,380,390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120-day supplier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2461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Loans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26,000,000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6.5 M short + 19.5 M long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32461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Equity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133,823,192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66 M capital + 67.8 M earnings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Shape 6"/>
          <p:cNvSpPr/>
          <p:nvPr/>
        </p:nvSpPr>
        <p:spPr>
          <a:xfrm>
            <a:off x="6537960" y="4608576"/>
            <a:ext cx="5120640" cy="1188720"/>
          </a:xfrm>
          <a:prstGeom prst="roundRect">
            <a:avLst>
              <a:gd name="adj" fmla="val 5385"/>
            </a:avLst>
          </a:prstGeom>
          <a:solidFill>
            <a:srgbClr val="F3E7CC"/>
          </a:solidFill>
          <a:ln/>
        </p:spPr>
        <p:txBody>
          <a:bodyPr/>
          <a:lstStyle/>
          <a:p>
            <a:endParaRPr lang="en-DE"/>
          </a:p>
        </p:txBody>
      </p:sp>
      <p:sp>
        <p:nvSpPr>
          <p:cNvPr id="11" name="Text 7"/>
          <p:cNvSpPr txBox="1"/>
          <p:nvPr/>
        </p:nvSpPr>
        <p:spPr>
          <a:xfrm>
            <a:off x="6720840" y="4700016"/>
            <a:ext cx="4754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The ratios the chart does not show</a:t>
            </a:r>
            <a:endParaRPr lang="en-US" sz="1200" dirty="0"/>
          </a:p>
        </p:txBody>
      </p:sp>
      <p:sp>
        <p:nvSpPr>
          <p:cNvPr id="12" name="Text 8"/>
          <p:cNvSpPr txBox="1"/>
          <p:nvPr/>
        </p:nvSpPr>
        <p:spPr>
          <a:xfrm>
            <a:off x="6720840" y="4983480"/>
            <a:ext cx="4754880" cy="777240"/>
          </a:xfrm>
          <a:prstGeom prst="rect">
            <a:avLst/>
          </a:prstGeom>
          <a:noFill/>
          <a:ln/>
        </p:spPr>
        <p:txBody>
          <a:bodyPr wrap="square" lIns="0" tIns="0" rIns="0" bIns="0" rtlCol="0" anchor="t"/>
          <a:lstStyle/>
          <a:p>
            <a:pPr marL="0" indent="0">
              <a:lnSpc>
                <a:spcPts val="1250"/>
              </a:lnSpc>
              <a:buNone/>
            </a:pPr>
            <a:r>
              <a:rPr lang="en-US" sz="950" dirty="0">
                <a:solidFill>
                  <a:srgbClr val="16202E"/>
                </a:solidFill>
                <a:latin typeface="Calibri" pitchFamily="34" charset="0"/>
                <a:ea typeface="Calibri" pitchFamily="34" charset="-122"/>
                <a:cs typeface="Calibri" pitchFamily="34" charset="-120"/>
              </a:rPr>
              <a:t>Liquidity is below average — current ratio 5.29 vs 7.91, quick ratio 3.39 vs 6.93 — and leverage is above it, debt ratio 23.62 vs 7.19. Asset management is ahead on every measure: total asset turnover 0.93 vs 0.61, non-current asset turnover 2.75 vs 1.74, inventory turnover 1.62 vs 1.02. We are the most profitable and the most indebted company in the industry at once, and we did not need to be.</a:t>
            </a:r>
            <a:endParaRPr lang="en-US" sz="950" dirty="0"/>
          </a:p>
        </p:txBody>
      </p:sp>
      <p:sp>
        <p:nvSpPr>
          <p:cNvPr id="13" name="Text 9"/>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p.6 (balance sheet) and p.8 (ratios, company against industry average).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 — FINANCE</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Cash management: an expensively financed year</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Instrument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 in Year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Was it needed?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Loans drawn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26,000,000 € at 10% — 6.5 M short, 19.5 M long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2,600,000 € interest + 260,000 € fee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No. We closed the year with 46.9 M € of cash.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Credit line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10,000,000 € requested, never drawn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100,000 € line charge + 100,000 € fee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No. 200,000 € for insurance we did not use.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Supplier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120 days on both raw materials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 raw-material premium ≈ 414,000 €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No. We had the cash to pay on delivery.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Customer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60 days — the shortest available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27.3 M € tied up in receivables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Yes. Already at the best setting.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Deposits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None taken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46.9 M € earned 0% all year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A 2.5% deposit was available and unused.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Factoring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Not used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Correct. Nothing needed funding.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566928" y="4315968"/>
            <a:ext cx="3529584" cy="1481328"/>
          </a:xfrm>
          <a:prstGeom prst="roundRect">
            <a:avLst>
              <a:gd name="adj" fmla="val 4321"/>
            </a:avLst>
          </a:prstGeom>
          <a:solidFill>
            <a:srgbClr val="F6E4DF"/>
          </a:solidFill>
          <a:ln/>
        </p:spPr>
        <p:txBody>
          <a:bodyPr/>
          <a:lstStyle/>
          <a:p>
            <a:endParaRPr lang="en-DE"/>
          </a:p>
        </p:txBody>
      </p:sp>
      <p:sp>
        <p:nvSpPr>
          <p:cNvPr id="8" name="Text 5"/>
          <p:cNvSpPr txBox="1"/>
          <p:nvPr/>
        </p:nvSpPr>
        <p:spPr>
          <a:xfrm>
            <a:off x="731520" y="4434840"/>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3,060,000 €</a:t>
            </a:r>
            <a:endParaRPr lang="en-US" sz="2700" dirty="0"/>
          </a:p>
        </p:txBody>
      </p:sp>
      <p:sp>
        <p:nvSpPr>
          <p:cNvPr id="9" name="Text 6"/>
          <p:cNvSpPr txBox="1"/>
          <p:nvPr/>
        </p:nvSpPr>
        <p:spPr>
          <a:xfrm>
            <a:off x="731520"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Total financial expense</a:t>
            </a:r>
            <a:endParaRPr lang="en-US" sz="1150" dirty="0"/>
          </a:p>
        </p:txBody>
      </p:sp>
      <p:sp>
        <p:nvSpPr>
          <p:cNvPr id="10" name="Text 7"/>
          <p:cNvSpPr txBox="1"/>
          <p:nvPr/>
        </p:nvSpPr>
        <p:spPr>
          <a:xfrm>
            <a:off x="731520"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4.5% of net income, paid to borrow money we already had.</a:t>
            </a:r>
            <a:endParaRPr lang="en-US" sz="1000" dirty="0"/>
          </a:p>
        </p:txBody>
      </p:sp>
      <p:sp>
        <p:nvSpPr>
          <p:cNvPr id="11" name="Shape 8"/>
          <p:cNvSpPr/>
          <p:nvPr/>
        </p:nvSpPr>
        <p:spPr>
          <a:xfrm>
            <a:off x="4334256" y="4315968"/>
            <a:ext cx="3529584" cy="1481328"/>
          </a:xfrm>
          <a:prstGeom prst="roundRect">
            <a:avLst>
              <a:gd name="adj" fmla="val 4321"/>
            </a:avLst>
          </a:prstGeom>
          <a:solidFill>
            <a:srgbClr val="F6E4DF"/>
          </a:solidFill>
          <a:ln/>
        </p:spPr>
        <p:txBody>
          <a:bodyPr/>
          <a:lstStyle/>
          <a:p>
            <a:endParaRPr lang="en-DE"/>
          </a:p>
        </p:txBody>
      </p:sp>
      <p:sp>
        <p:nvSpPr>
          <p:cNvPr id="12" name="Text 9"/>
          <p:cNvSpPr txBox="1"/>
          <p:nvPr/>
        </p:nvSpPr>
        <p:spPr>
          <a:xfrm>
            <a:off x="4498848" y="4434840"/>
            <a:ext cx="3200400" cy="566928"/>
          </a:xfrm>
          <a:prstGeom prst="rect">
            <a:avLst/>
          </a:prstGeom>
          <a:noFill/>
          <a:ln/>
        </p:spPr>
        <p:txBody>
          <a:bodyPr wrap="square" lIns="0" tIns="0" rIns="0" bIns="0" rtlCol="0" anchor="ctr"/>
          <a:lstStyle/>
          <a:p>
            <a:pPr marL="0" indent="0">
              <a:buNone/>
            </a:pPr>
            <a:r>
              <a:rPr lang="en-US" sz="2700" b="1" dirty="0">
                <a:solidFill>
                  <a:srgbClr val="B04A38"/>
                </a:solidFill>
                <a:latin typeface="Cambria" pitchFamily="34" charset="0"/>
                <a:ea typeface="Cambria" pitchFamily="34" charset="-122"/>
                <a:cs typeface="Cambria" pitchFamily="34" charset="-120"/>
              </a:rPr>
              <a:t>0 €</a:t>
            </a:r>
            <a:endParaRPr lang="en-US" sz="2700" dirty="0"/>
          </a:p>
        </p:txBody>
      </p:sp>
      <p:sp>
        <p:nvSpPr>
          <p:cNvPr id="13" name="Text 10"/>
          <p:cNvSpPr txBox="1"/>
          <p:nvPr/>
        </p:nvSpPr>
        <p:spPr>
          <a:xfrm>
            <a:off x="4498848"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Financial income earned</a:t>
            </a:r>
            <a:endParaRPr lang="en-US" sz="1150" dirty="0"/>
          </a:p>
        </p:txBody>
      </p:sp>
      <p:sp>
        <p:nvSpPr>
          <p:cNvPr id="14" name="Text 11"/>
          <p:cNvSpPr txBox="1"/>
          <p:nvPr/>
        </p:nvSpPr>
        <p:spPr>
          <a:xfrm>
            <a:off x="4498848"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A fixed-term deposit at 2.5% was available from day one.</a:t>
            </a:r>
            <a:endParaRPr lang="en-US" sz="1000" dirty="0"/>
          </a:p>
        </p:txBody>
      </p:sp>
      <p:sp>
        <p:nvSpPr>
          <p:cNvPr id="15" name="Shape 12"/>
          <p:cNvSpPr/>
          <p:nvPr/>
        </p:nvSpPr>
        <p:spPr>
          <a:xfrm>
            <a:off x="8101584" y="4315968"/>
            <a:ext cx="3529584" cy="1481328"/>
          </a:xfrm>
          <a:prstGeom prst="roundRect">
            <a:avLst>
              <a:gd name="adj" fmla="val 4321"/>
            </a:avLst>
          </a:prstGeom>
          <a:solidFill>
            <a:srgbClr val="EDEFF2"/>
          </a:solidFill>
          <a:ln/>
        </p:spPr>
        <p:txBody>
          <a:bodyPr/>
          <a:lstStyle/>
          <a:p>
            <a:endParaRPr lang="en-DE"/>
          </a:p>
        </p:txBody>
      </p:sp>
      <p:sp>
        <p:nvSpPr>
          <p:cNvPr id="16" name="Text 13"/>
          <p:cNvSpPr txBox="1"/>
          <p:nvPr/>
        </p:nvSpPr>
        <p:spPr>
          <a:xfrm>
            <a:off x="8266176" y="4434840"/>
            <a:ext cx="3200400"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93.8 M €</a:t>
            </a:r>
            <a:endParaRPr lang="en-US" sz="2700" dirty="0"/>
          </a:p>
        </p:txBody>
      </p:sp>
      <p:sp>
        <p:nvSpPr>
          <p:cNvPr id="17" name="Text 14"/>
          <p:cNvSpPr txBox="1"/>
          <p:nvPr/>
        </p:nvSpPr>
        <p:spPr>
          <a:xfrm>
            <a:off x="8266176" y="501091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Working capital at year end</a:t>
            </a:r>
            <a:endParaRPr lang="en-US" sz="1150" dirty="0"/>
          </a:p>
        </p:txBody>
      </p:sp>
      <p:sp>
        <p:nvSpPr>
          <p:cNvPr id="18" name="Text 15"/>
          <p:cNvSpPr txBox="1"/>
          <p:nvPr/>
        </p:nvSpPr>
        <p:spPr>
          <a:xfrm>
            <a:off x="8266176" y="530352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Of which 41.5 M € is inventory. The cash is real; it is simply in the wrong form.</a:t>
            </a:r>
            <a:endParaRPr lang="en-US" sz="1000" dirty="0"/>
          </a:p>
        </p:txBody>
      </p:sp>
      <p:sp>
        <p:nvSpPr>
          <p:cNvPr id="19" name="Text 16"/>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p.5 (financial income and expenses), p.6 (balance sheet); INF p.2 (interest rates, fees, terms).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3 · ANALYSIS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Year 1: the causes behind the result</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All directors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25146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65836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happened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it happened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cost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we do about it in 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65836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We are first in profit and in unit share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 premium position on S that the market paid for, and volume leadership on H in market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Change nothing about the positioning of either brand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sold out with 1.83 M units of demand unserved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Only 10 of the 32 permitted lines were assigned to S; the split was set before demand was measured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26.5 M € of revenue, 12.3 M € of contribution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SMED on the S lines: +14.1% output. The 32-line cap blocks any other route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17.6 M units of H produced and unsold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 lines on three shifts run against a demand estimate nobody validated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41.0 M € of cash frozen in the warehouse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Sell the stock before making more: only 2 of 22 H lines run in 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took only 22.6% of market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Tied for the lowest price in the market with the least visibility; the diagnostic surveys were not bought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Third place in the industry's largest segment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Raise A to 7.50 €, run a supermarket promotion, buy the 11 surveys that explain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3.06 M € of financial expense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 26 M € loan and a 10 M € credit line taken against a year that generated 67.8 M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4.5% of net income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Prepay the loan, drop the credit line, put the surplus on deposit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65836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722,000 € on training with no effect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department was funded without a measurement of what it changes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662,000 € net of the turnover it avoided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Close the department; fund the sales force instead if turnover repeats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566928" y="2468880"/>
            <a:ext cx="658368" cy="658368"/>
          </a:xfrm>
          <a:prstGeom prst="ellipse">
            <a:avLst/>
          </a:prstGeom>
          <a:solidFill>
            <a:srgbClr val="C8952F"/>
          </a:solidFill>
          <a:ln/>
        </p:spPr>
        <p:txBody>
          <a:bodyPr/>
          <a:lstStyle/>
          <a:p>
            <a:endParaRPr lang="en-DE"/>
          </a:p>
        </p:txBody>
      </p:sp>
      <p:sp>
        <p:nvSpPr>
          <p:cNvPr id="3" name="Text 1"/>
          <p:cNvSpPr txBox="1"/>
          <p:nvPr/>
        </p:nvSpPr>
        <p:spPr>
          <a:xfrm>
            <a:off x="566928" y="2468880"/>
            <a:ext cx="658368" cy="658368"/>
          </a:xfrm>
          <a:prstGeom prst="rect">
            <a:avLst/>
          </a:prstGeom>
          <a:noFill/>
          <a:ln/>
        </p:spPr>
        <p:txBody>
          <a:bodyPr wrap="square" lIns="0" tIns="0" rIns="0" bIns="0" rtlCol="0" anchor="ctr"/>
          <a:lstStyle/>
          <a:p>
            <a:pPr marL="0" indent="0" algn="ctr">
              <a:buNone/>
            </a:pPr>
            <a:r>
              <a:rPr lang="en-US" sz="2400" b="1" dirty="0">
                <a:solidFill>
                  <a:srgbClr val="13233F"/>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417320" y="2395728"/>
            <a:ext cx="10058400" cy="658368"/>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Year 2: objectives, decisions and forecast</a:t>
            </a:r>
            <a:endParaRPr lang="en-US" sz="3600" dirty="0"/>
          </a:p>
        </p:txBody>
      </p:sp>
      <p:sp>
        <p:nvSpPr>
          <p:cNvPr id="5" name="Text 3"/>
          <p:cNvSpPr txBox="1"/>
          <p:nvPr/>
        </p:nvSpPr>
        <p:spPr>
          <a:xfrm>
            <a:off x="1417320" y="3154680"/>
            <a:ext cx="9509760" cy="731520"/>
          </a:xfrm>
          <a:prstGeom prst="rect">
            <a:avLst/>
          </a:prstGeom>
          <a:noFill/>
          <a:ln/>
        </p:spPr>
        <p:txBody>
          <a:bodyPr wrap="square" lIns="0" tIns="0" rIns="0" bIns="0" rtlCol="0" anchor="ctr"/>
          <a:lstStyle/>
          <a:p>
            <a:pPr marL="0" indent="0">
              <a:lnSpc>
                <a:spcPts val="2200"/>
              </a:lnSpc>
              <a:buNone/>
            </a:pPr>
            <a:r>
              <a:rPr lang="en-US" sz="1500" dirty="0">
                <a:solidFill>
                  <a:srgbClr val="C3CCDA"/>
                </a:solidFill>
                <a:latin typeface="Calibri" pitchFamily="34" charset="0"/>
                <a:ea typeface="Calibri" pitchFamily="34" charset="-122"/>
                <a:cs typeface="Calibri" pitchFamily="34" charset="-120"/>
              </a:rPr>
              <a:t>Specific, measurable and built directly on the Year-1 analysis   —   all directors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4 · OBJECTIVES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Objectives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Managing Director</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4754880">
                  <a:extLst>
                    <a:ext uri="{9D8B030D-6E8A-4147-A177-3AD203B41FA5}">
                      <a16:colId xmlns:a16="http://schemas.microsoft.com/office/drawing/2014/main" val="20004"/>
                    </a:ext>
                  </a:extLst>
                </a:gridCol>
              </a:tblGrid>
              <a:tr h="37947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1 actual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 target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How it is reached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Units sold —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5,850,000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6,675,000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Two SMED modules lift output per line-shift from 195,000 to 222,500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Units sold —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14,546,301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15,047,394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Y1 volume plus the 501,093 units we failed to serve, sold from stock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share — S in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52.7%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 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+2.3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All incremental output goes to market A, where demand is unserved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share — H in A</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+2.4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Recovering the 501,093 unserved units alone is 25.1% — price, promotion and surveys support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Revenue at retail price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189,365,764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212,980,455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Volume plus the S price move from 14.50 € to 15.00 €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Gross margin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58.5%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61.5%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+3.0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SMED cuts unit cost: S 5.56 € to 5.15 €, H 2.33 € to 2.23 €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Operating margin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43.3%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47.2%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+3.9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Gross margin gain, with general expenses held at +6.7%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Net margin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41.4%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47.2%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+5.8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Operating gain plus the removal of all financial expense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Net income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67,823,192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87,502,697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+29.0%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forecast on slide 27, built line by line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9"/>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Return on equity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50.7%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39.5%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−11.2 pts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Mechanical: equity rises from 133.8 M € to 221.3 M € with no dividend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0"/>
                  </a:ext>
                </a:extLst>
              </a:tr>
              <a:tr h="37947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Debt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26,000,000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long-term loan is prepaid on 2 January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 name="Text 4"/>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ROE falls because retained earnings almost double the equity base. On the opening equity of 133.8 M € the same net income is a 65.4% return. We are not proposing a dividend.</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5 · DECISIONS — MARKETING</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Marketing actions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Marketing Director</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46634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Lever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Rationale from the Year-1 analysis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Positioning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 S at (1,8), H at (9,1), in A and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Both positions delivered first place in their strongest market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14.50 € → 15.00 € in every channel of A and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Output is capped 1.0 M units below last year's demand; the units sell either way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+3,176,230 €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6.50 € → 7.50 € in market A; B unchanged at 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cheapest H in A came third. B holds 55.8% at 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+4,475,116 €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Promotions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price reduction of 0.50 €, three promotions, supermarket channel, A and B. S: 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Both rivals that promoted H sold out. S has no spare supply to promote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5C6672"/>
                          </a:solidFill>
                          <a:latin typeface="Calibri" pitchFamily="34" charset="0"/>
                          <a:ea typeface="Calibri" pitchFamily="34" charset="-122"/>
                          <a:cs typeface="Calibri" pitchFamily="34" charset="-120"/>
                        </a:rPr>
                        <a:t>−661,702 € cost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Portfolio</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Both products in A and B through all three channels. No entry into market 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two companies that entered E sold 98,165 units between them</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Advertising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Held: campaign 18 for S, 19 for H; 678,000 € media + 150,000 € point of sale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Moving the budget before the surveys report would confound the reading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Shelf and margin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18% shelf at 1.90 € retailer margin; H 22% at 1.00 €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Held pending survey 15, which measures what the winners achieved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research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22 of 28 surveys, up from 11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Answers why H lost market A, what rivals spend on media, and whether E can pay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5C6672"/>
                          </a:solidFill>
                          <a:latin typeface="Calibri" pitchFamily="34" charset="0"/>
                          <a:ea typeface="Calibri" pitchFamily="34" charset="-122"/>
                          <a:cs typeface="Calibri" pitchFamily="34" charset="-120"/>
                        </a:rPr>
                        <a:t>−680,600 €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r h="466344">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 network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 managers in A and B; 4+4 reps in A, 5+3 in B — 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is supply-capped and H holds 55.8% of B; extra reps would add cost, not volume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3,192,000 €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 4"/>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Price effects are net income deltas against the base case, holding volume at the level the Year-1 data measured. Full sensitivity on slide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5 · DECISIONS — OPERATIONS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Operations actions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Operations Director</a:t>
            </a:r>
            <a:endParaRPr lang="en-US" sz="1100" dirty="0"/>
          </a:p>
        </p:txBody>
      </p:sp>
      <p:sp>
        <p:nvSpPr>
          <p:cNvPr id="6" name="Text 4"/>
          <p:cNvSpPr txBox="1"/>
          <p:nvPr/>
        </p:nvSpPr>
        <p:spPr>
          <a:xfrm>
            <a:off x="566928" y="1298448"/>
            <a:ext cx="566928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CAPACITY AND PRODUCTION</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5669280" cy="914400"/>
        </p:xfrm>
        <a:graphic>
          <a:graphicData uri="http://schemas.openxmlformats.org/drawingml/2006/table">
            <a:tbl>
              <a:tblPr/>
              <a:tblGrid>
                <a:gridCol w="18745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New production lines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 S + 22 H already reaches the 32-line legal cap</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SMED modules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 at 6,000,000 €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only capacity lever left: +14.1% on S, +14.4% on H per line-shift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Poka Yoke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23,040,000 € for +4.55% output — never pays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Shifts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 the constraint is the line, not the hours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Preventive maintenance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Yes, 500,000 €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Kept repairs at 1.1% of unit cost in Year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lines active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 of 10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Every S line runs — S is the constrained product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lines active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 of 22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17.6 M units are already in the warehouse. Sell them before making more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output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6,675,000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 lines × 3 shifts × 222,500 with SMED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 output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3,345,000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 lines × 3 shifts × 557,500 — tops the stock up to 20.97 M available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txBox="1"/>
          <p:nvPr/>
        </p:nvSpPr>
        <p:spPr>
          <a:xfrm>
            <a:off x="6537960" y="1298448"/>
            <a:ext cx="512064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SUPPLY CHAIN AND LOGISTICS</a:t>
            </a:r>
            <a:endParaRPr lang="en-US" sz="125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537960" y="1609344"/>
          <a:ext cx="512064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Raw material — 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6,578,235 u</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Output × 1.02 scrap × 1.01 buffer, less stock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Raw material —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3,446,019 u</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Same rule applied to the reduced H run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Supplier payment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Cash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Drops the 3% terms premium — about 414,000 €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Platforms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 in A, 12 in B, 12 in 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E cut from the 60-platform template default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Trunk vehicles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 in A, 2 in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Year 1 shipped 20.4 M units on 5 with no stockout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Last-mile vehicles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24 in A, 18 in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Down from 30 and 20; loads stay under what each vehicle carried in Year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Fleet total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46 vehicles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Saves 170,400 € against Year 1's 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Shape 6"/>
          <p:cNvSpPr/>
          <p:nvPr/>
        </p:nvSpPr>
        <p:spPr>
          <a:xfrm>
            <a:off x="6537960" y="5340096"/>
            <a:ext cx="5120640" cy="868680"/>
          </a:xfrm>
          <a:prstGeom prst="roundRect">
            <a:avLst>
              <a:gd name="adj" fmla="val 7368"/>
            </a:avLst>
          </a:prstGeom>
          <a:solidFill>
            <a:srgbClr val="DDECE7"/>
          </a:solidFill>
          <a:ln/>
        </p:spPr>
        <p:txBody>
          <a:bodyPr/>
          <a:lstStyle/>
          <a:p>
            <a:endParaRPr lang="en-DE"/>
          </a:p>
        </p:txBody>
      </p:sp>
      <p:sp>
        <p:nvSpPr>
          <p:cNvPr id="11" name="Text 7"/>
          <p:cNvSpPr txBox="1"/>
          <p:nvPr/>
        </p:nvSpPr>
        <p:spPr>
          <a:xfrm>
            <a:off x="6720840" y="5413248"/>
            <a:ext cx="475488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The trade the CEO should test us on</a:t>
            </a:r>
            <a:endParaRPr lang="en-US" sz="1200" dirty="0"/>
          </a:p>
        </p:txBody>
      </p:sp>
      <p:sp>
        <p:nvSpPr>
          <p:cNvPr id="12" name="Text 8"/>
          <p:cNvSpPr txBox="1"/>
          <p:nvPr/>
        </p:nvSpPr>
        <p:spPr>
          <a:xfrm>
            <a:off x="6720840" y="5687568"/>
            <a:ext cx="4754880" cy="457200"/>
          </a:xfrm>
          <a:prstGeom prst="rect">
            <a:avLst/>
          </a:prstGeom>
          <a:noFill/>
          <a:ln/>
        </p:spPr>
        <p:txBody>
          <a:bodyPr wrap="square" lIns="0" tIns="0" rIns="0" bIns="0" rtlCol="0" anchor="t"/>
          <a:lstStyle/>
          <a:p>
            <a:pPr marL="0" indent="0">
              <a:lnSpc>
                <a:spcPts val="1300"/>
              </a:lnSpc>
              <a:buNone/>
            </a:pPr>
            <a:r>
              <a:rPr lang="en-US" sz="1000" dirty="0">
                <a:solidFill>
                  <a:srgbClr val="16202E"/>
                </a:solidFill>
                <a:latin typeface="Calibri" pitchFamily="34" charset="0"/>
                <a:ea typeface="Calibri" pitchFamily="34" charset="-122"/>
                <a:cs typeface="Calibri" pitchFamily="34" charset="-120"/>
              </a:rPr>
              <a:t>6,000,000 € of SMED replaces 8,400,000 € of new lines we are not allowed to build, and pays for itself inside the year: +825,000 units of S at 7.22 € of contribution is 5.95 M €.</a:t>
            </a:r>
            <a:endParaRPr lang="en-US" sz="1000" dirty="0"/>
          </a:p>
        </p:txBody>
      </p:sp>
      <p:sp>
        <p:nvSpPr>
          <p:cNvPr id="13" name="Text 9"/>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Idle H lines still carry depreciation of 3,600,000 € a year whether they run or not, which is included in the forecast.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5 · DECISIONS — HUMAN RESOURCES</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Human resources actions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HR Director</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42519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6692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P&amp;L effect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Salary levels I–IV</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126 / 84 / 60 / 35 k€</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Office turnover was 4 people and cost 36,000 €. No evidence a rise buys anything, and survey 25 is unread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Operator and specialist pay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13,500 € / 24,000 €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Production headcount falls from 3,144 to 1,404 as 20 H lines stand idle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Lower total payroll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Recruitment and training department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Yes — 722,000 €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With the department off, turnover cost rises to 366,000 € — a 60,000 € saving bought for 722,000 €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+662,000 €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Sales-force salary and commission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27,000 € + 0.6%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We sit at the bottom of both ranges, but S has no supply to sell and H holds 55.8% of B</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3,192,000 € fixed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 incentives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702,750 €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740,022 €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0.6% of net price on supermarket and wholesale volume, rising with the plan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−37,272 €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SMED specialist teams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 teams per shift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 specialists × 3 shifts × 2 teams at 24,000 € — required to run the modules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−576,000 €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566928" y="5458968"/>
            <a:ext cx="11064240" cy="914400"/>
          </a:xfrm>
          <a:prstGeom prst="roundRect">
            <a:avLst>
              <a:gd name="adj" fmla="val 7000"/>
            </a:avLst>
          </a:prstGeom>
          <a:solidFill>
            <a:srgbClr val="F3E7CC"/>
          </a:solidFill>
          <a:ln/>
        </p:spPr>
        <p:txBody>
          <a:bodyPr/>
          <a:lstStyle/>
          <a:p>
            <a:endParaRPr lang="en-DE"/>
          </a:p>
        </p:txBody>
      </p:sp>
      <p:sp>
        <p:nvSpPr>
          <p:cNvPr id="8" name="Text 5"/>
          <p:cNvSpPr txBox="1"/>
          <p:nvPr/>
        </p:nvSpPr>
        <p:spPr>
          <a:xfrm>
            <a:off x="768096" y="5550408"/>
            <a:ext cx="5486400" cy="274320"/>
          </a:xfrm>
          <a:prstGeom prst="rect">
            <a:avLst/>
          </a:prstGeom>
          <a:noFill/>
          <a:ln/>
        </p:spPr>
        <p:txBody>
          <a:bodyPr wrap="square" lIns="0" tIns="0" rIns="0" bIns="0" rtlCol="0" anchor="ctr"/>
          <a:lstStyle/>
          <a:p>
            <a:pPr marL="0" indent="0">
              <a:buNone/>
            </a:pPr>
            <a:r>
              <a:rPr lang="en-US" sz="1200" b="1" dirty="0">
                <a:solidFill>
                  <a:srgbClr val="13233F"/>
                </a:solidFill>
                <a:latin typeface="Calibri" pitchFamily="34" charset="0"/>
                <a:ea typeface="Calibri" pitchFamily="34" charset="-122"/>
                <a:cs typeface="Calibri" pitchFamily="34" charset="-120"/>
              </a:rPr>
              <a:t>Where we are deliberately not acting yet</a:t>
            </a:r>
            <a:endParaRPr lang="en-US" sz="1200" dirty="0"/>
          </a:p>
        </p:txBody>
      </p:sp>
      <p:sp>
        <p:nvSpPr>
          <p:cNvPr id="9" name="Text 6"/>
          <p:cNvSpPr txBox="1"/>
          <p:nvPr/>
        </p:nvSpPr>
        <p:spPr>
          <a:xfrm>
            <a:off x="768096" y="5824728"/>
            <a:ext cx="10607040" cy="502920"/>
          </a:xfrm>
          <a:prstGeom prst="rect">
            <a:avLst/>
          </a:prstGeom>
          <a:noFill/>
          <a:ln/>
        </p:spPr>
        <p:txBody>
          <a:bodyPr wrap="square" lIns="0" tIns="0" rIns="0" bIns="0" rtlCol="0" anchor="t"/>
          <a:lstStyle/>
          <a:p>
            <a:pPr marL="0" indent="0">
              <a:lnSpc>
                <a:spcPts val="1400"/>
              </a:lnSpc>
              <a:buNone/>
            </a:pPr>
            <a:r>
              <a:rPr lang="en-US" sz="1050" dirty="0">
                <a:solidFill>
                  <a:srgbClr val="16202E"/>
                </a:solidFill>
                <a:latin typeface="Calibri" pitchFamily="34" charset="0"/>
                <a:ea typeface="Calibri" pitchFamily="34" charset="-122"/>
                <a:cs typeface="Calibri" pitchFamily="34" charset="-120"/>
              </a:rPr>
              <a:t>Nine sales representatives left in Year 1 and we are paying the minimum of the permitted range. We are buying survey 14 rather than raising pay blind: if it shows rivals paying materially more, the pay review happens in the Year-3 plan with evidence behind it.</a:t>
            </a:r>
            <a:endParaRPr lang="en-US" sz="1050" dirty="0"/>
          </a:p>
        </p:txBody>
      </p:sp>
      <p:sp>
        <p:nvSpPr>
          <p:cNvPr id="10" name="Text 7"/>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Year-1 REP p.4 and p.5; permitted salary ranges from the rulebook; turnover measured with the training department switched off in the test round.</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5 · DECISIONS — FINANCE</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Finance actions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Instrument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 decision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Effect on net income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New loan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Operating cash requirement 9,621,161 € against 52,305,895 € available on 2 January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Existing loan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Prepay all 19,500,000 €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 195,000 € penalty removes 1,950,000 € of interest a year for the remaining life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+1,755,000 €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Credit line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None requested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10 M € line cost 200,000 € in Year 1 and was never drawn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Fixed-term deposit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10,000,000 € at 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Sized to keep the January trough above 9 M €; early withdrawal costs only 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+250,000 €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Supplier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Cash, both products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120-day terms carried a measured 3% raw-material premium</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+414,128 €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Customer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60 days — unchanged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Already the shortest setting; receivables end the year at 30,875,094 €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Factoring and securities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Neither used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Nothing needs funding, and the deposit pays the same 2.5% more simply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566928" y="4590288"/>
            <a:ext cx="3529584" cy="1481328"/>
          </a:xfrm>
          <a:prstGeom prst="roundRect">
            <a:avLst>
              <a:gd name="adj" fmla="val 4321"/>
            </a:avLst>
          </a:prstGeom>
          <a:solidFill>
            <a:srgbClr val="DDECE7"/>
          </a:solidFill>
          <a:ln/>
        </p:spPr>
        <p:txBody>
          <a:bodyPr/>
          <a:lstStyle/>
          <a:p>
            <a:endParaRPr lang="en-DE"/>
          </a:p>
        </p:txBody>
      </p:sp>
      <p:sp>
        <p:nvSpPr>
          <p:cNvPr id="8" name="Text 5"/>
          <p:cNvSpPr txBox="1"/>
          <p:nvPr/>
        </p:nvSpPr>
        <p:spPr>
          <a:xfrm>
            <a:off x="731520" y="4709160"/>
            <a:ext cx="3200400"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3.06 M € → 55 k€</a:t>
            </a:r>
            <a:endParaRPr lang="en-US" sz="2700" dirty="0"/>
          </a:p>
        </p:txBody>
      </p:sp>
      <p:sp>
        <p:nvSpPr>
          <p:cNvPr id="9" name="Text 6"/>
          <p:cNvSpPr txBox="1"/>
          <p:nvPr/>
        </p:nvSpPr>
        <p:spPr>
          <a:xfrm>
            <a:off x="731520" y="528523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Financial result</a:t>
            </a:r>
            <a:endParaRPr lang="en-US" sz="1150" dirty="0"/>
          </a:p>
        </p:txBody>
      </p:sp>
      <p:sp>
        <p:nvSpPr>
          <p:cNvPr id="10" name="Text 7"/>
          <p:cNvSpPr txBox="1"/>
          <p:nvPr/>
        </p:nvSpPr>
        <p:spPr>
          <a:xfrm>
            <a:off x="731520" y="557784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From a 3.06 M € expense to 55,000 € of net income</a:t>
            </a:r>
            <a:endParaRPr lang="en-US" sz="1000" dirty="0"/>
          </a:p>
        </p:txBody>
      </p:sp>
      <p:sp>
        <p:nvSpPr>
          <p:cNvPr id="11" name="Shape 8"/>
          <p:cNvSpPr/>
          <p:nvPr/>
        </p:nvSpPr>
        <p:spPr>
          <a:xfrm>
            <a:off x="4334256" y="4590288"/>
            <a:ext cx="3529584" cy="1481328"/>
          </a:xfrm>
          <a:prstGeom prst="roundRect">
            <a:avLst>
              <a:gd name="adj" fmla="val 4321"/>
            </a:avLst>
          </a:prstGeom>
          <a:solidFill>
            <a:srgbClr val="EDEFF2"/>
          </a:solidFill>
          <a:ln/>
        </p:spPr>
        <p:txBody>
          <a:bodyPr/>
          <a:lstStyle/>
          <a:p>
            <a:endParaRPr lang="en-DE"/>
          </a:p>
        </p:txBody>
      </p:sp>
      <p:sp>
        <p:nvSpPr>
          <p:cNvPr id="12" name="Text 9"/>
          <p:cNvSpPr txBox="1"/>
          <p:nvPr/>
        </p:nvSpPr>
        <p:spPr>
          <a:xfrm>
            <a:off x="4498848" y="4709160"/>
            <a:ext cx="3200400" cy="566928"/>
          </a:xfrm>
          <a:prstGeom prst="rect">
            <a:avLst/>
          </a:prstGeom>
          <a:noFill/>
          <a:ln/>
        </p:spPr>
        <p:txBody>
          <a:bodyPr wrap="square" lIns="0" tIns="0" rIns="0" bIns="0" rtlCol="0" anchor="ctr"/>
          <a:lstStyle/>
          <a:p>
            <a:pPr marL="0" indent="0">
              <a:buNone/>
            </a:pPr>
            <a:r>
              <a:rPr lang="en-US" sz="2700" b="1" dirty="0">
                <a:solidFill>
                  <a:srgbClr val="13233F"/>
                </a:solidFill>
                <a:latin typeface="Cambria" pitchFamily="34" charset="0"/>
                <a:ea typeface="Cambria" pitchFamily="34" charset="-122"/>
                <a:cs typeface="Cambria" pitchFamily="34" charset="-120"/>
              </a:rPr>
              <a:t>9,257,578 €</a:t>
            </a:r>
            <a:endParaRPr lang="en-US" sz="2700" dirty="0"/>
          </a:p>
        </p:txBody>
      </p:sp>
      <p:sp>
        <p:nvSpPr>
          <p:cNvPr id="13" name="Text 10"/>
          <p:cNvSpPr txBox="1"/>
          <p:nvPr/>
        </p:nvSpPr>
        <p:spPr>
          <a:xfrm>
            <a:off x="4498848" y="528523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January cash trough</a:t>
            </a:r>
            <a:endParaRPr lang="en-US" sz="1150" dirty="0"/>
          </a:p>
        </p:txBody>
      </p:sp>
      <p:sp>
        <p:nvSpPr>
          <p:cNvPr id="14" name="Text 11"/>
          <p:cNvSpPr txBox="1"/>
          <p:nvPr/>
        </p:nvSpPr>
        <p:spPr>
          <a:xfrm>
            <a:off x="4498848" y="557784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The low point of the year, before any Year-2 revenue is collected</a:t>
            </a:r>
            <a:endParaRPr lang="en-US" sz="1000" dirty="0"/>
          </a:p>
        </p:txBody>
      </p:sp>
      <p:sp>
        <p:nvSpPr>
          <p:cNvPr id="15" name="Shape 12"/>
          <p:cNvSpPr/>
          <p:nvPr/>
        </p:nvSpPr>
        <p:spPr>
          <a:xfrm>
            <a:off x="8101584" y="4590288"/>
            <a:ext cx="3529584" cy="1481328"/>
          </a:xfrm>
          <a:prstGeom prst="roundRect">
            <a:avLst>
              <a:gd name="adj" fmla="val 4321"/>
            </a:avLst>
          </a:prstGeom>
          <a:solidFill>
            <a:srgbClr val="DDECE7"/>
          </a:solidFill>
          <a:ln/>
        </p:spPr>
        <p:txBody>
          <a:bodyPr/>
          <a:lstStyle/>
          <a:p>
            <a:endParaRPr lang="en-DE"/>
          </a:p>
        </p:txBody>
      </p:sp>
      <p:sp>
        <p:nvSpPr>
          <p:cNvPr id="16" name="Text 13"/>
          <p:cNvSpPr txBox="1"/>
          <p:nvPr/>
        </p:nvSpPr>
        <p:spPr>
          <a:xfrm>
            <a:off x="8266176" y="4709160"/>
            <a:ext cx="3200400" cy="566928"/>
          </a:xfrm>
          <a:prstGeom prst="rect">
            <a:avLst/>
          </a:prstGeom>
          <a:noFill/>
          <a:ln/>
        </p:spPr>
        <p:txBody>
          <a:bodyPr wrap="square" lIns="0" tIns="0" rIns="0" bIns="0" rtlCol="0" anchor="ctr"/>
          <a:lstStyle/>
          <a:p>
            <a:pPr marL="0" indent="0">
              <a:buNone/>
            </a:pPr>
            <a:r>
              <a:rPr lang="en-US" sz="2700" b="1" dirty="0">
                <a:solidFill>
                  <a:srgbClr val="2F7D6B"/>
                </a:solidFill>
                <a:latin typeface="Cambria" pitchFamily="34" charset="0"/>
                <a:ea typeface="Cambria" pitchFamily="34" charset="-122"/>
                <a:cs typeface="Cambria" pitchFamily="34" charset="-120"/>
              </a:rPr>
              <a:t>Zero debt</a:t>
            </a:r>
            <a:endParaRPr lang="en-US" sz="2700" dirty="0"/>
          </a:p>
        </p:txBody>
      </p:sp>
      <p:sp>
        <p:nvSpPr>
          <p:cNvPr id="17" name="Text 14"/>
          <p:cNvSpPr txBox="1"/>
          <p:nvPr/>
        </p:nvSpPr>
        <p:spPr>
          <a:xfrm>
            <a:off x="8266176" y="5285232"/>
            <a:ext cx="3200400" cy="310896"/>
          </a:xfrm>
          <a:prstGeom prst="rect">
            <a:avLst/>
          </a:prstGeom>
          <a:noFill/>
          <a:ln/>
        </p:spPr>
        <p:txBody>
          <a:bodyPr wrap="square" lIns="0" tIns="0" rIns="0" bIns="0" rtlCol="0" anchor="ctr"/>
          <a:lstStyle/>
          <a:p>
            <a:pPr marL="0" indent="0">
              <a:buNone/>
            </a:pPr>
            <a:r>
              <a:rPr lang="en-US" sz="1150" b="1" dirty="0">
                <a:solidFill>
                  <a:srgbClr val="16202E"/>
                </a:solidFill>
                <a:latin typeface="Calibri" pitchFamily="34" charset="0"/>
                <a:ea typeface="Calibri" pitchFamily="34" charset="-122"/>
                <a:cs typeface="Calibri" pitchFamily="34" charset="-120"/>
              </a:rPr>
              <a:t>Balance sheet at 31 December</a:t>
            </a:r>
            <a:endParaRPr lang="en-US" sz="1150" dirty="0"/>
          </a:p>
        </p:txBody>
      </p:sp>
      <p:sp>
        <p:nvSpPr>
          <p:cNvPr id="18" name="Text 15"/>
          <p:cNvSpPr txBox="1"/>
          <p:nvPr/>
        </p:nvSpPr>
        <p:spPr>
          <a:xfrm>
            <a:off x="8266176" y="5577840"/>
            <a:ext cx="3200400" cy="420624"/>
          </a:xfrm>
          <a:prstGeom prst="rect">
            <a:avLst/>
          </a:prstGeom>
          <a:noFill/>
          <a:ln/>
        </p:spPr>
        <p:txBody>
          <a:bodyPr wrap="square" lIns="0" tIns="0" rIns="0" bIns="0" rtlCol="0" anchor="ctr"/>
          <a:lstStyle/>
          <a:p>
            <a:pPr marL="0" indent="0">
              <a:lnSpc>
                <a:spcPts val="1250"/>
              </a:lnSpc>
              <a:buNone/>
            </a:pPr>
            <a:r>
              <a:rPr lang="en-US" sz="1000" dirty="0">
                <a:solidFill>
                  <a:srgbClr val="5C6672"/>
                </a:solidFill>
                <a:latin typeface="Calibri" pitchFamily="34" charset="0"/>
                <a:ea typeface="Calibri" pitchFamily="34" charset="-122"/>
                <a:cs typeface="Calibri" pitchFamily="34" charset="-120"/>
              </a:rPr>
              <a:t>Against 26 M € of borrowings a year earlier</a:t>
            </a:r>
            <a:endParaRPr lang="en-US" sz="1000" dirty="0"/>
          </a:p>
        </p:txBody>
      </p:sp>
      <p:sp>
        <p:nvSpPr>
          <p:cNvPr id="19" name="Text 16"/>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Sources: INF p.2 (rates, fees and penalties); Year-1 REP p.5 and p.6; operating cash requirement computed under the rulebook's §41 method.</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6 · FORECAST</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Projected income statement for Year 2</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3749040">
                  <a:extLst>
                    <a:ext uri="{9D8B030D-6E8A-4147-A177-3AD203B41FA5}">
                      <a16:colId xmlns:a16="http://schemas.microsoft.com/office/drawing/2014/main" val="20004"/>
                    </a:ext>
                  </a:extLst>
                </a:gridCol>
              </a:tblGrid>
              <a:tr h="27889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Income statement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1 actual</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 2 forecast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drives the change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 at retail price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189,365,764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212,980,455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6,675,000 × 15.00 €; H 15,047,394 × 7.50 €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Retailer margins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(25,661,301)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(27,729,894)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1.90 € per S unit, 1.00 € per H unit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27889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Net revenue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163,704,462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185,250,561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Direct production cost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(66,351,399)</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(69,130,892)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at 5.1491 €, H at the 2.3101 € weighted stock average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Cost of promotions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(661,702)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new</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0.50 € on about 1,323,403 promoted H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Logistics and warehousing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(1,632,862)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(1,501,528)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Fleet cut from 55 to 46 vehicles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27889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95,720,201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113,956,440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+19.1%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Margin 58.5% → 61.5%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Depreciation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(6,480,000)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(7,200,000)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+11.1%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 of 54 M € of lines plus 6 M € of SMED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R&amp;D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(8,521,459)</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(9,584,120)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4.5% of sales at retail price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9"/>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Sales network and incentives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(3,894,750)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(3,932,022)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Same network, commission follows volume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0"/>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Advertising and point of sale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(828,000)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(828,000)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Held deliberately while the surveys report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1"/>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Market research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(166,800)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(680,600)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22 surveys instead of 11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2"/>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Staff, maintenance, overhead, turnover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(4,946,000)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(4,284,000)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Training department closed; turnover at 366,000 €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3"/>
                  </a:ext>
                </a:extLst>
              </a:tr>
              <a:tr h="278892">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Operating income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70,883,192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87,447,697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+23.4%</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Margin 43.3% → 47.2%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4"/>
                  </a:ext>
                </a:extLst>
              </a:tr>
              <a:tr h="278892">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Financial income / (expense)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(3,060,000)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55,000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250,000 € of deposit income less the 195,000 € prepayment penalty</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5"/>
                  </a:ext>
                </a:extLst>
              </a:tr>
              <a:tr h="278892">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Net income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67,823,192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87,502,697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2F7D6B"/>
                          </a:solidFill>
                          <a:latin typeface="Calibri" pitchFamily="34" charset="0"/>
                          <a:ea typeface="Calibri" pitchFamily="34" charset="-122"/>
                          <a:cs typeface="Calibri" pitchFamily="34" charset="-120"/>
                        </a:rPr>
                        <a:t>+29.0%</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Net margin 41.4% → 47.2%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
        <p:nvSpPr>
          <p:cNvPr id="7" name="Text 4"/>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Year-end position: cash 108,292,278 € plus a 10,000,000 € deposit, receivables 30,875,094 €, inventory 13,838,518 €, no payables and no debt. No credit is taken in this forecast for any lift from the H promotion.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6 · FORECAST</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What has to go wrong before the plan does</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Finance Director</a:t>
            </a:r>
            <a:endParaRPr lang="en-US" sz="1100" dirty="0"/>
          </a:p>
        </p:txBody>
      </p:sp>
      <p:sp>
        <p:nvSpPr>
          <p:cNvPr id="6" name="Text 4"/>
          <p:cNvSpPr txBox="1"/>
          <p:nvPr/>
        </p:nvSpPr>
        <p:spPr>
          <a:xfrm>
            <a:off x="566928" y="1298448"/>
            <a:ext cx="635508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NET INCOME (M €) IF DEMAND MOVES — EVERYTHING ELSE HELD FIXED</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635508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Demand for H ↓   S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6.0 M</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6.675 M (our output)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7.68 M (Y1 demand)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12.0 M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71.2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76.1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76.1</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15.0 M units (plan)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b="1" dirty="0">
                          <a:solidFill>
                            <a:srgbClr val="13233F"/>
                          </a:solidFill>
                          <a:latin typeface="Calibri" pitchFamily="34" charset="0"/>
                          <a:ea typeface="Calibri" pitchFamily="34" charset="-122"/>
                          <a:cs typeface="Calibri" pitchFamily="34" charset="-120"/>
                        </a:rPr>
                        <a:t>87.3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87.3</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18.0 M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93.7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98.6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98.6</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16202E"/>
                          </a:solidFill>
                          <a:latin typeface="Calibri" pitchFamily="34" charset="0"/>
                          <a:ea typeface="Calibri" pitchFamily="34" charset="-122"/>
                          <a:cs typeface="Calibri" pitchFamily="34" charset="-120"/>
                        </a:rPr>
                        <a:t>21.0 M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104.9</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109.7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109.7</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txBox="1"/>
          <p:nvPr/>
        </p:nvSpPr>
        <p:spPr>
          <a:xfrm>
            <a:off x="566928" y="3904488"/>
            <a:ext cx="635508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READING THE TABLE</a:t>
            </a:r>
            <a:endParaRPr lang="en-US" sz="1250" dirty="0"/>
          </a:p>
        </p:txBody>
      </p:sp>
      <p:sp>
        <p:nvSpPr>
          <p:cNvPr id="9" name="Text 6"/>
          <p:cNvSpPr txBox="1"/>
          <p:nvPr/>
        </p:nvSpPr>
        <p:spPr>
          <a:xfrm>
            <a:off x="566928" y="4215384"/>
            <a:ext cx="6355080" cy="2286000"/>
          </a:xfrm>
          <a:prstGeom prst="rect">
            <a:avLst/>
          </a:prstGeom>
          <a:noFill/>
          <a:ln/>
        </p:spPr>
        <p:txBody>
          <a:bodyPr wrap="square" lIns="0" tIns="0" rIns="0" bIns="0" rtlCol="0" anchor="t"/>
          <a:lstStyle/>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Every cell beats Year 1's 67.8 M €. The worst case on the table is +5% on last year, the best is +62%.</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The S columns are identical from 6.675 M upwards because output caps sales — the extra demand simply becomes unserved demand and carries into Year 3.</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The only scenario that breaks the plan is H demand below roughly 12 M units, a repeat of the market-A collapse in both markets at once. Net income still clears 71 M €, cash still clears 86 M €, and 9.0 M units of H stock carry forward.</a:t>
            </a:r>
            <a:endParaRPr lang="en-US" sz="1050" dirty="0"/>
          </a:p>
          <a:p>
            <a:pPr marL="177800" indent="-177800">
              <a:lnSpc>
                <a:spcPts val="1386"/>
              </a:lnSpc>
              <a:spcAft>
                <a:spcPts val="700"/>
              </a:spcAft>
              <a:buSzPct val="100000"/>
              <a:buChar char="•"/>
            </a:pPr>
            <a:r>
              <a:rPr lang="en-US" sz="1050" dirty="0">
                <a:solidFill>
                  <a:srgbClr val="16202E"/>
                </a:solidFill>
                <a:latin typeface="Calibri" pitchFamily="34" charset="0"/>
                <a:ea typeface="Calibri" pitchFamily="34" charset="-122"/>
                <a:cs typeface="Calibri" pitchFamily="34" charset="-120"/>
              </a:rPr>
              <a:t>There is no overdraft in any scenario: the January trough is 9,257,578 € and depends only on Year-1 balances, not on Year-2 sales.</a:t>
            </a:r>
            <a:endParaRPr lang="en-US" sz="1050" dirty="0"/>
          </a:p>
        </p:txBody>
      </p:sp>
      <p:sp>
        <p:nvSpPr>
          <p:cNvPr id="10" name="Text 7"/>
          <p:cNvSpPr txBox="1"/>
          <p:nvPr/>
        </p:nvSpPr>
        <p:spPr>
          <a:xfrm>
            <a:off x="7223760" y="1298448"/>
            <a:ext cx="4434840" cy="274320"/>
          </a:xfrm>
          <a:prstGeom prst="rect">
            <a:avLst/>
          </a:prstGeom>
          <a:noFill/>
          <a:ln/>
        </p:spPr>
        <p:txBody>
          <a:bodyPr wrap="square" lIns="0" tIns="0" rIns="0" bIns="0" rtlCol="0" anchor="ctr"/>
          <a:lstStyle/>
          <a:p>
            <a:pPr marL="0" indent="0">
              <a:buNone/>
            </a:pPr>
            <a:r>
              <a:rPr lang="en-US" sz="1250" b="1" kern="0" spc="60" dirty="0">
                <a:solidFill>
                  <a:srgbClr val="13233F"/>
                </a:solidFill>
                <a:latin typeface="Calibri" pitchFamily="34" charset="0"/>
                <a:ea typeface="Calibri" pitchFamily="34" charset="-122"/>
                <a:cs typeface="Calibri" pitchFamily="34" charset="-120"/>
              </a:rPr>
              <a:t>THE THREE RISKS WE ARE CARRYING</a:t>
            </a:r>
            <a:endParaRPr lang="en-US" sz="1250" dirty="0"/>
          </a:p>
        </p:txBody>
      </p:sp>
      <p:sp>
        <p:nvSpPr>
          <p:cNvPr id="11" name="Shape 8"/>
          <p:cNvSpPr/>
          <p:nvPr/>
        </p:nvSpPr>
        <p:spPr>
          <a:xfrm>
            <a:off x="7223760" y="1609344"/>
            <a:ext cx="4434840" cy="1481328"/>
          </a:xfrm>
          <a:prstGeom prst="roundRect">
            <a:avLst>
              <a:gd name="adj" fmla="val 4321"/>
            </a:avLst>
          </a:prstGeom>
          <a:solidFill>
            <a:srgbClr val="EDEFF2"/>
          </a:solidFill>
          <a:ln/>
        </p:spPr>
        <p:txBody>
          <a:bodyPr/>
          <a:lstStyle/>
          <a:p>
            <a:endParaRPr lang="en-DE"/>
          </a:p>
        </p:txBody>
      </p:sp>
      <p:sp>
        <p:nvSpPr>
          <p:cNvPr id="12" name="Text 9"/>
          <p:cNvSpPr txBox="1"/>
          <p:nvPr/>
        </p:nvSpPr>
        <p:spPr>
          <a:xfrm>
            <a:off x="7406640" y="1719072"/>
            <a:ext cx="4069080" cy="237744"/>
          </a:xfrm>
          <a:prstGeom prst="rect">
            <a:avLst/>
          </a:prstGeom>
          <a:noFill/>
          <a:ln/>
        </p:spPr>
        <p:txBody>
          <a:bodyPr wrap="square" lIns="0" tIns="0" rIns="0" bIns="0" rtlCol="0" anchor="ctr"/>
          <a:lstStyle/>
          <a:p>
            <a:pPr marL="0" indent="0">
              <a:buNone/>
            </a:pPr>
            <a:r>
              <a:rPr lang="en-US" sz="1150" b="1" dirty="0">
                <a:solidFill>
                  <a:srgbClr val="13233F"/>
                </a:solidFill>
                <a:latin typeface="Calibri" pitchFamily="34" charset="0"/>
                <a:ea typeface="Calibri" pitchFamily="34" charset="-122"/>
                <a:cs typeface="Calibri" pitchFamily="34" charset="-120"/>
              </a:rPr>
              <a:t>Rivals add capacity in market A</a:t>
            </a:r>
            <a:endParaRPr lang="en-US" sz="1150" dirty="0"/>
          </a:p>
        </p:txBody>
      </p:sp>
      <p:sp>
        <p:nvSpPr>
          <p:cNvPr id="13" name="Text 10"/>
          <p:cNvSpPr txBox="1"/>
          <p:nvPr/>
        </p:nvSpPr>
        <p:spPr>
          <a:xfrm>
            <a:off x="7406640" y="1993392"/>
            <a:ext cx="4069080" cy="987552"/>
          </a:xfrm>
          <a:prstGeom prst="rect">
            <a:avLst/>
          </a:prstGeom>
          <a:noFill/>
          <a:ln/>
        </p:spPr>
        <p:txBody>
          <a:bodyPr wrap="square" lIns="0" tIns="0" rIns="0" bIns="0" rtlCol="0" anchor="t"/>
          <a:lstStyle/>
          <a:p>
            <a:pPr marL="0" indent="0">
              <a:lnSpc>
                <a:spcPts val="1250"/>
              </a:lnSpc>
              <a:buNone/>
            </a:pPr>
            <a:r>
              <a:rPr lang="en-US" sz="950" dirty="0">
                <a:solidFill>
                  <a:srgbClr val="16202E"/>
                </a:solidFill>
                <a:latin typeface="Calibri" pitchFamily="34" charset="0"/>
                <a:ea typeface="Calibri" pitchFamily="34" charset="-122"/>
                <a:cs typeface="Calibri" pitchFamily="34" charset="-120"/>
              </a:rPr>
              <a:t>Co2 and Co4 both sold out. If they add 30% of capacity it lands on the 1.16 M units of A potential that nobody served — our 6.675 M is untouched. At +50%, about 421,000 of our units are at risk: −3.0 M € of net income.</a:t>
            </a:r>
            <a:endParaRPr lang="en-US" sz="950" dirty="0"/>
          </a:p>
        </p:txBody>
      </p:sp>
      <p:sp>
        <p:nvSpPr>
          <p:cNvPr id="14" name="Shape 11"/>
          <p:cNvSpPr/>
          <p:nvPr/>
        </p:nvSpPr>
        <p:spPr>
          <a:xfrm>
            <a:off x="7223760" y="3182112"/>
            <a:ext cx="4434840" cy="1481328"/>
          </a:xfrm>
          <a:prstGeom prst="roundRect">
            <a:avLst>
              <a:gd name="adj" fmla="val 4321"/>
            </a:avLst>
          </a:prstGeom>
          <a:solidFill>
            <a:srgbClr val="EDEFF2"/>
          </a:solidFill>
          <a:ln/>
        </p:spPr>
        <p:txBody>
          <a:bodyPr/>
          <a:lstStyle/>
          <a:p>
            <a:endParaRPr lang="en-DE"/>
          </a:p>
        </p:txBody>
      </p:sp>
      <p:sp>
        <p:nvSpPr>
          <p:cNvPr id="15" name="Text 12"/>
          <p:cNvSpPr txBox="1"/>
          <p:nvPr/>
        </p:nvSpPr>
        <p:spPr>
          <a:xfrm>
            <a:off x="7406640" y="3291840"/>
            <a:ext cx="4069080" cy="237744"/>
          </a:xfrm>
          <a:prstGeom prst="rect">
            <a:avLst/>
          </a:prstGeom>
          <a:noFill/>
          <a:ln/>
        </p:spPr>
        <p:txBody>
          <a:bodyPr wrap="square" lIns="0" tIns="0" rIns="0" bIns="0" rtlCol="0" anchor="ctr"/>
          <a:lstStyle/>
          <a:p>
            <a:pPr marL="0" indent="0">
              <a:buNone/>
            </a:pPr>
            <a:r>
              <a:rPr lang="en-US" sz="1150" b="1" dirty="0">
                <a:solidFill>
                  <a:srgbClr val="13233F"/>
                </a:solidFill>
                <a:latin typeface="Calibri" pitchFamily="34" charset="0"/>
                <a:ea typeface="Calibri" pitchFamily="34" charset="-122"/>
                <a:cs typeface="Calibri" pitchFamily="34" charset="-120"/>
              </a:rPr>
              <a:t>The S price rise is refused</a:t>
            </a:r>
            <a:endParaRPr lang="en-US" sz="1150" dirty="0"/>
          </a:p>
        </p:txBody>
      </p:sp>
      <p:sp>
        <p:nvSpPr>
          <p:cNvPr id="16" name="Text 13"/>
          <p:cNvSpPr txBox="1"/>
          <p:nvPr/>
        </p:nvSpPr>
        <p:spPr>
          <a:xfrm>
            <a:off x="7406640" y="3566160"/>
            <a:ext cx="4069080" cy="987552"/>
          </a:xfrm>
          <a:prstGeom prst="rect">
            <a:avLst/>
          </a:prstGeom>
          <a:noFill/>
          <a:ln/>
        </p:spPr>
        <p:txBody>
          <a:bodyPr wrap="square" lIns="0" tIns="0" rIns="0" bIns="0" rtlCol="0" anchor="t"/>
          <a:lstStyle/>
          <a:p>
            <a:pPr marL="0" indent="0">
              <a:lnSpc>
                <a:spcPts val="1250"/>
              </a:lnSpc>
              <a:buNone/>
            </a:pPr>
            <a:r>
              <a:rPr lang="en-US" sz="950" dirty="0">
                <a:solidFill>
                  <a:srgbClr val="16202E"/>
                </a:solidFill>
                <a:latin typeface="Calibri" pitchFamily="34" charset="0"/>
                <a:ea typeface="Calibri" pitchFamily="34" charset="-122"/>
                <a:cs typeface="Calibri" pitchFamily="34" charset="-120"/>
              </a:rPr>
              <a:t>15.00 € needs demand to hold within −18.8% to beat 14.50 €. Year 1 sold out at a 71% premium to the cheapest rival; a 3.4% step is inside the noise. Fallback: revert to 14.50 €, cost 3.2 M €.</a:t>
            </a:r>
            <a:endParaRPr lang="en-US" sz="950" dirty="0"/>
          </a:p>
        </p:txBody>
      </p:sp>
      <p:sp>
        <p:nvSpPr>
          <p:cNvPr id="17" name="Shape 14"/>
          <p:cNvSpPr/>
          <p:nvPr/>
        </p:nvSpPr>
        <p:spPr>
          <a:xfrm>
            <a:off x="7223760" y="4754880"/>
            <a:ext cx="4434840" cy="1481328"/>
          </a:xfrm>
          <a:prstGeom prst="roundRect">
            <a:avLst>
              <a:gd name="adj" fmla="val 4321"/>
            </a:avLst>
          </a:prstGeom>
          <a:solidFill>
            <a:srgbClr val="EDEFF2"/>
          </a:solidFill>
          <a:ln/>
        </p:spPr>
        <p:txBody>
          <a:bodyPr/>
          <a:lstStyle/>
          <a:p>
            <a:endParaRPr lang="en-DE"/>
          </a:p>
        </p:txBody>
      </p:sp>
      <p:sp>
        <p:nvSpPr>
          <p:cNvPr id="18" name="Text 15"/>
          <p:cNvSpPr txBox="1"/>
          <p:nvPr/>
        </p:nvSpPr>
        <p:spPr>
          <a:xfrm>
            <a:off x="7406640" y="4864608"/>
            <a:ext cx="4069080" cy="237744"/>
          </a:xfrm>
          <a:prstGeom prst="rect">
            <a:avLst/>
          </a:prstGeom>
          <a:noFill/>
          <a:ln/>
        </p:spPr>
        <p:txBody>
          <a:bodyPr wrap="square" lIns="0" tIns="0" rIns="0" bIns="0" rtlCol="0" anchor="ctr"/>
          <a:lstStyle/>
          <a:p>
            <a:pPr marL="0" indent="0">
              <a:buNone/>
            </a:pPr>
            <a:r>
              <a:rPr lang="en-US" sz="1150" b="1" dirty="0">
                <a:solidFill>
                  <a:srgbClr val="13233F"/>
                </a:solidFill>
                <a:latin typeface="Calibri" pitchFamily="34" charset="0"/>
                <a:ea typeface="Calibri" pitchFamily="34" charset="-122"/>
                <a:cs typeface="Calibri" pitchFamily="34" charset="-120"/>
              </a:rPr>
              <a:t>The H stock does not clear</a:t>
            </a:r>
            <a:endParaRPr lang="en-US" sz="1150" dirty="0"/>
          </a:p>
        </p:txBody>
      </p:sp>
      <p:sp>
        <p:nvSpPr>
          <p:cNvPr id="19" name="Text 16"/>
          <p:cNvSpPr txBox="1"/>
          <p:nvPr/>
        </p:nvSpPr>
        <p:spPr>
          <a:xfrm>
            <a:off x="7406640" y="5138928"/>
            <a:ext cx="4069080" cy="987552"/>
          </a:xfrm>
          <a:prstGeom prst="rect">
            <a:avLst/>
          </a:prstGeom>
          <a:noFill/>
          <a:ln/>
        </p:spPr>
        <p:txBody>
          <a:bodyPr wrap="square" lIns="0" tIns="0" rIns="0" bIns="0" rtlCol="0" anchor="t"/>
          <a:lstStyle/>
          <a:p>
            <a:pPr marL="0" indent="0">
              <a:lnSpc>
                <a:spcPts val="1250"/>
              </a:lnSpc>
              <a:buNone/>
            </a:pPr>
            <a:r>
              <a:rPr lang="en-US" sz="950" dirty="0">
                <a:solidFill>
                  <a:srgbClr val="16202E"/>
                </a:solidFill>
                <a:latin typeface="Calibri" pitchFamily="34" charset="0"/>
                <a:ea typeface="Calibri" pitchFamily="34" charset="-122"/>
                <a:cs typeface="Calibri" pitchFamily="34" charset="-120"/>
              </a:rPr>
              <a:t>20.97 M units are available against a 15.05 M plan. Product H does not spoil; anything unsold is Year-3 inventory at 2.31 € a unit and no new H production is needed before it clears.</a:t>
            </a:r>
            <a:endParaRPr lang="en-US" sz="950" dirty="0"/>
          </a:p>
        </p:txBody>
      </p:sp>
      <p:sp>
        <p:nvSpPr>
          <p:cNvPr id="20" name="Text 17"/>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Base case marked in navy. The grid's 15.0 M row reads 87.3 M € against the plan's 87.5 M € because the plan sells 15,047,394 units, not 15.0 M. Cash trough and overdraft tested month by month against the rulebook's financing test.</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01752"/>
            <a:ext cx="7680960" cy="256032"/>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SECTION 6 · FORECAST</a:t>
            </a:r>
            <a:endParaRPr lang="en-US" sz="1100" dirty="0"/>
          </a:p>
        </p:txBody>
      </p:sp>
      <p:sp>
        <p:nvSpPr>
          <p:cNvPr id="3" name="Text 1"/>
          <p:cNvSpPr txBox="1"/>
          <p:nvPr/>
        </p:nvSpPr>
        <p:spPr>
          <a:xfrm>
            <a:off x="566928" y="566928"/>
            <a:ext cx="8412480" cy="566928"/>
          </a:xfrm>
          <a:prstGeom prst="rect">
            <a:avLst/>
          </a:prstGeom>
          <a:noFill/>
          <a:ln/>
        </p:spPr>
        <p:txBody>
          <a:bodyPr wrap="square" lIns="0" tIns="0" rIns="0" bIns="0" rtlCol="0" anchor="ctr"/>
          <a:lstStyle/>
          <a:p>
            <a:pPr marL="0" indent="0">
              <a:buNone/>
            </a:pPr>
            <a:r>
              <a:rPr lang="en-US" sz="2900" b="1" dirty="0">
                <a:solidFill>
                  <a:srgbClr val="13233F"/>
                </a:solidFill>
                <a:latin typeface="Cambria" pitchFamily="34" charset="0"/>
                <a:ea typeface="Cambria" pitchFamily="34" charset="-122"/>
                <a:cs typeface="Cambria" pitchFamily="34" charset="-120"/>
              </a:rPr>
              <a:t>Alternatives we costed and rejected</a:t>
            </a:r>
            <a:endParaRPr lang="en-US" sz="2900" dirty="0"/>
          </a:p>
        </p:txBody>
      </p:sp>
      <p:sp>
        <p:nvSpPr>
          <p:cNvPr id="4" name="Shape 2"/>
          <p:cNvSpPr/>
          <p:nvPr/>
        </p:nvSpPr>
        <p:spPr>
          <a:xfrm>
            <a:off x="9098280" y="329184"/>
            <a:ext cx="2542032" cy="475488"/>
          </a:xfrm>
          <a:prstGeom prst="roundRect">
            <a:avLst>
              <a:gd name="adj" fmla="val 50000"/>
            </a:avLst>
          </a:prstGeom>
          <a:solidFill>
            <a:srgbClr val="EDEFF2"/>
          </a:solidFill>
          <a:ln/>
        </p:spPr>
        <p:txBody>
          <a:bodyPr/>
          <a:lstStyle/>
          <a:p>
            <a:endParaRPr lang="en-DE"/>
          </a:p>
        </p:txBody>
      </p:sp>
      <p:sp>
        <p:nvSpPr>
          <p:cNvPr id="5" name="Text 3"/>
          <p:cNvSpPr txBox="1"/>
          <p:nvPr/>
        </p:nvSpPr>
        <p:spPr>
          <a:xfrm>
            <a:off x="9098280" y="329184"/>
            <a:ext cx="2542032" cy="47548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All directors</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Alternative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Net income effect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we rejected 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Build no SMED — run the Year-1 plant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−7,492,530 €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Leaves S output at 5.85 M units and repeats the Year-1 stockout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Buy a third SMED module for 3,000,000 €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5C6672"/>
                          </a:solidFill>
                          <a:latin typeface="Calibri" pitchFamily="34" charset="0"/>
                          <a:ea typeface="Calibri" pitchFamily="34" charset="-122"/>
                          <a:cs typeface="Calibri" pitchFamily="34" charset="-120"/>
                        </a:rPr>
                        <a:t>+26,880 units of S at most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A 15-year payback on an irreversible purchase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Deploy Poka Yoke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23,040,000 € for +4.55%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The cost is 3.8 times the whole SMED investment for a third of the output gain</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Run four H lines instead of two</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5C6672"/>
                          </a:solidFill>
                          <a:latin typeface="Calibri" pitchFamily="34" charset="0"/>
                          <a:ea typeface="Calibri" pitchFamily="34" charset="-122"/>
                          <a:cs typeface="Calibri" pitchFamily="34" charset="-120"/>
                        </a:rPr>
                        <a:t>+319,604 € at 15.0 M demand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Ties 7.5 M € of cash into stock of which we already hold 17.6 M units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S at 15.50 € or 16.00 €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+6,352,459 € / +9,528,689 €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Needs demand to hold within −23.8% and −28.2%. Untested; 15.00 € is the step we can defend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Price H at 8.00 € in both markets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+7,150,542 €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Requires volume to hold within −11.1% against Co2, who sits on our exact positioning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6"/>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Run no promotion on H</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2F7D6B"/>
                          </a:solidFill>
                          <a:latin typeface="Calibri" pitchFamily="34" charset="0"/>
                          <a:ea typeface="Calibri" pitchFamily="34" charset="-122"/>
                          <a:cs typeface="Calibri" pitchFamily="34" charset="-120"/>
                        </a:rPr>
                        <a:t>+610,089 €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Cheaper on paper, but no lift is credited in the forecast either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7"/>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Promote H in all three channels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−605,332 €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Doubles promoted units outside supermarkets, where our H volume actually is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8"/>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Keep the loan instead of prepaying</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−1,755,000 €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Pays 10% interest on money we are simultaneously depositing at 2.5%</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09"/>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Keep the 10 M € credit line</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−200,000 €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Insurance against a trough that the cash plan shows cannot occur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0"/>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Keep 120-day supplier terms</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−414,128 €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Preserves 1.2 M € of January cash that the plan does not need</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1"/>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Keep the training department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−662,000 €</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722,000 € of cost against a 60,000 € reduction in turnover</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2"/>
                  </a:ext>
                </a:extLst>
              </a:tr>
              <a:tr h="310896">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Enter market E in Year 2</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B04A38"/>
                          </a:solidFill>
                          <a:latin typeface="Calibri" pitchFamily="34" charset="0"/>
                          <a:ea typeface="Calibri" pitchFamily="34" charset="-122"/>
                          <a:cs typeface="Calibri" pitchFamily="34" charset="-120"/>
                        </a:rPr>
                        <a:t>Test entry cost $14.24 per unit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tc>
                  <a:txBody>
                    <a:bodyPr/>
                    <a:lstStyle/>
                    <a:p>
                      <a:pPr marL="0" indent="0">
                        <a:buNone/>
                      </a:pPr>
                      <a:r>
                        <a:rPr lang="en-US" sz="1100" dirty="0">
                          <a:solidFill>
                            <a:srgbClr val="16202E"/>
                          </a:solidFill>
                          <a:latin typeface="Calibri" pitchFamily="34" charset="0"/>
                          <a:ea typeface="Calibri" pitchFamily="34" charset="-122"/>
                          <a:cs typeface="Calibri" pitchFamily="34" charset="-120"/>
                        </a:rPr>
                        <a:t>S is supply-capped and 17.6 M units of H must clear at home first</a:t>
                      </a:r>
                      <a:endParaRPr lang="en-US" sz="1100" dirty="0">
                        <a:latin typeface="Calibri" charset="0"/>
                        <a:ea typeface="Calibri" charset="0"/>
                        <a:cs typeface="Calibri" charset="0"/>
                      </a:endParaRPr>
                    </a:p>
                  </a:txBody>
                  <a:tcPr anchor="ctr">
                    <a:lnL w="6350" cap="flat" cmpd="sng" algn="ctr">
                      <a:solidFill>
                        <a:srgbClr val="D5D9DF"/>
                      </a:solidFill>
                      <a:prstDash val="solid"/>
                      <a:round/>
                      <a:headEnd type="none" w="med" len="med"/>
                      <a:tailEnd type="none" w="med" len="med"/>
                    </a:lnL>
                    <a:lnR w="6350" cap="flat" cmpd="sng" algn="ctr">
                      <a:solidFill>
                        <a:srgbClr val="D5D9DF"/>
                      </a:solidFill>
                      <a:prstDash val="solid"/>
                      <a:round/>
                      <a:headEnd type="none" w="med" len="med"/>
                      <a:tailEnd type="none" w="med" len="med"/>
                    </a:lnR>
                    <a:lnT w="6350" cap="flat" cmpd="sng" algn="ctr">
                      <a:solidFill>
                        <a:srgbClr val="D5D9DF"/>
                      </a:solidFill>
                      <a:prstDash val="solid"/>
                      <a:round/>
                      <a:headEnd type="none" w="med" len="med"/>
                      <a:tailEnd type="none" w="med" len="med"/>
                    </a:lnT>
                    <a:lnB w="6350" cap="flat" cmpd="sng" algn="ctr">
                      <a:solidFill>
                        <a:srgbClr val="D5D9DF"/>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7" name="Text 4"/>
          <p:cNvSpPr txBox="1"/>
          <p:nvPr/>
        </p:nvSpPr>
        <p:spPr>
          <a:xfrm>
            <a:off x="566928" y="6327648"/>
            <a:ext cx="11064240" cy="310896"/>
          </a:xfrm>
          <a:prstGeom prst="rect">
            <a:avLst/>
          </a:prstGeom>
          <a:noFill/>
          <a:ln/>
        </p:spPr>
        <p:txBody>
          <a:bodyPr wrap="square" lIns="0" tIns="0" rIns="0" bIns="0" rtlCol="0" anchor="ctr"/>
          <a:lstStyle/>
          <a:p>
            <a:pPr marL="0" indent="0">
              <a:buNone/>
            </a:pPr>
            <a:r>
              <a:rPr lang="en-US" sz="900" i="1" dirty="0">
                <a:solidFill>
                  <a:srgbClr val="5C6672"/>
                </a:solidFill>
                <a:latin typeface="Calibri" pitchFamily="34" charset="0"/>
                <a:ea typeface="Calibri" pitchFamily="34" charset="-122"/>
                <a:cs typeface="Calibri" pitchFamily="34" charset="-120"/>
              </a:rPr>
              <a:t>Each line changes one variable against the base case of 87,502,697 €. Capital expenditure is treated as cash on 2 January.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33F"/>
        </a:solidFill>
        <a:effectLst/>
      </p:bgPr>
    </p:bg>
    <p:spTree>
      <p:nvGrpSpPr>
        <p:cNvPr id="1" name=""/>
        <p:cNvGrpSpPr/>
        <p:nvPr/>
      </p:nvGrpSpPr>
      <p:grpSpPr>
        <a:xfrm>
          <a:off x="0" y="0"/>
          <a:ext cx="0" cy="0"/>
          <a:chOff x="0" y="0"/>
          <a:chExt cx="0" cy="0"/>
        </a:xfrm>
      </p:grpSpPr>
      <p:sp>
        <p:nvSpPr>
          <p:cNvPr id="2" name="Text 0"/>
          <p:cNvSpPr txBox="1"/>
          <p:nvPr/>
        </p:nvSpPr>
        <p:spPr>
          <a:xfrm>
            <a:off x="566928" y="457200"/>
            <a:ext cx="7315200" cy="274320"/>
          </a:xfrm>
          <a:prstGeom prst="rect">
            <a:avLst/>
          </a:prstGeom>
          <a:noFill/>
          <a:ln/>
        </p:spPr>
        <p:txBody>
          <a:bodyPr wrap="square" lIns="0" tIns="0" rIns="0" bIns="0" rtlCol="0" anchor="ctr"/>
          <a:lstStyle/>
          <a:p>
            <a:pPr marL="0" indent="0">
              <a:buNone/>
            </a:pPr>
            <a:r>
              <a:rPr lang="en-US" sz="1100" b="1" kern="0" spc="250" dirty="0">
                <a:solidFill>
                  <a:srgbClr val="C8952F"/>
                </a:solidFill>
                <a:latin typeface="Calibri" pitchFamily="34" charset="0"/>
                <a:ea typeface="Calibri" pitchFamily="34" charset="-122"/>
                <a:cs typeface="Calibri" pitchFamily="34" charset="-120"/>
              </a:rPr>
              <a:t>WHERE WE NEED THE BOARD</a:t>
            </a:r>
            <a:endParaRPr lang="en-US" sz="1100" dirty="0"/>
          </a:p>
        </p:txBody>
      </p:sp>
      <p:sp>
        <p:nvSpPr>
          <p:cNvPr id="3" name="Text 1"/>
          <p:cNvSpPr txBox="1"/>
          <p:nvPr/>
        </p:nvSpPr>
        <p:spPr>
          <a:xfrm>
            <a:off x="566928" y="731520"/>
            <a:ext cx="10515600" cy="54864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Open questions and what we commit to</a:t>
            </a:r>
            <a:endParaRPr lang="en-US" sz="2900" dirty="0"/>
          </a:p>
        </p:txBody>
      </p:sp>
      <p:sp>
        <p:nvSpPr>
          <p:cNvPr id="4" name="Text 2"/>
          <p:cNvSpPr txBox="1"/>
          <p:nvPr/>
        </p:nvSpPr>
        <p:spPr>
          <a:xfrm>
            <a:off x="566928" y="1536192"/>
            <a:ext cx="5486400" cy="274320"/>
          </a:xfrm>
          <a:prstGeom prst="rect">
            <a:avLst/>
          </a:prstGeom>
          <a:noFill/>
          <a:ln/>
        </p:spPr>
        <p:txBody>
          <a:bodyPr wrap="square" lIns="0" tIns="0" rIns="0" bIns="0" rtlCol="0" anchor="ctr"/>
          <a:lstStyle/>
          <a:p>
            <a:pPr marL="0" indent="0">
              <a:buNone/>
            </a:pPr>
            <a:r>
              <a:rPr lang="en-US" sz="1250" b="1" kern="0" spc="60" dirty="0">
                <a:solidFill>
                  <a:srgbClr val="C8952F"/>
                </a:solidFill>
                <a:latin typeface="Calibri" pitchFamily="34" charset="0"/>
                <a:ea typeface="Calibri" pitchFamily="34" charset="-122"/>
                <a:cs typeface="Calibri" pitchFamily="34" charset="-120"/>
              </a:rPr>
              <a:t>FIVE QUESTIONS WE CANNOT ANSWER FROM THE DATA</a:t>
            </a:r>
            <a:endParaRPr lang="en-US" sz="1250" dirty="0"/>
          </a:p>
        </p:txBody>
      </p:sp>
      <p:sp>
        <p:nvSpPr>
          <p:cNvPr id="5" name="Shape 3"/>
          <p:cNvSpPr/>
          <p:nvPr/>
        </p:nvSpPr>
        <p:spPr>
          <a:xfrm>
            <a:off x="566928" y="1911096"/>
            <a:ext cx="292608" cy="292608"/>
          </a:xfrm>
          <a:prstGeom prst="ellipse">
            <a:avLst/>
          </a:prstGeom>
          <a:solidFill>
            <a:srgbClr val="C8952F"/>
          </a:solidFill>
          <a:ln/>
        </p:spPr>
        <p:txBody>
          <a:bodyPr/>
          <a:lstStyle/>
          <a:p>
            <a:endParaRPr lang="en-DE"/>
          </a:p>
        </p:txBody>
      </p:sp>
      <p:sp>
        <p:nvSpPr>
          <p:cNvPr id="6" name="Text 4"/>
          <p:cNvSpPr txBox="1"/>
          <p:nvPr/>
        </p:nvSpPr>
        <p:spPr>
          <a:xfrm>
            <a:off x="566928" y="1911096"/>
            <a:ext cx="292608" cy="29260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05840" y="1883664"/>
            <a:ext cx="5212080" cy="777240"/>
          </a:xfrm>
          <a:prstGeom prst="rect">
            <a:avLst/>
          </a:prstGeom>
          <a:noFill/>
          <a:ln/>
        </p:spPr>
        <p:txBody>
          <a:bodyPr wrap="square" lIns="0" tIns="0" rIns="0" bIns="0" rtlCol="0" anchor="ctr"/>
          <a:lstStyle/>
          <a:p>
            <a:pPr marL="0" indent="0">
              <a:lnSpc>
                <a:spcPts val="1450"/>
              </a:lnSpc>
              <a:buNone/>
            </a:pPr>
            <a:r>
              <a:rPr lang="en-US" sz="1100" dirty="0">
                <a:solidFill>
                  <a:srgbClr val="DCE3EC"/>
                </a:solidFill>
                <a:latin typeface="Calibri" pitchFamily="34" charset="0"/>
                <a:ea typeface="Calibri" pitchFamily="34" charset="-122"/>
                <a:cs typeface="Calibri" pitchFamily="34" charset="-120"/>
              </a:rPr>
              <a:t>Does a loan prepayment on 2 January stop that year's interest, or is interest charged on the opening balance regardless? Worth 1.95 M € either way.</a:t>
            </a:r>
            <a:endParaRPr lang="en-US" sz="1100" dirty="0"/>
          </a:p>
        </p:txBody>
      </p:sp>
      <p:sp>
        <p:nvSpPr>
          <p:cNvPr id="8" name="Shape 6"/>
          <p:cNvSpPr/>
          <p:nvPr/>
        </p:nvSpPr>
        <p:spPr>
          <a:xfrm>
            <a:off x="566928" y="2770632"/>
            <a:ext cx="292608" cy="292608"/>
          </a:xfrm>
          <a:prstGeom prst="ellipse">
            <a:avLst/>
          </a:prstGeom>
          <a:solidFill>
            <a:srgbClr val="C8952F"/>
          </a:solidFill>
          <a:ln/>
        </p:spPr>
        <p:txBody>
          <a:bodyPr/>
          <a:lstStyle/>
          <a:p>
            <a:endParaRPr lang="en-DE"/>
          </a:p>
        </p:txBody>
      </p:sp>
      <p:sp>
        <p:nvSpPr>
          <p:cNvPr id="9" name="Text 7"/>
          <p:cNvSpPr txBox="1"/>
          <p:nvPr/>
        </p:nvSpPr>
        <p:spPr>
          <a:xfrm>
            <a:off x="566928" y="2770632"/>
            <a:ext cx="292608" cy="29260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05840" y="2743200"/>
            <a:ext cx="5212080" cy="777240"/>
          </a:xfrm>
          <a:prstGeom prst="rect">
            <a:avLst/>
          </a:prstGeom>
          <a:noFill/>
          <a:ln/>
        </p:spPr>
        <p:txBody>
          <a:bodyPr wrap="square" lIns="0" tIns="0" rIns="0" bIns="0" rtlCol="0" anchor="ctr"/>
          <a:lstStyle/>
          <a:p>
            <a:pPr marL="0" indent="0">
              <a:lnSpc>
                <a:spcPts val="1450"/>
              </a:lnSpc>
              <a:buNone/>
            </a:pPr>
            <a:r>
              <a:rPr lang="en-US" sz="1100" dirty="0">
                <a:solidFill>
                  <a:srgbClr val="DCE3EC"/>
                </a:solidFill>
                <a:latin typeface="Calibri" pitchFamily="34" charset="0"/>
                <a:ea typeface="Calibri" pitchFamily="34" charset="-122"/>
                <a:cs typeface="Calibri" pitchFamily="34" charset="-120"/>
              </a:rPr>
              <a:t>How many production lines can one SMED module serve? If one covers twelve, we save 3,000,000 € of cash and 360,000 € of depreciation.</a:t>
            </a:r>
            <a:endParaRPr lang="en-US" sz="1100" dirty="0"/>
          </a:p>
        </p:txBody>
      </p:sp>
      <p:sp>
        <p:nvSpPr>
          <p:cNvPr id="11" name="Shape 9"/>
          <p:cNvSpPr/>
          <p:nvPr/>
        </p:nvSpPr>
        <p:spPr>
          <a:xfrm>
            <a:off x="566928" y="3630168"/>
            <a:ext cx="292608" cy="292608"/>
          </a:xfrm>
          <a:prstGeom prst="ellipse">
            <a:avLst/>
          </a:prstGeom>
          <a:solidFill>
            <a:srgbClr val="C8952F"/>
          </a:solidFill>
          <a:ln/>
        </p:spPr>
        <p:txBody>
          <a:bodyPr/>
          <a:lstStyle/>
          <a:p>
            <a:endParaRPr lang="en-DE"/>
          </a:p>
        </p:txBody>
      </p:sp>
      <p:sp>
        <p:nvSpPr>
          <p:cNvPr id="12" name="Text 10"/>
          <p:cNvSpPr txBox="1"/>
          <p:nvPr/>
        </p:nvSpPr>
        <p:spPr>
          <a:xfrm>
            <a:off x="566928" y="3630168"/>
            <a:ext cx="292608" cy="29260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005840" y="3602736"/>
            <a:ext cx="5212080" cy="777240"/>
          </a:xfrm>
          <a:prstGeom prst="rect">
            <a:avLst/>
          </a:prstGeom>
          <a:noFill/>
          <a:ln/>
        </p:spPr>
        <p:txBody>
          <a:bodyPr wrap="square" lIns="0" tIns="0" rIns="0" bIns="0" rtlCol="0" anchor="ctr"/>
          <a:lstStyle/>
          <a:p>
            <a:pPr marL="0" indent="0">
              <a:lnSpc>
                <a:spcPts val="1450"/>
              </a:lnSpc>
              <a:buNone/>
            </a:pPr>
            <a:r>
              <a:rPr lang="en-US" sz="1100" dirty="0">
                <a:solidFill>
                  <a:srgbClr val="DCE3EC"/>
                </a:solidFill>
                <a:latin typeface="Calibri" pitchFamily="34" charset="0"/>
                <a:ea typeface="Calibri" pitchFamily="34" charset="-122"/>
                <a:cs typeface="Calibri" pitchFamily="34" charset="-120"/>
              </a:rPr>
              <a:t>Is the promotion field a cut per unit or a total budget? It changes the entry from 0.50 € to about 662,000 €.</a:t>
            </a:r>
            <a:endParaRPr lang="en-US" sz="1100" dirty="0"/>
          </a:p>
        </p:txBody>
      </p:sp>
      <p:sp>
        <p:nvSpPr>
          <p:cNvPr id="14" name="Shape 12"/>
          <p:cNvSpPr/>
          <p:nvPr/>
        </p:nvSpPr>
        <p:spPr>
          <a:xfrm>
            <a:off x="566928" y="4489704"/>
            <a:ext cx="292608" cy="292608"/>
          </a:xfrm>
          <a:prstGeom prst="ellipse">
            <a:avLst/>
          </a:prstGeom>
          <a:solidFill>
            <a:srgbClr val="C8952F"/>
          </a:solidFill>
          <a:ln/>
        </p:spPr>
        <p:txBody>
          <a:bodyPr/>
          <a:lstStyle/>
          <a:p>
            <a:endParaRPr lang="en-DE"/>
          </a:p>
        </p:txBody>
      </p:sp>
      <p:sp>
        <p:nvSpPr>
          <p:cNvPr id="15" name="Text 13"/>
          <p:cNvSpPr txBox="1"/>
          <p:nvPr/>
        </p:nvSpPr>
        <p:spPr>
          <a:xfrm>
            <a:off x="566928" y="4489704"/>
            <a:ext cx="292608" cy="29260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1005840" y="4462272"/>
            <a:ext cx="5212080" cy="777240"/>
          </a:xfrm>
          <a:prstGeom prst="rect">
            <a:avLst/>
          </a:prstGeom>
          <a:noFill/>
          <a:ln/>
        </p:spPr>
        <p:txBody>
          <a:bodyPr wrap="square" lIns="0" tIns="0" rIns="0" bIns="0" rtlCol="0" anchor="ctr"/>
          <a:lstStyle/>
          <a:p>
            <a:pPr marL="0" indent="0">
              <a:lnSpc>
                <a:spcPts val="1450"/>
              </a:lnSpc>
              <a:buNone/>
            </a:pPr>
            <a:r>
              <a:rPr lang="en-US" sz="1100" dirty="0">
                <a:solidFill>
                  <a:srgbClr val="DCE3EC"/>
                </a:solidFill>
                <a:latin typeface="Calibri" pitchFamily="34" charset="0"/>
                <a:ea typeface="Calibri" pitchFamily="34" charset="-122"/>
                <a:cs typeface="Calibri" pitchFamily="34" charset="-120"/>
              </a:rPr>
              <a:t>Why were 501,093 units of H demanded and not served while 17.6 M units sat in stock, with no logistic stockout flagged? Shelf space or channel coverage.</a:t>
            </a:r>
            <a:endParaRPr lang="en-US" sz="1100" dirty="0"/>
          </a:p>
        </p:txBody>
      </p:sp>
      <p:sp>
        <p:nvSpPr>
          <p:cNvPr id="17" name="Shape 15"/>
          <p:cNvSpPr/>
          <p:nvPr/>
        </p:nvSpPr>
        <p:spPr>
          <a:xfrm>
            <a:off x="566928" y="5349240"/>
            <a:ext cx="292608" cy="292608"/>
          </a:xfrm>
          <a:prstGeom prst="ellipse">
            <a:avLst/>
          </a:prstGeom>
          <a:solidFill>
            <a:srgbClr val="C8952F"/>
          </a:solidFill>
          <a:ln/>
        </p:spPr>
        <p:txBody>
          <a:bodyPr/>
          <a:lstStyle/>
          <a:p>
            <a:endParaRPr lang="en-DE"/>
          </a:p>
        </p:txBody>
      </p:sp>
      <p:sp>
        <p:nvSpPr>
          <p:cNvPr id="18" name="Text 16"/>
          <p:cNvSpPr txBox="1"/>
          <p:nvPr/>
        </p:nvSpPr>
        <p:spPr>
          <a:xfrm>
            <a:off x="566928" y="5349240"/>
            <a:ext cx="292608" cy="292608"/>
          </a:xfrm>
          <a:prstGeom prst="rect">
            <a:avLst/>
          </a:prstGeom>
          <a:noFill/>
          <a:ln/>
        </p:spPr>
        <p:txBody>
          <a:bodyPr wrap="square" lIns="0" tIns="0" rIns="0" bIns="0" rtlCol="0" anchor="ctr"/>
          <a:lstStyle/>
          <a:p>
            <a:pPr marL="0" indent="0" algn="ctr">
              <a:buNone/>
            </a:pPr>
            <a:r>
              <a:rPr lang="en-US" sz="1100" b="1" dirty="0">
                <a:solidFill>
                  <a:srgbClr val="13233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1005840" y="5321808"/>
            <a:ext cx="5212080" cy="777240"/>
          </a:xfrm>
          <a:prstGeom prst="rect">
            <a:avLst/>
          </a:prstGeom>
          <a:noFill/>
          <a:ln/>
        </p:spPr>
        <p:txBody>
          <a:bodyPr wrap="square" lIns="0" tIns="0" rIns="0" bIns="0" rtlCol="0" anchor="ctr"/>
          <a:lstStyle/>
          <a:p>
            <a:pPr marL="0" indent="0">
              <a:lnSpc>
                <a:spcPts val="1450"/>
              </a:lnSpc>
              <a:buNone/>
            </a:pPr>
            <a:r>
              <a:rPr lang="en-US" sz="1100" dirty="0">
                <a:solidFill>
                  <a:srgbClr val="DCE3EC"/>
                </a:solidFill>
                <a:latin typeface="Calibri" pitchFamily="34" charset="0"/>
                <a:ea typeface="Calibri" pitchFamily="34" charset="-122"/>
                <a:cs typeface="Calibri" pitchFamily="34" charset="-120"/>
              </a:rPr>
              <a:t>If cash goes negative mid-year, does the simulator break the deposit at a 1% fee or charge the 20% overdraft rate?</a:t>
            </a:r>
            <a:endParaRPr lang="en-US" sz="1100" dirty="0"/>
          </a:p>
        </p:txBody>
      </p:sp>
      <p:sp>
        <p:nvSpPr>
          <p:cNvPr id="20" name="Text 18"/>
          <p:cNvSpPr txBox="1"/>
          <p:nvPr/>
        </p:nvSpPr>
        <p:spPr>
          <a:xfrm>
            <a:off x="6537960" y="1536192"/>
            <a:ext cx="5120640" cy="274320"/>
          </a:xfrm>
          <a:prstGeom prst="rect">
            <a:avLst/>
          </a:prstGeom>
          <a:noFill/>
          <a:ln/>
        </p:spPr>
        <p:txBody>
          <a:bodyPr wrap="square" lIns="0" tIns="0" rIns="0" bIns="0" rtlCol="0" anchor="ctr"/>
          <a:lstStyle/>
          <a:p>
            <a:pPr marL="0" indent="0">
              <a:buNone/>
            </a:pPr>
            <a:r>
              <a:rPr lang="en-US" sz="1250" b="1" kern="0" spc="60" dirty="0">
                <a:solidFill>
                  <a:srgbClr val="C8952F"/>
                </a:solidFill>
                <a:latin typeface="Calibri" pitchFamily="34" charset="0"/>
                <a:ea typeface="Calibri" pitchFamily="34" charset="-122"/>
                <a:cs typeface="Calibri" pitchFamily="34" charset="-120"/>
              </a:rPr>
              <a:t>WHAT WE COMMIT TO FOR YEAR 2</a:t>
            </a:r>
            <a:endParaRPr lang="en-US" sz="1250" dirty="0"/>
          </a:p>
        </p:txBody>
      </p:sp>
      <p:sp>
        <p:nvSpPr>
          <p:cNvPr id="21" name="Shape 19"/>
          <p:cNvSpPr/>
          <p:nvPr/>
        </p:nvSpPr>
        <p:spPr>
          <a:xfrm>
            <a:off x="6537960" y="1883664"/>
            <a:ext cx="5120640" cy="713232"/>
          </a:xfrm>
          <a:prstGeom prst="roundRect">
            <a:avLst>
              <a:gd name="adj" fmla="val 8974"/>
            </a:avLst>
          </a:prstGeom>
          <a:solidFill>
            <a:srgbClr val="24405F"/>
          </a:solidFill>
          <a:ln/>
        </p:spPr>
        <p:txBody>
          <a:bodyPr/>
          <a:lstStyle/>
          <a:p>
            <a:endParaRPr lang="en-DE"/>
          </a:p>
        </p:txBody>
      </p:sp>
      <p:sp>
        <p:nvSpPr>
          <p:cNvPr id="22" name="Text 20"/>
          <p:cNvSpPr txBox="1"/>
          <p:nvPr/>
        </p:nvSpPr>
        <p:spPr>
          <a:xfrm>
            <a:off x="6766560" y="2011680"/>
            <a:ext cx="1828800" cy="457200"/>
          </a:xfrm>
          <a:prstGeom prst="rect">
            <a:avLst/>
          </a:prstGeom>
          <a:noFill/>
          <a:ln/>
        </p:spPr>
        <p:txBody>
          <a:bodyPr wrap="square" lIns="0" tIns="0" rIns="0" bIns="0" rtlCol="0" anchor="ctr"/>
          <a:lstStyle/>
          <a:p>
            <a:pPr marL="0" indent="0">
              <a:buNone/>
            </a:pPr>
            <a:r>
              <a:rPr lang="en-US" sz="2100" b="1" dirty="0">
                <a:solidFill>
                  <a:srgbClr val="C8952F"/>
                </a:solidFill>
                <a:latin typeface="Cambria" pitchFamily="34" charset="0"/>
                <a:ea typeface="Cambria" pitchFamily="34" charset="-122"/>
                <a:cs typeface="Cambria" pitchFamily="34" charset="-120"/>
              </a:rPr>
              <a:t>87.5 M €</a:t>
            </a:r>
            <a:endParaRPr lang="en-US" sz="2100" dirty="0"/>
          </a:p>
        </p:txBody>
      </p:sp>
      <p:sp>
        <p:nvSpPr>
          <p:cNvPr id="23" name="Text 21"/>
          <p:cNvSpPr txBox="1"/>
          <p:nvPr/>
        </p:nvSpPr>
        <p:spPr>
          <a:xfrm>
            <a:off x="8686800" y="2011680"/>
            <a:ext cx="2834640" cy="457200"/>
          </a:xfrm>
          <a:prstGeom prst="rect">
            <a:avLst/>
          </a:prstGeom>
          <a:noFill/>
          <a:ln/>
        </p:spPr>
        <p:txBody>
          <a:bodyPr wrap="square" lIns="0" tIns="0" rIns="0" bIns="0" rtlCol="0" anchor="ctr"/>
          <a:lstStyle/>
          <a:p>
            <a:pPr marL="0" indent="0" algn="r">
              <a:buNone/>
            </a:pPr>
            <a:r>
              <a:rPr lang="en-US" sz="1150" dirty="0">
                <a:solidFill>
                  <a:srgbClr val="FFFFFF"/>
                </a:solidFill>
                <a:latin typeface="Calibri" pitchFamily="34" charset="0"/>
                <a:ea typeface="Calibri" pitchFamily="34" charset="-122"/>
                <a:cs typeface="Calibri" pitchFamily="34" charset="-120"/>
              </a:rPr>
              <a:t>of net income — up 29%</a:t>
            </a:r>
            <a:endParaRPr lang="en-US" sz="1150" dirty="0"/>
          </a:p>
        </p:txBody>
      </p:sp>
      <p:sp>
        <p:nvSpPr>
          <p:cNvPr id="24" name="Shape 22"/>
          <p:cNvSpPr/>
          <p:nvPr/>
        </p:nvSpPr>
        <p:spPr>
          <a:xfrm>
            <a:off x="6537960" y="2706624"/>
            <a:ext cx="5120640" cy="713232"/>
          </a:xfrm>
          <a:prstGeom prst="roundRect">
            <a:avLst>
              <a:gd name="adj" fmla="val 8974"/>
            </a:avLst>
          </a:prstGeom>
          <a:solidFill>
            <a:srgbClr val="24405F"/>
          </a:solidFill>
          <a:ln/>
        </p:spPr>
        <p:txBody>
          <a:bodyPr/>
          <a:lstStyle/>
          <a:p>
            <a:endParaRPr lang="en-DE"/>
          </a:p>
        </p:txBody>
      </p:sp>
      <p:sp>
        <p:nvSpPr>
          <p:cNvPr id="25" name="Text 23"/>
          <p:cNvSpPr txBox="1"/>
          <p:nvPr/>
        </p:nvSpPr>
        <p:spPr>
          <a:xfrm>
            <a:off x="6766560" y="2834640"/>
            <a:ext cx="1828800" cy="457200"/>
          </a:xfrm>
          <a:prstGeom prst="rect">
            <a:avLst/>
          </a:prstGeom>
          <a:noFill/>
          <a:ln/>
        </p:spPr>
        <p:txBody>
          <a:bodyPr wrap="square" lIns="0" tIns="0" rIns="0" bIns="0" rtlCol="0" anchor="ctr"/>
          <a:lstStyle/>
          <a:p>
            <a:pPr marL="0" indent="0">
              <a:buNone/>
            </a:pPr>
            <a:r>
              <a:rPr lang="en-US" sz="2100" b="1" dirty="0">
                <a:solidFill>
                  <a:srgbClr val="C8952F"/>
                </a:solidFill>
                <a:latin typeface="Cambria" pitchFamily="34" charset="0"/>
                <a:ea typeface="Cambria" pitchFamily="34" charset="-122"/>
                <a:cs typeface="Cambria" pitchFamily="34" charset="-120"/>
              </a:rPr>
              <a:t>42%</a:t>
            </a:r>
            <a:endParaRPr lang="en-US" sz="2100" dirty="0"/>
          </a:p>
        </p:txBody>
      </p:sp>
      <p:sp>
        <p:nvSpPr>
          <p:cNvPr id="26" name="Text 24"/>
          <p:cNvSpPr txBox="1"/>
          <p:nvPr/>
        </p:nvSpPr>
        <p:spPr>
          <a:xfrm>
            <a:off x="8686800" y="2834640"/>
            <a:ext cx="2834640" cy="457200"/>
          </a:xfrm>
          <a:prstGeom prst="rect">
            <a:avLst/>
          </a:prstGeom>
          <a:noFill/>
          <a:ln/>
        </p:spPr>
        <p:txBody>
          <a:bodyPr wrap="square" lIns="0" tIns="0" rIns="0" bIns="0" rtlCol="0" anchor="ctr"/>
          <a:lstStyle/>
          <a:p>
            <a:pPr marL="0" indent="0" algn="r">
              <a:buNone/>
            </a:pPr>
            <a:r>
              <a:rPr lang="en-US" sz="1150" dirty="0">
                <a:solidFill>
                  <a:srgbClr val="FFFFFF"/>
                </a:solidFill>
                <a:latin typeface="Calibri" pitchFamily="34" charset="0"/>
                <a:ea typeface="Calibri" pitchFamily="34" charset="-122"/>
                <a:cs typeface="Calibri" pitchFamily="34" charset="-120"/>
              </a:rPr>
              <a:t>unit share of the industry, from 39.7%</a:t>
            </a:r>
            <a:endParaRPr lang="en-US" sz="1150" dirty="0"/>
          </a:p>
        </p:txBody>
      </p:sp>
      <p:sp>
        <p:nvSpPr>
          <p:cNvPr id="27" name="Shape 25"/>
          <p:cNvSpPr/>
          <p:nvPr/>
        </p:nvSpPr>
        <p:spPr>
          <a:xfrm>
            <a:off x="6537960" y="3529584"/>
            <a:ext cx="5120640" cy="713232"/>
          </a:xfrm>
          <a:prstGeom prst="roundRect">
            <a:avLst>
              <a:gd name="adj" fmla="val 8974"/>
            </a:avLst>
          </a:prstGeom>
          <a:solidFill>
            <a:srgbClr val="24405F"/>
          </a:solidFill>
          <a:ln/>
        </p:spPr>
        <p:txBody>
          <a:bodyPr/>
          <a:lstStyle/>
          <a:p>
            <a:endParaRPr lang="en-DE"/>
          </a:p>
        </p:txBody>
      </p:sp>
      <p:sp>
        <p:nvSpPr>
          <p:cNvPr id="28" name="Text 26"/>
          <p:cNvSpPr txBox="1"/>
          <p:nvPr/>
        </p:nvSpPr>
        <p:spPr>
          <a:xfrm>
            <a:off x="6766560" y="3657600"/>
            <a:ext cx="1828800" cy="457200"/>
          </a:xfrm>
          <a:prstGeom prst="rect">
            <a:avLst/>
          </a:prstGeom>
          <a:noFill/>
          <a:ln/>
        </p:spPr>
        <p:txBody>
          <a:bodyPr wrap="square" lIns="0" tIns="0" rIns="0" bIns="0" rtlCol="0" anchor="ctr"/>
          <a:lstStyle/>
          <a:p>
            <a:pPr marL="0" indent="0">
              <a:buNone/>
            </a:pPr>
            <a:r>
              <a:rPr lang="en-US" sz="2100" b="1" dirty="0">
                <a:solidFill>
                  <a:srgbClr val="C8952F"/>
                </a:solidFill>
                <a:latin typeface="Cambria" pitchFamily="34" charset="0"/>
                <a:ea typeface="Cambria" pitchFamily="34" charset="-122"/>
                <a:cs typeface="Cambria" pitchFamily="34" charset="-120"/>
              </a:rPr>
              <a:t>Zero</a:t>
            </a:r>
            <a:endParaRPr lang="en-US" sz="2100" dirty="0"/>
          </a:p>
        </p:txBody>
      </p:sp>
      <p:sp>
        <p:nvSpPr>
          <p:cNvPr id="29" name="Text 27"/>
          <p:cNvSpPr txBox="1"/>
          <p:nvPr/>
        </p:nvSpPr>
        <p:spPr>
          <a:xfrm>
            <a:off x="8686800" y="3657600"/>
            <a:ext cx="2834640" cy="457200"/>
          </a:xfrm>
          <a:prstGeom prst="rect">
            <a:avLst/>
          </a:prstGeom>
          <a:noFill/>
          <a:ln/>
        </p:spPr>
        <p:txBody>
          <a:bodyPr wrap="square" lIns="0" tIns="0" rIns="0" bIns="0" rtlCol="0" anchor="ctr"/>
          <a:lstStyle/>
          <a:p>
            <a:pPr marL="0" indent="0" algn="r">
              <a:buNone/>
            </a:pPr>
            <a:r>
              <a:rPr lang="en-US" sz="1150" dirty="0">
                <a:solidFill>
                  <a:srgbClr val="FFFFFF"/>
                </a:solidFill>
                <a:latin typeface="Calibri" pitchFamily="34" charset="0"/>
                <a:ea typeface="Calibri" pitchFamily="34" charset="-122"/>
                <a:cs typeface="Calibri" pitchFamily="34" charset="-120"/>
              </a:rPr>
              <a:t>debt on the balance sheet at 31 December</a:t>
            </a:r>
            <a:endParaRPr lang="en-US" sz="1150" dirty="0"/>
          </a:p>
        </p:txBody>
      </p:sp>
      <p:sp>
        <p:nvSpPr>
          <p:cNvPr id="30" name="Shape 28"/>
          <p:cNvSpPr/>
          <p:nvPr/>
        </p:nvSpPr>
        <p:spPr>
          <a:xfrm>
            <a:off x="6537960" y="4352544"/>
            <a:ext cx="5120640" cy="713232"/>
          </a:xfrm>
          <a:prstGeom prst="roundRect">
            <a:avLst>
              <a:gd name="adj" fmla="val 8974"/>
            </a:avLst>
          </a:prstGeom>
          <a:solidFill>
            <a:srgbClr val="24405F"/>
          </a:solidFill>
          <a:ln/>
        </p:spPr>
        <p:txBody>
          <a:bodyPr/>
          <a:lstStyle/>
          <a:p>
            <a:endParaRPr lang="en-DE"/>
          </a:p>
        </p:txBody>
      </p:sp>
      <p:sp>
        <p:nvSpPr>
          <p:cNvPr id="31" name="Text 29"/>
          <p:cNvSpPr txBox="1"/>
          <p:nvPr/>
        </p:nvSpPr>
        <p:spPr>
          <a:xfrm>
            <a:off x="6766560" y="4480560"/>
            <a:ext cx="1828800" cy="457200"/>
          </a:xfrm>
          <a:prstGeom prst="rect">
            <a:avLst/>
          </a:prstGeom>
          <a:noFill/>
          <a:ln/>
        </p:spPr>
        <p:txBody>
          <a:bodyPr wrap="square" lIns="0" tIns="0" rIns="0" bIns="0" rtlCol="0" anchor="ctr"/>
          <a:lstStyle/>
          <a:p>
            <a:pPr marL="0" indent="0">
              <a:buNone/>
            </a:pPr>
            <a:r>
              <a:rPr lang="en-US" sz="2100" b="1" dirty="0">
                <a:solidFill>
                  <a:srgbClr val="C8952F"/>
                </a:solidFill>
                <a:latin typeface="Cambria" pitchFamily="34" charset="0"/>
                <a:ea typeface="Cambria" pitchFamily="34" charset="-122"/>
                <a:cs typeface="Cambria" pitchFamily="34" charset="-120"/>
              </a:rPr>
              <a:t>5.9 M</a:t>
            </a:r>
            <a:endParaRPr lang="en-US" sz="2100" dirty="0"/>
          </a:p>
        </p:txBody>
      </p:sp>
      <p:sp>
        <p:nvSpPr>
          <p:cNvPr id="32" name="Text 30"/>
          <p:cNvSpPr txBox="1"/>
          <p:nvPr/>
        </p:nvSpPr>
        <p:spPr>
          <a:xfrm>
            <a:off x="8686800" y="4480560"/>
            <a:ext cx="2834640" cy="457200"/>
          </a:xfrm>
          <a:prstGeom prst="rect">
            <a:avLst/>
          </a:prstGeom>
          <a:noFill/>
          <a:ln/>
        </p:spPr>
        <p:txBody>
          <a:bodyPr wrap="square" lIns="0" tIns="0" rIns="0" bIns="0" rtlCol="0" anchor="ctr"/>
          <a:lstStyle/>
          <a:p>
            <a:pPr marL="0" indent="0" algn="r">
              <a:buNone/>
            </a:pPr>
            <a:r>
              <a:rPr lang="en-US" sz="1150" dirty="0">
                <a:solidFill>
                  <a:srgbClr val="FFFFFF"/>
                </a:solidFill>
                <a:latin typeface="Calibri" pitchFamily="34" charset="0"/>
                <a:ea typeface="Calibri" pitchFamily="34" charset="-122"/>
                <a:cs typeface="Calibri" pitchFamily="34" charset="-120"/>
              </a:rPr>
              <a:t>units of H stock left, down from 17.6 M</a:t>
            </a:r>
            <a:endParaRPr lang="en-US" sz="1150" dirty="0"/>
          </a:p>
        </p:txBody>
      </p:sp>
      <p:sp>
        <p:nvSpPr>
          <p:cNvPr id="33" name="Shape 31"/>
          <p:cNvSpPr/>
          <p:nvPr/>
        </p:nvSpPr>
        <p:spPr>
          <a:xfrm>
            <a:off x="6537960" y="5175504"/>
            <a:ext cx="5120640" cy="713232"/>
          </a:xfrm>
          <a:prstGeom prst="roundRect">
            <a:avLst>
              <a:gd name="adj" fmla="val 8974"/>
            </a:avLst>
          </a:prstGeom>
          <a:solidFill>
            <a:srgbClr val="24405F"/>
          </a:solidFill>
          <a:ln/>
        </p:spPr>
        <p:txBody>
          <a:bodyPr/>
          <a:lstStyle/>
          <a:p>
            <a:endParaRPr lang="en-DE"/>
          </a:p>
        </p:txBody>
      </p:sp>
      <p:sp>
        <p:nvSpPr>
          <p:cNvPr id="34" name="Text 32"/>
          <p:cNvSpPr txBox="1"/>
          <p:nvPr/>
        </p:nvSpPr>
        <p:spPr>
          <a:xfrm>
            <a:off x="6766560" y="5303520"/>
            <a:ext cx="1828800" cy="457200"/>
          </a:xfrm>
          <a:prstGeom prst="rect">
            <a:avLst/>
          </a:prstGeom>
          <a:noFill/>
          <a:ln/>
        </p:spPr>
        <p:txBody>
          <a:bodyPr wrap="square" lIns="0" tIns="0" rIns="0" bIns="0" rtlCol="0" anchor="ctr"/>
          <a:lstStyle/>
          <a:p>
            <a:pPr marL="0" indent="0">
              <a:buNone/>
            </a:pPr>
            <a:r>
              <a:rPr lang="en-US" sz="2100" b="1" dirty="0">
                <a:solidFill>
                  <a:srgbClr val="C8952F"/>
                </a:solidFill>
                <a:latin typeface="Cambria" pitchFamily="34" charset="0"/>
                <a:ea typeface="Cambria" pitchFamily="34" charset="-122"/>
                <a:cs typeface="Cambria" pitchFamily="34" charset="-120"/>
              </a:rPr>
              <a:t>No.1</a:t>
            </a:r>
            <a:endParaRPr lang="en-US" sz="2100" dirty="0"/>
          </a:p>
        </p:txBody>
      </p:sp>
      <p:sp>
        <p:nvSpPr>
          <p:cNvPr id="35" name="Text 33"/>
          <p:cNvSpPr txBox="1"/>
          <p:nvPr/>
        </p:nvSpPr>
        <p:spPr>
          <a:xfrm>
            <a:off x="8686800" y="5303520"/>
            <a:ext cx="2834640" cy="457200"/>
          </a:xfrm>
          <a:prstGeom prst="rect">
            <a:avLst/>
          </a:prstGeom>
          <a:noFill/>
          <a:ln/>
        </p:spPr>
        <p:txBody>
          <a:bodyPr wrap="square" lIns="0" tIns="0" rIns="0" bIns="0" rtlCol="0" anchor="ctr"/>
          <a:lstStyle/>
          <a:p>
            <a:pPr marL="0" indent="0" algn="r">
              <a:buNone/>
            </a:pPr>
            <a:r>
              <a:rPr lang="en-US" sz="1150" dirty="0">
                <a:solidFill>
                  <a:srgbClr val="FFFFFF"/>
                </a:solidFill>
                <a:latin typeface="Calibri" pitchFamily="34" charset="0"/>
                <a:ea typeface="Calibri" pitchFamily="34" charset="-122"/>
                <a:cs typeface="Calibri" pitchFamily="34" charset="-120"/>
              </a:rPr>
              <a:t>held on accumulated profit and net income</a:t>
            </a:r>
            <a:endParaRPr lang="en-US" sz="1150" dirty="0"/>
          </a:p>
        </p:txBody>
      </p:sp>
      <p:sp>
        <p:nvSpPr>
          <p:cNvPr id="36" name="Text 34"/>
          <p:cNvSpPr txBox="1"/>
          <p:nvPr/>
        </p:nvSpPr>
        <p:spPr>
          <a:xfrm>
            <a:off x="566928" y="6172200"/>
            <a:ext cx="11064240" cy="365760"/>
          </a:xfrm>
          <a:prstGeom prst="rect">
            <a:avLst/>
          </a:prstGeom>
          <a:noFill/>
          <a:ln/>
        </p:spPr>
        <p:txBody>
          <a:bodyPr wrap="square" lIns="0" tIns="0" rIns="0" bIns="0" rtlCol="0" anchor="ctr"/>
          <a:lstStyle/>
          <a:p>
            <a:pPr marL="0" indent="0">
              <a:buNone/>
            </a:pPr>
            <a:r>
              <a:rPr lang="en-US" sz="1600" i="1" dirty="0">
                <a:solidFill>
                  <a:srgbClr val="C8952F"/>
                </a:solidFill>
                <a:latin typeface="Cambria" pitchFamily="34" charset="0"/>
                <a:ea typeface="Cambria" pitchFamily="34" charset="-122"/>
                <a:cs typeface="Cambria" pitchFamily="34" charset="-120"/>
              </a:rPr>
              <a:t>Thank you — we are ready for your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14916</Words>
  <Application>Microsoft Macintosh PowerPoint</Application>
  <PresentationFormat>Widescreen</PresentationFormat>
  <Paragraphs>1127</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CEO Meeting 1 — Year 1 Review and Year 2 Plan</dc:title>
  <dc:subject>PptxGenJS Presentation</dc:subject>
  <dc:creator>Company 3 — Management Team</dc:creator>
  <cp:lastModifiedBy>Sarah Leonbacher</cp:lastModifiedBy>
  <cp:revision>2</cp:revision>
  <dcterms:created xsi:type="dcterms:W3CDTF">2026-09-06T14:48:45Z</dcterms:created>
  <dcterms:modified xsi:type="dcterms:W3CDTF">2026-09-06T14:54:32Z</dcterms:modified>
</cp:coreProperties>
</file>